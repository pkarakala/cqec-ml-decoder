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Hook: quantum computers are powerful but incredibly fragile. Error correction is the single biggest unsolved engineering challenge. If we can't fix errors faster than they happen, quantum computing stays in the lab.</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Think of it like a checksum. We don't read the data directly — we read parity checks that tell us if something flipped.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not doing textbook QEC with discrete syndrome bits. We're working with continuous analog readout buried in noise. The decoder has to figure out what happened from messy real-valued signals.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Bayesian filter is the gold standard — optimal under known noise model. The GRU learns the dynamics from data. The question is: which wins when the model is wrong?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1 is the easy case. Phase 2 adds real physics. The Bayesian filter degrades because its model is wrong. The GRU just learns the dynamics.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effects appear in real superconducting qubit hardware. The Bayesian filter assumes white noise and static parameters — both assumptions are now violated.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Bayesian and GRU are neck-and-neck. The model-based approach loses its edge when the model is wrong. What happens when things get even worse?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problem nobody has solved with ML decoders. You train your network, deploy it, and within hours the hardware has drifted. The industry solution is constant recalibration.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insight: pure self-training fails because when the model is confidently wrong, it reinforces its own mistakes. But periodic recalibration anchors the model.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number matters less than the temporal breakdown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SLIDE. Point to the lines diverging. Early on, everyone does fine. As parameters drift, static decoders fall off. Pseudo-label barely helps — confident wrong predictions poison self-training. Hybrid maintains accuracy. This is the path to self-calibrating QEC.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well-known failure mode in semi-supervised learning. When the data distribution shifts, confident predictions become unreliable.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Even 1-2% true labels gives most of the benefit. That's one recalibration every 50-100 windows — realistic for real hardware.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phase adds realism. Phase 1-2: GRU dominates. Phase 3: non-idealities level the field. Phase 4: only adaptive decoders survive drift.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4 is entirely novel. Nobody has done adaptive online learning for QEC. The simulator and hybrid supervision approach are new contributions.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3-qubit code is a proof of concept. The real test is surface codes. But the principle — adaptive online learning for QEC — transfers directly.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clean takeaways. End strong.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1371600" y="1371600"/>
            <a:ext cx="9144000" cy="1097280"/>
          </a:xfrm>
          <a:prstGeom prst="rect">
            <a:avLst/>
          </a:prstGeom>
          <a:noFill/>
        </p:spPr>
        <p:txBody>
          <a:bodyPr wrap="square">
            <a:spAutoFit/>
          </a:bodyPr>
          <a:lstStyle/>
          <a:p>
            <a:pPr algn="ctr">
              <a:defRPr sz="3600" b="1">
                <a:solidFill>
                  <a:srgbClr val="FFFFFF"/>
                </a:solidFill>
                <a:latin typeface="Calibri"/>
              </a:defRPr>
            </a:pPr>
            <a:r>
              <a:t>Can a Neural Network Decode Quantum Errors</a:t>
            </a:r>
            <a:br/>
            <a:r>
              <a:t>Better Than Bayes' Theorem?</a:t>
            </a:r>
          </a:p>
        </p:txBody>
      </p:sp>
      <p:sp>
        <p:nvSpPr>
          <p:cNvPr id="3" name="TextBox 2"/>
          <p:cNvSpPr txBox="1"/>
          <p:nvPr/>
        </p:nvSpPr>
        <p:spPr>
          <a:xfrm>
            <a:off x="1371600" y="2926080"/>
            <a:ext cx="9144000" cy="731520"/>
          </a:xfrm>
          <a:prstGeom prst="rect">
            <a:avLst/>
          </a:prstGeom>
          <a:noFill/>
        </p:spPr>
        <p:txBody>
          <a:bodyPr wrap="square">
            <a:spAutoFit/>
          </a:bodyPr>
          <a:lstStyle/>
          <a:p>
            <a:pPr algn="ctr">
              <a:defRPr sz="2200" b="0">
                <a:solidFill>
                  <a:srgbClr val="89B4FA"/>
                </a:solidFill>
                <a:latin typeface="Calibri"/>
              </a:defRPr>
            </a:pPr>
            <a:r>
              <a:t>Adaptive Machine Learning for Real-Time Quantum Error Correction</a:t>
            </a:r>
          </a:p>
        </p:txBody>
      </p:sp>
      <p:sp>
        <p:nvSpPr>
          <p:cNvPr id="4" name="TextBox 3"/>
          <p:cNvSpPr txBox="1"/>
          <p:nvPr/>
        </p:nvSpPr>
        <p:spPr>
          <a:xfrm>
            <a:off x="1371600" y="4114800"/>
            <a:ext cx="9144000" cy="457200"/>
          </a:xfrm>
          <a:prstGeom prst="rect">
            <a:avLst/>
          </a:prstGeom>
          <a:noFill/>
        </p:spPr>
        <p:txBody>
          <a:bodyPr wrap="square">
            <a:spAutoFit/>
          </a:bodyPr>
          <a:lstStyle/>
          <a:p>
            <a:pPr algn="ctr">
              <a:defRPr sz="1800" b="0">
                <a:solidFill>
                  <a:srgbClr val="A6ADC8"/>
                </a:solidFill>
                <a:latin typeface="Calibri"/>
              </a:defRPr>
            </a:pPr>
            <a:r>
              <a:t>Pranav Reddy  ·  Clark Enge</a:t>
            </a:r>
          </a:p>
        </p:txBody>
      </p:sp>
      <p:sp>
        <p:nvSpPr>
          <p:cNvPr id="5" name="TextBox 4"/>
          <p:cNvSpPr txBox="1"/>
          <p:nvPr/>
        </p:nvSpPr>
        <p:spPr>
          <a:xfrm>
            <a:off x="1371600" y="4754880"/>
            <a:ext cx="9144000" cy="457200"/>
          </a:xfrm>
          <a:prstGeom prst="rect">
            <a:avLst/>
          </a:prstGeom>
          <a:noFill/>
        </p:spPr>
        <p:txBody>
          <a:bodyPr wrap="square">
            <a:spAutoFit/>
          </a:bodyPr>
          <a:lstStyle/>
          <a:p>
            <a:pPr algn="ctr">
              <a:defRPr sz="1600" b="0">
                <a:solidFill>
                  <a:srgbClr val="A6ADC8"/>
                </a:solidFill>
                <a:latin typeface="Calibri"/>
              </a:defRPr>
            </a:pPr>
            <a:r>
              <a:t>UC Santa Barbara  ·  Data Science Club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731520" y="365760"/>
            <a:ext cx="10058400" cy="731520"/>
          </a:xfrm>
          <a:prstGeom prst="rect">
            <a:avLst/>
          </a:prstGeom>
          <a:noFill/>
        </p:spPr>
        <p:txBody>
          <a:bodyPr wrap="square">
            <a:spAutoFit/>
          </a:bodyPr>
          <a:lstStyle/>
          <a:p>
            <a:pPr algn="l">
              <a:defRPr sz="3200" b="1">
                <a:solidFill>
                  <a:srgbClr val="FFFFFF"/>
                </a:solidFill>
                <a:latin typeface="Calibri"/>
              </a:defRPr>
            </a:pPr>
            <a:r>
              <a:t>Quantum Computers Are Incredibly Fragile</a:t>
            </a:r>
          </a:p>
        </p:txBody>
      </p:sp>
      <p:sp>
        <p:nvSpPr>
          <p:cNvPr id="3" name="TextBox 2"/>
          <p:cNvSpPr txBox="1"/>
          <p:nvPr/>
        </p:nvSpPr>
        <p:spPr>
          <a:xfrm>
            <a:off x="731520" y="1371600"/>
            <a:ext cx="6400800" cy="4114800"/>
          </a:xfrm>
          <a:prstGeom prst="rect">
            <a:avLst/>
          </a:prstGeom>
          <a:noFill/>
        </p:spPr>
        <p:txBody>
          <a:bodyPr wrap="square">
            <a:spAutoFit/>
          </a:bodyPr>
          <a:lstStyle/>
          <a:p>
            <a:pPr>
              <a:spcAft>
                <a:spcPts val="800"/>
              </a:spcAft>
              <a:defRPr sz="2000">
                <a:solidFill>
                  <a:srgbClr val="CDD6F4"/>
                </a:solidFill>
                <a:latin typeface="Calibri"/>
              </a:defRPr>
            </a:pPr>
            <a:r>
              <a:t>• Qubits lose information in microseconds</a:t>
            </a:r>
          </a:p>
          <a:p>
            <a:pPr>
              <a:spcAft>
                <a:spcPts val="800"/>
              </a:spcAft>
              <a:defRPr sz="2000">
                <a:solidFill>
                  <a:srgbClr val="CDD6F4"/>
                </a:solidFill>
                <a:latin typeface="Calibri"/>
              </a:defRPr>
            </a:pPr>
            <a:r>
              <a:t>• Error rates: ~0.1–1% per operation  (vs ~10⁻¹⁵ for classical bits)</a:t>
            </a:r>
          </a:p>
          <a:p>
            <a:pPr>
              <a:spcAft>
                <a:spcPts val="800"/>
              </a:spcAft>
              <a:defRPr sz="2000">
                <a:solidFill>
                  <a:srgbClr val="CDD6F4"/>
                </a:solidFill>
                <a:latin typeface="Calibri"/>
              </a:defRPr>
            </a:pPr>
            <a:r>
              <a:t>• Without error correction, quantum advantage is impossible</a:t>
            </a:r>
          </a:p>
          <a:p>
            <a:pPr>
              <a:spcAft>
                <a:spcPts val="800"/>
              </a:spcAft>
              <a:defRPr sz="2000">
                <a:solidFill>
                  <a:srgbClr val="CDD6F4"/>
                </a:solidFill>
                <a:latin typeface="Calibri"/>
              </a:defRPr>
            </a:pPr>
            <a:r>
              <a:t>• Every major quantum roadmap depends on solving this</a:t>
            </a:r>
          </a:p>
          <a:p>
            <a:pPr>
              <a:spcAft>
                <a:spcPts val="800"/>
              </a:spcAft>
              <a:defRPr sz="2000">
                <a:solidFill>
                  <a:srgbClr val="CDD6F4"/>
                </a:solidFill>
                <a:latin typeface="Calibri"/>
              </a:defRPr>
            </a:pPr>
          </a:p>
          <a:p>
            <a:pPr>
              <a:spcAft>
                <a:spcPts val="800"/>
              </a:spcAft>
              <a:defRPr sz="2000">
                <a:solidFill>
                  <a:srgbClr val="CDD6F4"/>
                </a:solidFill>
                <a:latin typeface="Calibri"/>
              </a:defRPr>
            </a:pPr>
            <a:r>
              <a:t>• Google, IBM, Microsoft all agree:</a:t>
            </a:r>
          </a:p>
          <a:p>
            <a:pPr>
              <a:spcAft>
                <a:spcPts val="800"/>
              </a:spcAft>
              <a:defRPr sz="2000">
                <a:solidFill>
                  <a:srgbClr val="CDD6F4"/>
                </a:solidFill>
                <a:latin typeface="Calibri"/>
              </a:defRPr>
            </a:pPr>
            <a:r>
              <a:t>  Error correction is THE bottleneck for useful quantum computing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731520" y="365760"/>
            <a:ext cx="10058400" cy="731520"/>
          </a:xfrm>
          <a:prstGeom prst="rect">
            <a:avLst/>
          </a:prstGeom>
          <a:noFill/>
        </p:spPr>
        <p:txBody>
          <a:bodyPr wrap="square">
            <a:spAutoFit/>
          </a:bodyPr>
          <a:lstStyle/>
          <a:p>
            <a:pPr algn="l">
              <a:defRPr sz="3200" b="1">
                <a:solidFill>
                  <a:srgbClr val="FFFFFF"/>
                </a:solidFill>
                <a:latin typeface="Calibri"/>
              </a:defRPr>
            </a:pPr>
            <a:r>
              <a:t>The 3-Qubit Repetition Code</a:t>
            </a:r>
          </a:p>
        </p:txBody>
      </p:sp>
      <p:sp>
        <p:nvSpPr>
          <p:cNvPr id="3" name="TextBox 2"/>
          <p:cNvSpPr txBox="1"/>
          <p:nvPr/>
        </p:nvSpPr>
        <p:spPr>
          <a:xfrm>
            <a:off x="731520" y="1280160"/>
            <a:ext cx="5486400" cy="2286000"/>
          </a:xfrm>
          <a:prstGeom prst="rect">
            <a:avLst/>
          </a:prstGeom>
          <a:noFill/>
        </p:spPr>
        <p:txBody>
          <a:bodyPr wrap="square">
            <a:spAutoFit/>
          </a:bodyPr>
          <a:lstStyle/>
          <a:p>
            <a:pPr>
              <a:spcAft>
                <a:spcPts val="800"/>
              </a:spcAft>
              <a:defRPr sz="1800">
                <a:solidFill>
                  <a:srgbClr val="CDD6F4"/>
                </a:solidFill>
                <a:latin typeface="Calibri"/>
              </a:defRPr>
            </a:pPr>
            <a:r>
              <a:t>• Encode 1 logical qubit across 3 physical qubits</a:t>
            </a:r>
          </a:p>
          <a:p>
            <a:pPr>
              <a:spcAft>
                <a:spcPts val="800"/>
              </a:spcAft>
              <a:defRPr sz="1800">
                <a:solidFill>
                  <a:srgbClr val="CDD6F4"/>
                </a:solidFill>
                <a:latin typeface="Calibri"/>
              </a:defRPr>
            </a:pPr>
            <a:r>
              <a:t>    |0⟩ → |000⟩     |1⟩ → |111⟩</a:t>
            </a:r>
          </a:p>
          <a:p>
            <a:pPr>
              <a:spcAft>
                <a:spcPts val="800"/>
              </a:spcAft>
              <a:defRPr sz="1800">
                <a:solidFill>
                  <a:srgbClr val="CDD6F4"/>
                </a:solidFill>
                <a:latin typeface="Calibri"/>
              </a:defRPr>
            </a:pPr>
            <a:r>
              <a:t>• Measure stabilizers to detect errors without</a:t>
            </a:r>
          </a:p>
          <a:p>
            <a:pPr>
              <a:spcAft>
                <a:spcPts val="800"/>
              </a:spcAft>
              <a:defRPr sz="1800">
                <a:solidFill>
                  <a:srgbClr val="CDD6F4"/>
                </a:solidFill>
                <a:latin typeface="Calibri"/>
              </a:defRPr>
            </a:pPr>
            <a:r>
              <a:t>  destroying the quantum state</a:t>
            </a:r>
          </a:p>
          <a:p>
            <a:pPr>
              <a:spcAft>
                <a:spcPts val="800"/>
              </a:spcAft>
              <a:defRPr sz="1800">
                <a:solidFill>
                  <a:srgbClr val="CDD6F4"/>
                </a:solidFill>
                <a:latin typeface="Calibri"/>
              </a:defRPr>
            </a:pPr>
            <a:r>
              <a:t>• Each error produces a unique syndrome signature</a:t>
            </a:r>
          </a:p>
        </p:txBody>
      </p:sp>
      <p:sp>
        <p:nvSpPr>
          <p:cNvPr id="4" name="TextBox 3"/>
          <p:cNvSpPr txBox="1"/>
          <p:nvPr/>
        </p:nvSpPr>
        <p:spPr>
          <a:xfrm>
            <a:off x="6858000" y="1280160"/>
            <a:ext cx="4572000" cy="457200"/>
          </a:xfrm>
          <a:prstGeom prst="rect">
            <a:avLst/>
          </a:prstGeom>
          <a:noFill/>
        </p:spPr>
        <p:txBody>
          <a:bodyPr wrap="square">
            <a:spAutoFit/>
          </a:bodyPr>
          <a:lstStyle/>
          <a:p>
            <a:pPr algn="l">
              <a:defRPr sz="1800" b="1">
                <a:solidFill>
                  <a:srgbClr val="89B4FA"/>
                </a:solidFill>
                <a:latin typeface="Calibri"/>
              </a:defRPr>
            </a:pPr>
            <a:r>
              <a:t>Syndrome Table</a:t>
            </a:r>
          </a:p>
        </p:txBody>
      </p:sp>
      <p:graphicFrame>
        <p:nvGraphicFramePr>
          <p:cNvPr id="5" name="Table 4"/>
          <p:cNvGraphicFramePr>
            <a:graphicFrameLocks noGrp="1"/>
          </p:cNvGraphicFramePr>
          <p:nvPr/>
        </p:nvGraphicFramePr>
        <p:xfrm>
          <a:off x="6858000" y="1828800"/>
          <a:ext cx="4114800" cy="2286000"/>
        </p:xfrm>
        <a:graphic>
          <a:graphicData uri="http://schemas.openxmlformats.org/drawingml/2006/table">
            <a:tbl>
              <a:tblPr firstRow="1" bandRow="1">
                <a:tableStyleId>{5C22544A-7EE6-4342-B048-85BDC9FD1C3A}</a:tableStyleId>
              </a:tblPr>
              <a:tblGrid>
                <a:gridCol w="1371600"/>
                <a:gridCol w="1371600"/>
                <a:gridCol w="1371600"/>
              </a:tblGrid>
              <a:tr h="457200">
                <a:tc>
                  <a:txBody>
                    <a:bodyPr/>
                    <a:lstStyle/>
                    <a:p>
                      <a:pPr algn="ctr">
                        <a:defRPr sz="1600" b="1">
                          <a:solidFill>
                            <a:srgbClr val="FFFFFF"/>
                          </a:solidFill>
                          <a:latin typeface="Calibri"/>
                        </a:defRPr>
                      </a:pPr>
                      <a:r>
                        <a:t>Error</a:t>
                      </a:r>
                    </a:p>
                  </a:txBody>
                  <a:tcPr>
                    <a:solidFill>
                      <a:srgbClr val="313244"/>
                    </a:solidFill>
                  </a:tcPr>
                </a:tc>
                <a:tc>
                  <a:txBody>
                    <a:bodyPr/>
                    <a:lstStyle/>
                    <a:p>
                      <a:pPr algn="ctr">
                        <a:defRPr sz="1600" b="1">
                          <a:solidFill>
                            <a:srgbClr val="FFFFFF"/>
                          </a:solidFill>
                          <a:latin typeface="Calibri"/>
                        </a:defRPr>
                      </a:pPr>
                      <a:r>
                        <a:t>S₁</a:t>
                      </a:r>
                    </a:p>
                  </a:txBody>
                  <a:tcPr>
                    <a:solidFill>
                      <a:srgbClr val="313244"/>
                    </a:solidFill>
                  </a:tcPr>
                </a:tc>
                <a:tc>
                  <a:txBody>
                    <a:bodyPr/>
                    <a:lstStyle/>
                    <a:p>
                      <a:pPr algn="ctr">
                        <a:defRPr sz="1600" b="1">
                          <a:solidFill>
                            <a:srgbClr val="FFFFFF"/>
                          </a:solidFill>
                          <a:latin typeface="Calibri"/>
                        </a:defRPr>
                      </a:pPr>
                      <a:r>
                        <a:t>S₂</a:t>
                      </a:r>
                    </a:p>
                  </a:txBody>
                  <a:tcPr>
                    <a:solidFill>
                      <a:srgbClr val="313244"/>
                    </a:solidFill>
                  </a:tcPr>
                </a:tc>
              </a:tr>
              <a:tr h="457200">
                <a:tc>
                  <a:txBody>
                    <a:bodyPr/>
                    <a:lstStyle/>
                    <a:p>
                      <a:pPr algn="ctr">
                        <a:defRPr sz="1600" b="0">
                          <a:solidFill>
                            <a:srgbClr val="CDD6F4"/>
                          </a:solidFill>
                          <a:latin typeface="Calibri"/>
                        </a:defRPr>
                      </a:pPr>
                      <a:r>
                        <a:t>No error</a:t>
                      </a:r>
                    </a:p>
                  </a:txBody>
                  <a:tcPr>
                    <a:solidFill>
                      <a:srgbClr val="1E1E2E"/>
                    </a:solidFill>
                  </a:tcPr>
                </a:tc>
                <a:tc>
                  <a:txBody>
                    <a:bodyPr/>
                    <a:lstStyle/>
                    <a:p>
                      <a:pPr algn="ctr">
                        <a:defRPr sz="1600" b="0">
                          <a:solidFill>
                            <a:srgbClr val="CDD6F4"/>
                          </a:solidFill>
                          <a:latin typeface="Calibri"/>
                        </a:defRPr>
                      </a:pPr>
                      <a:r>
                        <a:t>+1</a:t>
                      </a:r>
                    </a:p>
                  </a:txBody>
                  <a:tcPr>
                    <a:solidFill>
                      <a:srgbClr val="1E1E2E"/>
                    </a:solidFill>
                  </a:tcPr>
                </a:tc>
                <a:tc>
                  <a:txBody>
                    <a:bodyPr/>
                    <a:lstStyle/>
                    <a:p>
                      <a:pPr algn="ctr">
                        <a:defRPr sz="1600" b="0">
                          <a:solidFill>
                            <a:srgbClr val="CDD6F4"/>
                          </a:solidFill>
                          <a:latin typeface="Calibri"/>
                        </a:defRPr>
                      </a:pPr>
                      <a:r>
                        <a:t>+1</a:t>
                      </a:r>
                    </a:p>
                  </a:txBody>
                  <a:tcPr>
                    <a:solidFill>
                      <a:srgbClr val="1E1E2E"/>
                    </a:solidFill>
                  </a:tcPr>
                </a:tc>
              </a:tr>
              <a:tr h="457200">
                <a:tc>
                  <a:txBody>
                    <a:bodyPr/>
                    <a:lstStyle/>
                    <a:p>
                      <a:pPr algn="ctr">
                        <a:defRPr sz="1600" b="0">
                          <a:solidFill>
                            <a:srgbClr val="CDD6F4"/>
                          </a:solidFill>
                          <a:latin typeface="Calibri"/>
                        </a:defRPr>
                      </a:pPr>
                      <a:r>
                        <a:t>Flip qubit 1</a:t>
                      </a:r>
                    </a:p>
                  </a:txBody>
                  <a:tcPr>
                    <a:solidFill>
                      <a:srgbClr val="1E1E2E"/>
                    </a:solidFill>
                  </a:tcPr>
                </a:tc>
                <a:tc>
                  <a:txBody>
                    <a:bodyPr/>
                    <a:lstStyle/>
                    <a:p>
                      <a:pPr algn="ctr">
                        <a:defRPr sz="1600" b="0">
                          <a:solidFill>
                            <a:srgbClr val="CDD6F4"/>
                          </a:solidFill>
                          <a:latin typeface="Calibri"/>
                        </a:defRPr>
                      </a:pPr>
                      <a:r>
                        <a:t>−1</a:t>
                      </a:r>
                    </a:p>
                  </a:txBody>
                  <a:tcPr>
                    <a:solidFill>
                      <a:srgbClr val="1E1E2E"/>
                    </a:solidFill>
                  </a:tcPr>
                </a:tc>
                <a:tc>
                  <a:txBody>
                    <a:bodyPr/>
                    <a:lstStyle/>
                    <a:p>
                      <a:pPr algn="ctr">
                        <a:defRPr sz="1600" b="0">
                          <a:solidFill>
                            <a:srgbClr val="CDD6F4"/>
                          </a:solidFill>
                          <a:latin typeface="Calibri"/>
                        </a:defRPr>
                      </a:pPr>
                      <a:r>
                        <a:t>+1</a:t>
                      </a:r>
                    </a:p>
                  </a:txBody>
                  <a:tcPr>
                    <a:solidFill>
                      <a:srgbClr val="1E1E2E"/>
                    </a:solidFill>
                  </a:tcPr>
                </a:tc>
              </a:tr>
              <a:tr h="457200">
                <a:tc>
                  <a:txBody>
                    <a:bodyPr/>
                    <a:lstStyle/>
                    <a:p>
                      <a:pPr algn="ctr">
                        <a:defRPr sz="1600" b="0">
                          <a:solidFill>
                            <a:srgbClr val="CDD6F4"/>
                          </a:solidFill>
                          <a:latin typeface="Calibri"/>
                        </a:defRPr>
                      </a:pPr>
                      <a:r>
                        <a:t>Flip qubit 2</a:t>
                      </a:r>
                    </a:p>
                  </a:txBody>
                  <a:tcPr>
                    <a:solidFill>
                      <a:srgbClr val="1E1E2E"/>
                    </a:solidFill>
                  </a:tcPr>
                </a:tc>
                <a:tc>
                  <a:txBody>
                    <a:bodyPr/>
                    <a:lstStyle/>
                    <a:p>
                      <a:pPr algn="ctr">
                        <a:defRPr sz="1600" b="0">
                          <a:solidFill>
                            <a:srgbClr val="CDD6F4"/>
                          </a:solidFill>
                          <a:latin typeface="Calibri"/>
                        </a:defRPr>
                      </a:pPr>
                      <a:r>
                        <a:t>−1</a:t>
                      </a:r>
                    </a:p>
                  </a:txBody>
                  <a:tcPr>
                    <a:solidFill>
                      <a:srgbClr val="1E1E2E"/>
                    </a:solidFill>
                  </a:tcPr>
                </a:tc>
                <a:tc>
                  <a:txBody>
                    <a:bodyPr/>
                    <a:lstStyle/>
                    <a:p>
                      <a:pPr algn="ctr">
                        <a:defRPr sz="1600" b="0">
                          <a:solidFill>
                            <a:srgbClr val="CDD6F4"/>
                          </a:solidFill>
                          <a:latin typeface="Calibri"/>
                        </a:defRPr>
                      </a:pPr>
                      <a:r>
                        <a:t>−1</a:t>
                      </a:r>
                    </a:p>
                  </a:txBody>
                  <a:tcPr>
                    <a:solidFill>
                      <a:srgbClr val="1E1E2E"/>
                    </a:solidFill>
                  </a:tcPr>
                </a:tc>
              </a:tr>
              <a:tr h="457200">
                <a:tc>
                  <a:txBody>
                    <a:bodyPr/>
                    <a:lstStyle/>
                    <a:p>
                      <a:pPr algn="ctr">
                        <a:defRPr sz="1600" b="0">
                          <a:solidFill>
                            <a:srgbClr val="CDD6F4"/>
                          </a:solidFill>
                          <a:latin typeface="Calibri"/>
                        </a:defRPr>
                      </a:pPr>
                      <a:r>
                        <a:t>Flip qubit 3</a:t>
                      </a:r>
                    </a:p>
                  </a:txBody>
                  <a:tcPr>
                    <a:solidFill>
                      <a:srgbClr val="1E1E2E"/>
                    </a:solidFill>
                  </a:tcPr>
                </a:tc>
                <a:tc>
                  <a:txBody>
                    <a:bodyPr/>
                    <a:lstStyle/>
                    <a:p>
                      <a:pPr algn="ctr">
                        <a:defRPr sz="1600" b="0">
                          <a:solidFill>
                            <a:srgbClr val="CDD6F4"/>
                          </a:solidFill>
                          <a:latin typeface="Calibri"/>
                        </a:defRPr>
                      </a:pPr>
                      <a:r>
                        <a:t>+1</a:t>
                      </a:r>
                    </a:p>
                  </a:txBody>
                  <a:tcPr>
                    <a:solidFill>
                      <a:srgbClr val="1E1E2E"/>
                    </a:solidFill>
                  </a:tcPr>
                </a:tc>
                <a:tc>
                  <a:txBody>
                    <a:bodyPr/>
                    <a:lstStyle/>
                    <a:p>
                      <a:pPr algn="ctr">
                        <a:defRPr sz="1600" b="0">
                          <a:solidFill>
                            <a:srgbClr val="CDD6F4"/>
                          </a:solidFill>
                          <a:latin typeface="Calibri"/>
                        </a:defRPr>
                      </a:pPr>
                      <a:r>
                        <a:t>−1</a:t>
                      </a:r>
                    </a:p>
                  </a:txBody>
                  <a:tcPr>
                    <a:solidFill>
                      <a:srgbClr val="1E1E2E"/>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731520" y="365760"/>
            <a:ext cx="10058400" cy="731520"/>
          </a:xfrm>
          <a:prstGeom prst="rect">
            <a:avLst/>
          </a:prstGeom>
          <a:noFill/>
        </p:spPr>
        <p:txBody>
          <a:bodyPr wrap="square">
            <a:spAutoFit/>
          </a:bodyPr>
          <a:lstStyle/>
          <a:p>
            <a:pPr algn="l">
              <a:defRPr sz="3200" b="1">
                <a:solidFill>
                  <a:srgbClr val="FFFFFF"/>
                </a:solidFill>
                <a:latin typeface="Calibri"/>
              </a:defRPr>
            </a:pPr>
            <a:r>
              <a:t>Real Measurements Are Noisy Analog Signals</a:t>
            </a:r>
          </a:p>
        </p:txBody>
      </p:sp>
      <p:sp>
        <p:nvSpPr>
          <p:cNvPr id="3" name="TextBox 2"/>
          <p:cNvSpPr txBox="1"/>
          <p:nvPr/>
        </p:nvSpPr>
        <p:spPr>
          <a:xfrm>
            <a:off x="731520" y="1371600"/>
            <a:ext cx="5029200" cy="2743200"/>
          </a:xfrm>
          <a:prstGeom prst="rect">
            <a:avLst/>
          </a:prstGeom>
          <a:noFill/>
        </p:spPr>
        <p:txBody>
          <a:bodyPr wrap="square">
            <a:spAutoFit/>
          </a:bodyPr>
          <a:lstStyle/>
          <a:p>
            <a:pPr>
              <a:spcAft>
                <a:spcPts val="800"/>
              </a:spcAft>
              <a:defRPr sz="1800">
                <a:solidFill>
                  <a:srgbClr val="CDD6F4"/>
                </a:solidFill>
                <a:latin typeface="Calibri"/>
              </a:defRPr>
            </a:pPr>
            <a:r>
              <a:t>• Real hardware gives continuous readout:</a:t>
            </a:r>
          </a:p>
          <a:p>
            <a:pPr>
              <a:spcAft>
                <a:spcPts val="800"/>
              </a:spcAft>
              <a:defRPr sz="1800">
                <a:solidFill>
                  <a:srgbClr val="CDD6F4"/>
                </a:solidFill>
                <a:latin typeface="Calibri"/>
              </a:defRPr>
            </a:pPr>
            <a:r>
              <a:t>    r(t) = signal + noise</a:t>
            </a:r>
          </a:p>
          <a:p>
            <a:pPr>
              <a:spcAft>
                <a:spcPts val="800"/>
              </a:spcAft>
              <a:defRPr sz="1800">
                <a:solidFill>
                  <a:srgbClr val="CDD6F4"/>
                </a:solidFill>
                <a:latin typeface="Calibri"/>
              </a:defRPr>
            </a:pPr>
            <a:r>
              <a:t>• The decoder must infer the error state</a:t>
            </a:r>
          </a:p>
          <a:p>
            <a:pPr>
              <a:spcAft>
                <a:spcPts val="800"/>
              </a:spcAft>
              <a:defRPr sz="1800">
                <a:solidFill>
                  <a:srgbClr val="CDD6F4"/>
                </a:solidFill>
                <a:latin typeface="Calibri"/>
              </a:defRPr>
            </a:pPr>
            <a:r>
              <a:t>  from a noisy time series</a:t>
            </a:r>
          </a:p>
          <a:p>
            <a:pPr>
              <a:spcAft>
                <a:spcPts val="800"/>
              </a:spcAft>
              <a:defRPr sz="1800">
                <a:solidFill>
                  <a:srgbClr val="CDD6F4"/>
                </a:solidFill>
                <a:latin typeface="Calibri"/>
              </a:defRPr>
            </a:pPr>
            <a:r>
              <a:t>• This is a classification problem:</a:t>
            </a:r>
          </a:p>
          <a:p>
            <a:pPr>
              <a:spcAft>
                <a:spcPts val="800"/>
              </a:spcAft>
              <a:defRPr sz="1800">
                <a:solidFill>
                  <a:srgbClr val="CDD6F4"/>
                </a:solidFill>
                <a:latin typeface="Calibri"/>
              </a:defRPr>
            </a:pPr>
            <a:r>
              <a:t>  4 error classes from 2 noisy signals</a:t>
            </a:r>
          </a:p>
          <a:p>
            <a:pPr>
              <a:spcAft>
                <a:spcPts val="800"/>
              </a:spcAft>
              <a:defRPr sz="1800">
                <a:solidFill>
                  <a:srgbClr val="CDD6F4"/>
                </a:solidFill>
                <a:latin typeface="Calibri"/>
              </a:defRPr>
            </a:pPr>
          </a:p>
          <a:p>
            <a:pPr>
              <a:spcAft>
                <a:spcPts val="800"/>
              </a:spcAft>
              <a:defRPr sz="1800">
                <a:solidFill>
                  <a:srgbClr val="CDD6F4"/>
                </a:solidFill>
                <a:latin typeface="Calibri"/>
              </a:defRPr>
            </a:pPr>
            <a:r>
              <a:t>• This is where ML comes in — we're doing</a:t>
            </a:r>
          </a:p>
          <a:p>
            <a:pPr>
              <a:spcAft>
                <a:spcPts val="800"/>
              </a:spcAft>
              <a:defRPr sz="1800">
                <a:solidFill>
                  <a:srgbClr val="CDD6F4"/>
                </a:solidFill>
                <a:latin typeface="Calibri"/>
              </a:defRPr>
            </a:pPr>
            <a:r>
              <a:t>  signal processing under uncertainty</a:t>
            </a:r>
          </a:p>
        </p:txBody>
      </p:sp>
      <p:pic>
        <p:nvPicPr>
          <p:cNvPr id="4" name="Picture 3" descr="decoder_comparison.png"/>
          <p:cNvPicPr>
            <a:picLocks noChangeAspect="1"/>
          </p:cNvPicPr>
          <p:nvPr/>
        </p:nvPicPr>
        <p:blipFill>
          <a:blip r:embed="rId2"/>
          <a:stretch>
            <a:fillRect/>
          </a:stretch>
        </p:blipFill>
        <p:spPr>
          <a:xfrm>
            <a:off x="6400800" y="1371600"/>
            <a:ext cx="5029200" cy="41148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731520" y="365760"/>
            <a:ext cx="10058400" cy="731520"/>
          </a:xfrm>
          <a:prstGeom prst="rect">
            <a:avLst/>
          </a:prstGeom>
          <a:noFill/>
        </p:spPr>
        <p:txBody>
          <a:bodyPr wrap="square">
            <a:spAutoFit/>
          </a:bodyPr>
          <a:lstStyle/>
          <a:p>
            <a:pPr algn="l">
              <a:defRPr sz="3200" b="1">
                <a:solidFill>
                  <a:srgbClr val="FFFFFF"/>
                </a:solidFill>
                <a:latin typeface="Calibri"/>
              </a:defRPr>
            </a:pPr>
            <a:r>
              <a:t>Three Decoders, Head to Head</a:t>
            </a:r>
          </a:p>
        </p:txBody>
      </p:sp>
      <p:sp>
        <p:nvSpPr>
          <p:cNvPr id="3" name="TextBox 2"/>
          <p:cNvSpPr txBox="1"/>
          <p:nvPr/>
        </p:nvSpPr>
        <p:spPr>
          <a:xfrm>
            <a:off x="731520" y="1371600"/>
            <a:ext cx="3474720" cy="457200"/>
          </a:xfrm>
          <a:prstGeom prst="rect">
            <a:avLst/>
          </a:prstGeom>
          <a:noFill/>
        </p:spPr>
        <p:txBody>
          <a:bodyPr wrap="square">
            <a:spAutoFit/>
          </a:bodyPr>
          <a:lstStyle/>
          <a:p>
            <a:pPr algn="ctr">
              <a:defRPr sz="2200" b="1">
                <a:solidFill>
                  <a:srgbClr val="F38BA8"/>
                </a:solidFill>
                <a:latin typeface="Calibri"/>
              </a:defRPr>
            </a:pPr>
            <a:r>
              <a:t>Threshold</a:t>
            </a:r>
          </a:p>
        </p:txBody>
      </p:sp>
      <p:sp>
        <p:nvSpPr>
          <p:cNvPr id="4" name="TextBox 3"/>
          <p:cNvSpPr txBox="1"/>
          <p:nvPr/>
        </p:nvSpPr>
        <p:spPr>
          <a:xfrm>
            <a:off x="731520" y="2011680"/>
            <a:ext cx="3474720" cy="1371600"/>
          </a:xfrm>
          <a:prstGeom prst="rect">
            <a:avLst/>
          </a:prstGeom>
          <a:noFill/>
        </p:spPr>
        <p:txBody>
          <a:bodyPr wrap="square">
            <a:spAutoFit/>
          </a:bodyPr>
          <a:lstStyle/>
          <a:p>
            <a:pPr algn="ctr">
              <a:defRPr sz="1600" b="0">
                <a:solidFill>
                  <a:srgbClr val="CDD6F4"/>
                </a:solidFill>
                <a:latin typeface="Calibri"/>
              </a:defRPr>
            </a:pPr>
            <a:r>
              <a:t>Average signal,</a:t>
            </a:r>
            <a:br/>
            <a:r>
              <a:t>check the sign</a:t>
            </a:r>
          </a:p>
        </p:txBody>
      </p:sp>
      <p:sp>
        <p:nvSpPr>
          <p:cNvPr id="5" name="TextBox 4"/>
          <p:cNvSpPr txBox="1"/>
          <p:nvPr/>
        </p:nvSpPr>
        <p:spPr>
          <a:xfrm>
            <a:off x="731520" y="3474720"/>
            <a:ext cx="3474720" cy="1371600"/>
          </a:xfrm>
          <a:prstGeom prst="rect">
            <a:avLst/>
          </a:prstGeom>
          <a:noFill/>
        </p:spPr>
        <p:txBody>
          <a:bodyPr wrap="square">
            <a:spAutoFit/>
          </a:bodyPr>
          <a:lstStyle/>
          <a:p>
            <a:pPr algn="ctr">
              <a:defRPr sz="1400" b="0">
                <a:solidFill>
                  <a:srgbClr val="A6ADC8"/>
                </a:solidFill>
                <a:latin typeface="Calibri"/>
              </a:defRPr>
            </a:pPr>
            <a:r>
              <a:t>No model needed</a:t>
            </a:r>
            <a:br/>
            <a:r>
              <a:t>Fast, simple, fragile</a:t>
            </a:r>
          </a:p>
        </p:txBody>
      </p:sp>
      <p:sp>
        <p:nvSpPr>
          <p:cNvPr id="6" name="TextBox 5"/>
          <p:cNvSpPr txBox="1"/>
          <p:nvPr/>
        </p:nvSpPr>
        <p:spPr>
          <a:xfrm>
            <a:off x="4480559" y="1371600"/>
            <a:ext cx="3474720" cy="457200"/>
          </a:xfrm>
          <a:prstGeom prst="rect">
            <a:avLst/>
          </a:prstGeom>
          <a:noFill/>
        </p:spPr>
        <p:txBody>
          <a:bodyPr wrap="square">
            <a:spAutoFit/>
          </a:bodyPr>
          <a:lstStyle/>
          <a:p>
            <a:pPr algn="ctr">
              <a:defRPr sz="2200" b="1">
                <a:solidFill>
                  <a:srgbClr val="A6E3A1"/>
                </a:solidFill>
                <a:latin typeface="Calibri"/>
              </a:defRPr>
            </a:pPr>
            <a:r>
              <a:t>Bayesian Filter</a:t>
            </a:r>
          </a:p>
        </p:txBody>
      </p:sp>
      <p:sp>
        <p:nvSpPr>
          <p:cNvPr id="7" name="TextBox 6"/>
          <p:cNvSpPr txBox="1"/>
          <p:nvPr/>
        </p:nvSpPr>
        <p:spPr>
          <a:xfrm>
            <a:off x="4480559" y="2011680"/>
            <a:ext cx="3474720" cy="1371600"/>
          </a:xfrm>
          <a:prstGeom prst="rect">
            <a:avLst/>
          </a:prstGeom>
          <a:noFill/>
        </p:spPr>
        <p:txBody>
          <a:bodyPr wrap="square">
            <a:spAutoFit/>
          </a:bodyPr>
          <a:lstStyle/>
          <a:p>
            <a:pPr algn="ctr">
              <a:defRPr sz="1600" b="0">
                <a:solidFill>
                  <a:srgbClr val="CDD6F4"/>
                </a:solidFill>
                <a:latin typeface="Calibri"/>
              </a:defRPr>
            </a:pPr>
            <a:r>
              <a:t>Optimal probabilistic</a:t>
            </a:r>
            <a:br/>
            <a:r>
              <a:t>filter (Wonham/HMM)</a:t>
            </a:r>
          </a:p>
        </p:txBody>
      </p:sp>
      <p:sp>
        <p:nvSpPr>
          <p:cNvPr id="8" name="TextBox 7"/>
          <p:cNvSpPr txBox="1"/>
          <p:nvPr/>
        </p:nvSpPr>
        <p:spPr>
          <a:xfrm>
            <a:off x="4480559" y="3474720"/>
            <a:ext cx="3474720" cy="1371600"/>
          </a:xfrm>
          <a:prstGeom prst="rect">
            <a:avLst/>
          </a:prstGeom>
          <a:noFill/>
        </p:spPr>
        <p:txBody>
          <a:bodyPr wrap="square">
            <a:spAutoFit/>
          </a:bodyPr>
          <a:lstStyle/>
          <a:p>
            <a:pPr algn="ctr">
              <a:defRPr sz="1400" b="0">
                <a:solidFill>
                  <a:srgbClr val="A6ADC8"/>
                </a:solidFill>
                <a:latin typeface="Calibri"/>
              </a:defRPr>
            </a:pPr>
            <a:r>
              <a:t>Requires known noise model</a:t>
            </a:r>
            <a:br/>
            <a:r>
              <a:t>Optimal when assumptions hold</a:t>
            </a:r>
          </a:p>
        </p:txBody>
      </p:sp>
      <p:sp>
        <p:nvSpPr>
          <p:cNvPr id="9" name="TextBox 8"/>
          <p:cNvSpPr txBox="1"/>
          <p:nvPr/>
        </p:nvSpPr>
        <p:spPr>
          <a:xfrm>
            <a:off x="8229600" y="1371600"/>
            <a:ext cx="3474720" cy="457200"/>
          </a:xfrm>
          <a:prstGeom prst="rect">
            <a:avLst/>
          </a:prstGeom>
          <a:noFill/>
        </p:spPr>
        <p:txBody>
          <a:bodyPr wrap="square">
            <a:spAutoFit/>
          </a:bodyPr>
          <a:lstStyle/>
          <a:p>
            <a:pPr algn="ctr">
              <a:defRPr sz="2200" b="1">
                <a:solidFill>
                  <a:srgbClr val="89B4FA"/>
                </a:solidFill>
                <a:latin typeface="Calibri"/>
              </a:defRPr>
            </a:pPr>
            <a:r>
              <a:t>GRU Neural Net</a:t>
            </a:r>
          </a:p>
        </p:txBody>
      </p:sp>
      <p:sp>
        <p:nvSpPr>
          <p:cNvPr id="10" name="TextBox 9"/>
          <p:cNvSpPr txBox="1"/>
          <p:nvPr/>
        </p:nvSpPr>
        <p:spPr>
          <a:xfrm>
            <a:off x="8229600" y="2011680"/>
            <a:ext cx="3474720" cy="1371600"/>
          </a:xfrm>
          <a:prstGeom prst="rect">
            <a:avLst/>
          </a:prstGeom>
          <a:noFill/>
        </p:spPr>
        <p:txBody>
          <a:bodyPr wrap="square">
            <a:spAutoFit/>
          </a:bodyPr>
          <a:lstStyle/>
          <a:p>
            <a:pPr algn="ctr">
              <a:defRPr sz="1600" b="0">
                <a:solidFill>
                  <a:srgbClr val="CDD6F4"/>
                </a:solidFill>
                <a:latin typeface="Calibri"/>
              </a:defRPr>
            </a:pPr>
            <a:r>
              <a:t>Recurrent network</a:t>
            </a:r>
            <a:br/>
            <a:r>
              <a:t>that learns from data</a:t>
            </a:r>
          </a:p>
        </p:txBody>
      </p:sp>
      <p:sp>
        <p:nvSpPr>
          <p:cNvPr id="11" name="TextBox 10"/>
          <p:cNvSpPr txBox="1"/>
          <p:nvPr/>
        </p:nvSpPr>
        <p:spPr>
          <a:xfrm>
            <a:off x="8229600" y="3474720"/>
            <a:ext cx="3474720" cy="1371600"/>
          </a:xfrm>
          <a:prstGeom prst="rect">
            <a:avLst/>
          </a:prstGeom>
          <a:noFill/>
        </p:spPr>
        <p:txBody>
          <a:bodyPr wrap="square">
            <a:spAutoFit/>
          </a:bodyPr>
          <a:lstStyle/>
          <a:p>
            <a:pPr algn="ctr">
              <a:defRPr sz="1400" b="0">
                <a:solidFill>
                  <a:srgbClr val="A6ADC8"/>
                </a:solidFill>
                <a:latin typeface="Calibri"/>
              </a:defRPr>
            </a:pPr>
            <a:r>
              <a:t>Learns the model from examples</a:t>
            </a:r>
            <a:br/>
            <a:r>
              <a:t>Robust to model mismatch</a:t>
            </a:r>
          </a:p>
        </p:txBody>
      </p:sp>
      <p:sp>
        <p:nvSpPr>
          <p:cNvPr id="12" name="TextBox 11"/>
          <p:cNvSpPr txBox="1"/>
          <p:nvPr/>
        </p:nvSpPr>
        <p:spPr>
          <a:xfrm>
            <a:off x="731520" y="5029200"/>
            <a:ext cx="10058400" cy="731520"/>
          </a:xfrm>
          <a:prstGeom prst="rect">
            <a:avLst/>
          </a:prstGeom>
          <a:noFill/>
        </p:spPr>
        <p:txBody>
          <a:bodyPr wrap="square">
            <a:spAutoFit/>
          </a:bodyPr>
          <a:lstStyle/>
          <a:p>
            <a:pPr algn="l">
              <a:defRPr sz="1600" b="0">
                <a:solidFill>
                  <a:srgbClr val="A6ADC8"/>
                </a:solidFill>
                <a:latin typeface="Calibri"/>
              </a:defRPr>
            </a:pPr>
            <a:r>
              <a:t>The Bayesian filter is mathematically optimal IF you know the exact noise model.</a:t>
            </a:r>
            <a:br/>
            <a:r>
              <a:t>The GRU doesn't need that assumption — it learns directly from data.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731520" y="365760"/>
            <a:ext cx="10058400" cy="731520"/>
          </a:xfrm>
          <a:prstGeom prst="rect">
            <a:avLst/>
          </a:prstGeom>
          <a:noFill/>
        </p:spPr>
        <p:txBody>
          <a:bodyPr wrap="square">
            <a:spAutoFit/>
          </a:bodyPr>
          <a:lstStyle/>
          <a:p>
            <a:pPr algn="l">
              <a:defRPr sz="3200" b="1">
                <a:solidFill>
                  <a:srgbClr val="FFFFFF"/>
                </a:solidFill>
                <a:latin typeface="Calibri"/>
              </a:defRPr>
            </a:pPr>
            <a:r>
              <a:t>Phase 1 &amp; 2: GRU Wins Under Dynamics</a:t>
            </a:r>
          </a:p>
        </p:txBody>
      </p:sp>
      <p:sp>
        <p:nvSpPr>
          <p:cNvPr id="3" name="TextBox 2"/>
          <p:cNvSpPr txBox="1"/>
          <p:nvPr/>
        </p:nvSpPr>
        <p:spPr>
          <a:xfrm>
            <a:off x="731520" y="1280160"/>
            <a:ext cx="4572000" cy="457200"/>
          </a:xfrm>
          <a:prstGeom prst="rect">
            <a:avLst/>
          </a:prstGeom>
          <a:noFill/>
        </p:spPr>
        <p:txBody>
          <a:bodyPr wrap="square">
            <a:spAutoFit/>
          </a:bodyPr>
          <a:lstStyle/>
          <a:p>
            <a:pPr algn="l">
              <a:defRPr sz="1800" b="1">
                <a:solidFill>
                  <a:srgbClr val="89B4FA"/>
                </a:solidFill>
                <a:latin typeface="Calibri"/>
              </a:defRPr>
            </a:pPr>
            <a:r>
              <a:t>Phase 1 — Static (ideal)</a:t>
            </a:r>
          </a:p>
        </p:txBody>
      </p:sp>
      <p:graphicFrame>
        <p:nvGraphicFramePr>
          <p:cNvPr id="4" name="Table 3"/>
          <p:cNvGraphicFramePr>
            <a:graphicFrameLocks noGrp="1"/>
          </p:cNvGraphicFramePr>
          <p:nvPr/>
        </p:nvGraphicFramePr>
        <p:xfrm>
          <a:off x="731520" y="1828800"/>
          <a:ext cx="4572000" cy="1371600"/>
        </p:xfrm>
        <a:graphic>
          <a:graphicData uri="http://schemas.openxmlformats.org/drawingml/2006/table">
            <a:tbl>
              <a:tblPr firstRow="1" bandRow="1">
                <a:tableStyleId>{5C22544A-7EE6-4342-B048-85BDC9FD1C3A}</a:tableStyleId>
              </a:tblPr>
              <a:tblGrid>
                <a:gridCol w="2286000"/>
                <a:gridCol w="2286000"/>
              </a:tblGrid>
              <a:tr h="457200">
                <a:tc>
                  <a:txBody>
                    <a:bodyPr/>
                    <a:lstStyle/>
                    <a:p>
                      <a:pPr>
                        <a:defRPr sz="1600" b="1">
                          <a:solidFill>
                            <a:srgbClr val="FFFFFF"/>
                          </a:solidFill>
                          <a:latin typeface="Calibri"/>
                        </a:defRPr>
                      </a:pPr>
                      <a:r>
                        <a:t>Decoder</a:t>
                      </a:r>
                    </a:p>
                  </a:txBody>
                  <a:tcPr>
                    <a:solidFill>
                      <a:srgbClr val="313244"/>
                    </a:solidFill>
                  </a:tcPr>
                </a:tc>
                <a:tc>
                  <a:txBody>
                    <a:bodyPr/>
                    <a:lstStyle/>
                    <a:p>
                      <a:pPr>
                        <a:defRPr sz="1600" b="1">
                          <a:solidFill>
                            <a:srgbClr val="FFFFFF"/>
                          </a:solidFill>
                          <a:latin typeface="Calibri"/>
                        </a:defRPr>
                      </a:pPr>
                      <a:r>
                        <a:t>Accuracy</a:t>
                      </a:r>
                    </a:p>
                  </a:txBody>
                  <a:tcPr>
                    <a:solidFill>
                      <a:srgbClr val="313244"/>
                    </a:solidFill>
                  </a:tcPr>
                </a:tc>
              </a:tr>
              <a:tr h="457200">
                <a:tc>
                  <a:txBody>
                    <a:bodyPr/>
                    <a:lstStyle/>
                    <a:p>
                      <a:pPr>
                        <a:defRPr sz="1600" b="0">
                          <a:solidFill>
                            <a:srgbClr val="CDD6F4"/>
                          </a:solidFill>
                          <a:latin typeface="Calibri"/>
                        </a:defRPr>
                      </a:pPr>
                      <a:r>
                        <a:t>Threshold</a:t>
                      </a:r>
                    </a:p>
                  </a:txBody>
                  <a:tcPr>
                    <a:solidFill>
                      <a:srgbClr val="1E1E2E"/>
                    </a:solidFill>
                  </a:tcPr>
                </a:tc>
                <a:tc>
                  <a:txBody>
                    <a:bodyPr/>
                    <a:lstStyle/>
                    <a:p>
                      <a:pPr>
                        <a:defRPr sz="1600" b="0">
                          <a:solidFill>
                            <a:srgbClr val="CDD6F4"/>
                          </a:solidFill>
                          <a:latin typeface="Calibri"/>
                        </a:defRPr>
                      </a:pPr>
                      <a:r>
                        <a:t>~86%</a:t>
                      </a:r>
                    </a:p>
                  </a:txBody>
                  <a:tcPr>
                    <a:solidFill>
                      <a:srgbClr val="1E1E2E"/>
                    </a:solidFill>
                  </a:tcPr>
                </a:tc>
              </a:tr>
              <a:tr h="457200">
                <a:tc>
                  <a:txBody>
                    <a:bodyPr/>
                    <a:lstStyle/>
                    <a:p>
                      <a:pPr>
                        <a:defRPr sz="1600" b="0">
                          <a:solidFill>
                            <a:srgbClr val="CDD6F4"/>
                          </a:solidFill>
                          <a:latin typeface="Calibri"/>
                        </a:defRPr>
                      </a:pPr>
                      <a:r>
                        <a:t>GRU</a:t>
                      </a:r>
                    </a:p>
                  </a:txBody>
                  <a:tcPr>
                    <a:solidFill>
                      <a:srgbClr val="1E1E2E"/>
                    </a:solidFill>
                  </a:tcPr>
                </a:tc>
                <a:tc>
                  <a:txBody>
                    <a:bodyPr/>
                    <a:lstStyle/>
                    <a:p>
                      <a:pPr>
                        <a:defRPr sz="1600" b="1">
                          <a:solidFill>
                            <a:srgbClr val="CDD6F4"/>
                          </a:solidFill>
                          <a:latin typeface="Calibri"/>
                        </a:defRPr>
                      </a:pPr>
                      <a:r>
                        <a:t>~96%</a:t>
                      </a:r>
                    </a:p>
                  </a:txBody>
                  <a:tcPr>
                    <a:solidFill>
                      <a:srgbClr val="1E1E2E"/>
                    </a:solidFill>
                  </a:tcPr>
                </a:tc>
              </a:tr>
            </a:tbl>
          </a:graphicData>
        </a:graphic>
      </p:graphicFrame>
      <p:sp>
        <p:nvSpPr>
          <p:cNvPr id="5" name="TextBox 4"/>
          <p:cNvSpPr txBox="1"/>
          <p:nvPr/>
        </p:nvSpPr>
        <p:spPr>
          <a:xfrm>
            <a:off x="6217920" y="1280160"/>
            <a:ext cx="5029200" cy="457200"/>
          </a:xfrm>
          <a:prstGeom prst="rect">
            <a:avLst/>
          </a:prstGeom>
          <a:noFill/>
        </p:spPr>
        <p:txBody>
          <a:bodyPr wrap="square">
            <a:spAutoFit/>
          </a:bodyPr>
          <a:lstStyle/>
          <a:p>
            <a:pPr algn="l">
              <a:defRPr sz="1800" b="1">
                <a:solidFill>
                  <a:srgbClr val="89B4FA"/>
                </a:solidFill>
                <a:latin typeface="Calibri"/>
              </a:defRPr>
            </a:pPr>
            <a:r>
              <a:t>Phase 2 — Hamiltonian dynamics</a:t>
            </a:r>
          </a:p>
        </p:txBody>
      </p:sp>
      <p:graphicFrame>
        <p:nvGraphicFramePr>
          <p:cNvPr id="6" name="Table 5"/>
          <p:cNvGraphicFramePr>
            <a:graphicFrameLocks noGrp="1"/>
          </p:cNvGraphicFramePr>
          <p:nvPr/>
        </p:nvGraphicFramePr>
        <p:xfrm>
          <a:off x="6217920" y="1828800"/>
          <a:ext cx="5029200" cy="1828800"/>
        </p:xfrm>
        <a:graphic>
          <a:graphicData uri="http://schemas.openxmlformats.org/drawingml/2006/table">
            <a:tbl>
              <a:tblPr firstRow="1" bandRow="1">
                <a:tableStyleId>{5C22544A-7EE6-4342-B048-85BDC9FD1C3A}</a:tableStyleId>
              </a:tblPr>
              <a:tblGrid>
                <a:gridCol w="2514600"/>
                <a:gridCol w="2514600"/>
              </a:tblGrid>
              <a:tr h="457200">
                <a:tc>
                  <a:txBody>
                    <a:bodyPr/>
                    <a:lstStyle/>
                    <a:p>
                      <a:pPr>
                        <a:defRPr sz="1600" b="1">
                          <a:solidFill>
                            <a:srgbClr val="FFFFFF"/>
                          </a:solidFill>
                          <a:latin typeface="Calibri"/>
                        </a:defRPr>
                      </a:pPr>
                      <a:r>
                        <a:t>Decoder</a:t>
                      </a:r>
                    </a:p>
                  </a:txBody>
                  <a:tcPr>
                    <a:solidFill>
                      <a:srgbClr val="313244"/>
                    </a:solidFill>
                  </a:tcPr>
                </a:tc>
                <a:tc>
                  <a:txBody>
                    <a:bodyPr/>
                    <a:lstStyle/>
                    <a:p>
                      <a:pPr>
                        <a:defRPr sz="1600" b="1">
                          <a:solidFill>
                            <a:srgbClr val="FFFFFF"/>
                          </a:solidFill>
                          <a:latin typeface="Calibri"/>
                        </a:defRPr>
                      </a:pPr>
                      <a:r>
                        <a:t>Accuracy</a:t>
                      </a:r>
                    </a:p>
                  </a:txBody>
                  <a:tcPr>
                    <a:solidFill>
                      <a:srgbClr val="313244"/>
                    </a:solidFill>
                  </a:tcPr>
                </a:tc>
              </a:tr>
              <a:tr h="457200">
                <a:tc>
                  <a:txBody>
                    <a:bodyPr/>
                    <a:lstStyle/>
                    <a:p>
                      <a:pPr>
                        <a:defRPr sz="1600" b="0">
                          <a:solidFill>
                            <a:srgbClr val="CDD6F4"/>
                          </a:solidFill>
                          <a:latin typeface="Calibri"/>
                        </a:defRPr>
                      </a:pPr>
                      <a:r>
                        <a:t>Threshold</a:t>
                      </a:r>
                    </a:p>
                  </a:txBody>
                  <a:tcPr>
                    <a:solidFill>
                      <a:srgbClr val="1E1E2E"/>
                    </a:solidFill>
                  </a:tcPr>
                </a:tc>
                <a:tc>
                  <a:txBody>
                    <a:bodyPr/>
                    <a:lstStyle/>
                    <a:p>
                      <a:pPr>
                        <a:defRPr sz="1600" b="0">
                          <a:solidFill>
                            <a:srgbClr val="CDD6F4"/>
                          </a:solidFill>
                          <a:latin typeface="Calibri"/>
                        </a:defRPr>
                      </a:pPr>
                      <a:r>
                        <a:t>~85%</a:t>
                      </a:r>
                    </a:p>
                  </a:txBody>
                  <a:tcPr>
                    <a:solidFill>
                      <a:srgbClr val="1E1E2E"/>
                    </a:solidFill>
                  </a:tcPr>
                </a:tc>
              </a:tr>
              <a:tr h="457200">
                <a:tc>
                  <a:txBody>
                    <a:bodyPr/>
                    <a:lstStyle/>
                    <a:p>
                      <a:pPr>
                        <a:defRPr sz="1600" b="0">
                          <a:solidFill>
                            <a:srgbClr val="CDD6F4"/>
                          </a:solidFill>
                          <a:latin typeface="Calibri"/>
                        </a:defRPr>
                      </a:pPr>
                      <a:r>
                        <a:t>Bayesian Filter</a:t>
                      </a:r>
                    </a:p>
                  </a:txBody>
                  <a:tcPr>
                    <a:solidFill>
                      <a:srgbClr val="1E1E2E"/>
                    </a:solidFill>
                  </a:tcPr>
                </a:tc>
                <a:tc>
                  <a:txBody>
                    <a:bodyPr/>
                    <a:lstStyle/>
                    <a:p>
                      <a:pPr>
                        <a:defRPr sz="1600" b="0">
                          <a:solidFill>
                            <a:srgbClr val="CDD6F4"/>
                          </a:solidFill>
                          <a:latin typeface="Calibri"/>
                        </a:defRPr>
                      </a:pPr>
                      <a:r>
                        <a:t>~94%</a:t>
                      </a:r>
                    </a:p>
                  </a:txBody>
                  <a:tcPr>
                    <a:solidFill>
                      <a:srgbClr val="1E1E2E"/>
                    </a:solidFill>
                  </a:tcPr>
                </a:tc>
              </a:tr>
              <a:tr h="457200">
                <a:tc>
                  <a:txBody>
                    <a:bodyPr/>
                    <a:lstStyle/>
                    <a:p>
                      <a:pPr>
                        <a:defRPr sz="1600" b="0">
                          <a:solidFill>
                            <a:srgbClr val="CDD6F4"/>
                          </a:solidFill>
                          <a:latin typeface="Calibri"/>
                        </a:defRPr>
                      </a:pPr>
                      <a:r>
                        <a:t>GRU</a:t>
                      </a:r>
                    </a:p>
                  </a:txBody>
                  <a:tcPr>
                    <a:solidFill>
                      <a:srgbClr val="1E1E2E"/>
                    </a:solidFill>
                  </a:tcPr>
                </a:tc>
                <a:tc>
                  <a:txBody>
                    <a:bodyPr/>
                    <a:lstStyle/>
                    <a:p>
                      <a:pPr>
                        <a:defRPr sz="1600" b="1">
                          <a:solidFill>
                            <a:srgbClr val="CDD6F4"/>
                          </a:solidFill>
                          <a:latin typeface="Calibri"/>
                        </a:defRPr>
                      </a:pPr>
                      <a:r>
                        <a:t>~96%</a:t>
                      </a:r>
                    </a:p>
                  </a:txBody>
                  <a:tcPr>
                    <a:solidFill>
                      <a:srgbClr val="1E1E2E"/>
                    </a:solidFill>
                  </a:tcPr>
                </a:tc>
              </a:tr>
            </a:tbl>
          </a:graphicData>
        </a:graphic>
      </p:graphicFrame>
      <p:sp>
        <p:nvSpPr>
          <p:cNvPr id="7" name="TextBox 6"/>
          <p:cNvSpPr txBox="1"/>
          <p:nvPr/>
        </p:nvSpPr>
        <p:spPr>
          <a:xfrm>
            <a:off x="731520" y="4114800"/>
            <a:ext cx="10058400" cy="1097280"/>
          </a:xfrm>
          <a:prstGeom prst="rect">
            <a:avLst/>
          </a:prstGeom>
          <a:noFill/>
        </p:spPr>
        <p:txBody>
          <a:bodyPr wrap="square">
            <a:spAutoFit/>
          </a:bodyPr>
          <a:lstStyle/>
          <a:p>
            <a:pPr algn="l">
              <a:defRPr sz="1800" b="0">
                <a:solidFill>
                  <a:srgbClr val="A6ADC8"/>
                </a:solidFill>
                <a:latin typeface="Calibri"/>
              </a:defRPr>
            </a:pPr>
            <a:r>
              <a:t>When we add coherent drive, calibration drift, and measurement backaction,</a:t>
            </a:r>
            <a:br/>
            <a:r>
              <a:t>the Bayesian filter's assumptions break. The GRU maintains performance</a:t>
            </a:r>
            <a:br/>
            <a:r>
              <a:t>by learning dynamics directly from data.</a:t>
            </a:r>
          </a:p>
        </p:txBody>
      </p:sp>
      <p:pic>
        <p:nvPicPr>
          <p:cNvPr id="8" name="Picture 7" descr="phase2_dynamics_comparison.png"/>
          <p:cNvPicPr>
            <a:picLocks noChangeAspect="1"/>
          </p:cNvPicPr>
          <p:nvPr/>
        </p:nvPicPr>
        <p:blipFill>
          <a:blip r:embed="rId2"/>
          <a:stretch>
            <a:fillRect/>
          </a:stretch>
        </p:blipFill>
        <p:spPr>
          <a:xfrm>
            <a:off x="2743200" y="4754880"/>
            <a:ext cx="6400800" cy="18288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731520" y="365760"/>
            <a:ext cx="10058400" cy="731520"/>
          </a:xfrm>
          <a:prstGeom prst="rect">
            <a:avLst/>
          </a:prstGeom>
          <a:noFill/>
        </p:spPr>
        <p:txBody>
          <a:bodyPr wrap="square">
            <a:spAutoFit/>
          </a:bodyPr>
          <a:lstStyle/>
          <a:p>
            <a:pPr algn="l">
              <a:defRPr sz="3200" b="1">
                <a:solidFill>
                  <a:srgbClr val="FFFFFF"/>
                </a:solidFill>
                <a:latin typeface="Calibri"/>
              </a:defRPr>
            </a:pPr>
            <a:r>
              <a:t>Phase 3: Real Hardware Is Worse Than You Think</a:t>
            </a:r>
          </a:p>
        </p:txBody>
      </p:sp>
      <p:sp>
        <p:nvSpPr>
          <p:cNvPr id="3" name="TextBox 2"/>
          <p:cNvSpPr txBox="1"/>
          <p:nvPr/>
        </p:nvSpPr>
        <p:spPr>
          <a:xfrm>
            <a:off x="731520" y="1371600"/>
            <a:ext cx="4572000" cy="3657600"/>
          </a:xfrm>
          <a:prstGeom prst="rect">
            <a:avLst/>
          </a:prstGeom>
          <a:noFill/>
        </p:spPr>
        <p:txBody>
          <a:bodyPr wrap="square">
            <a:spAutoFit/>
          </a:bodyPr>
          <a:lstStyle/>
          <a:p>
            <a:pPr>
              <a:spcAft>
                <a:spcPts val="800"/>
              </a:spcAft>
              <a:defRPr sz="1600">
                <a:solidFill>
                  <a:srgbClr val="CDD6F4"/>
                </a:solidFill>
                <a:latin typeface="Calibri"/>
              </a:defRPr>
            </a:pPr>
            <a:r>
              <a:t>Three non-idealities that break</a:t>
            </a:r>
          </a:p>
          <a:p>
            <a:pPr>
              <a:spcAft>
                <a:spcPts val="800"/>
              </a:spcAft>
              <a:defRPr sz="1600">
                <a:solidFill>
                  <a:srgbClr val="CDD6F4"/>
                </a:solidFill>
                <a:latin typeface="Calibri"/>
              </a:defRPr>
            </a:pPr>
            <a:r>
              <a:t>model-based decoders:</a:t>
            </a:r>
          </a:p>
          <a:p>
            <a:pPr>
              <a:spcAft>
                <a:spcPts val="800"/>
              </a:spcAft>
              <a:defRPr sz="1600">
                <a:solidFill>
                  <a:srgbClr val="CDD6F4"/>
                </a:solidFill>
                <a:latin typeface="Calibri"/>
              </a:defRPr>
            </a:pPr>
          </a:p>
          <a:p>
            <a:pPr>
              <a:spcAft>
                <a:spcPts val="800"/>
              </a:spcAft>
              <a:defRPr sz="1600">
                <a:solidFill>
                  <a:srgbClr val="CDD6F4"/>
                </a:solidFill>
                <a:latin typeface="Calibri"/>
              </a:defRPr>
            </a:pPr>
            <a:r>
              <a:t>1. Colored noise</a:t>
            </a:r>
          </a:p>
          <a:p>
            <a:pPr>
              <a:spcAft>
                <a:spcPts val="800"/>
              </a:spcAft>
              <a:defRPr sz="1600">
                <a:solidFill>
                  <a:srgbClr val="CDD6F4"/>
                </a:solidFill>
                <a:latin typeface="Calibri"/>
              </a:defRPr>
            </a:pPr>
            <a:r>
              <a:t>   Temporally correlated (AR(1)),</a:t>
            </a:r>
          </a:p>
          <a:p>
            <a:pPr>
              <a:spcAft>
                <a:spcPts val="800"/>
              </a:spcAft>
              <a:defRPr sz="1600">
                <a:solidFill>
                  <a:srgbClr val="CDD6F4"/>
                </a:solidFill>
                <a:latin typeface="Calibri"/>
              </a:defRPr>
            </a:pPr>
            <a:r>
              <a:t>   not white Gaussian</a:t>
            </a:r>
          </a:p>
          <a:p>
            <a:pPr>
              <a:spcAft>
                <a:spcPts val="800"/>
              </a:spcAft>
              <a:defRPr sz="1600">
                <a:solidFill>
                  <a:srgbClr val="CDD6F4"/>
                </a:solidFill>
                <a:latin typeface="Calibri"/>
              </a:defRPr>
            </a:pPr>
          </a:p>
          <a:p>
            <a:pPr>
              <a:spcAft>
                <a:spcPts val="800"/>
              </a:spcAft>
              <a:defRPr sz="1600">
                <a:solidFill>
                  <a:srgbClr val="CDD6F4"/>
                </a:solidFill>
                <a:latin typeface="Calibri"/>
              </a:defRPr>
            </a:pPr>
            <a:r>
              <a:t>2. Post-flip transients</a:t>
            </a:r>
          </a:p>
          <a:p>
            <a:pPr>
              <a:spcAft>
                <a:spcPts val="800"/>
              </a:spcAft>
              <a:defRPr sz="1600">
                <a:solidFill>
                  <a:srgbClr val="CDD6F4"/>
                </a:solidFill>
                <a:latin typeface="Calibri"/>
              </a:defRPr>
            </a:pPr>
            <a:r>
              <a:t>   Exponential ring-down after</a:t>
            </a:r>
          </a:p>
          <a:p>
            <a:pPr>
              <a:spcAft>
                <a:spcPts val="800"/>
              </a:spcAft>
              <a:defRPr sz="1600">
                <a:solidFill>
                  <a:srgbClr val="CDD6F4"/>
                </a:solidFill>
                <a:latin typeface="Calibri"/>
              </a:defRPr>
            </a:pPr>
            <a:r>
              <a:t>   each error event</a:t>
            </a:r>
          </a:p>
          <a:p>
            <a:pPr>
              <a:spcAft>
                <a:spcPts val="800"/>
              </a:spcAft>
              <a:defRPr sz="1600">
                <a:solidFill>
                  <a:srgbClr val="CDD6F4"/>
                </a:solidFill>
                <a:latin typeface="Calibri"/>
              </a:defRPr>
            </a:pPr>
          </a:p>
          <a:p>
            <a:pPr>
              <a:spcAft>
                <a:spcPts val="800"/>
              </a:spcAft>
              <a:defRPr sz="1600">
                <a:solidFill>
                  <a:srgbClr val="CDD6F4"/>
                </a:solidFill>
                <a:latin typeface="Calibri"/>
              </a:defRPr>
            </a:pPr>
            <a:r>
              <a:t>3. Random-walk drift</a:t>
            </a:r>
          </a:p>
          <a:p>
            <a:pPr>
              <a:spcAft>
                <a:spcPts val="800"/>
              </a:spcAft>
              <a:defRPr sz="1600">
                <a:solidFill>
                  <a:srgbClr val="CDD6F4"/>
                </a:solidFill>
                <a:latin typeface="Calibri"/>
              </a:defRPr>
            </a:pPr>
            <a:r>
              <a:t>   Measurement calibration wanders</a:t>
            </a:r>
          </a:p>
          <a:p>
            <a:pPr>
              <a:spcAft>
                <a:spcPts val="800"/>
              </a:spcAft>
              <a:defRPr sz="1600">
                <a:solidFill>
                  <a:srgbClr val="CDD6F4"/>
                </a:solidFill>
                <a:latin typeface="Calibri"/>
              </a:defRPr>
            </a:pPr>
            <a:r>
              <a:t>   via Brownian motion</a:t>
            </a:r>
          </a:p>
        </p:txBody>
      </p:sp>
      <p:pic>
        <p:nvPicPr>
          <p:cNvPr id="4" name="Picture 3" descr="phase3_nonideal_effects.png"/>
          <p:cNvPicPr>
            <a:picLocks noChangeAspect="1"/>
          </p:cNvPicPr>
          <p:nvPr/>
        </p:nvPicPr>
        <p:blipFill>
          <a:blip r:embed="rId2"/>
          <a:stretch>
            <a:fillRect/>
          </a:stretch>
        </p:blipFill>
        <p:spPr>
          <a:xfrm>
            <a:off x="5943600" y="1097280"/>
            <a:ext cx="5486400" cy="4572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731520" y="365760"/>
            <a:ext cx="10058400" cy="731520"/>
          </a:xfrm>
          <a:prstGeom prst="rect">
            <a:avLst/>
          </a:prstGeom>
          <a:noFill/>
        </p:spPr>
        <p:txBody>
          <a:bodyPr wrap="square">
            <a:spAutoFit/>
          </a:bodyPr>
          <a:lstStyle/>
          <a:p>
            <a:pPr algn="l">
              <a:defRPr sz="3200" b="1">
                <a:solidFill>
                  <a:srgbClr val="FFFFFF"/>
                </a:solidFill>
                <a:latin typeface="Calibri"/>
              </a:defRPr>
            </a:pPr>
            <a:r>
              <a:t>Phase 3 Results: Everyone Degrades</a:t>
            </a:r>
          </a:p>
        </p:txBody>
      </p:sp>
      <p:graphicFrame>
        <p:nvGraphicFramePr>
          <p:cNvPr id="3" name="Table 2"/>
          <p:cNvGraphicFramePr>
            <a:graphicFrameLocks noGrp="1"/>
          </p:cNvGraphicFramePr>
          <p:nvPr/>
        </p:nvGraphicFramePr>
        <p:xfrm>
          <a:off x="731520" y="1371600"/>
          <a:ext cx="10058400" cy="2011680"/>
        </p:xfrm>
        <a:graphic>
          <a:graphicData uri="http://schemas.openxmlformats.org/drawingml/2006/table">
            <a:tbl>
              <a:tblPr firstRow="1" bandRow="1">
                <a:tableStyleId>{5C22544A-7EE6-4342-B048-85BDC9FD1C3A}</a:tableStyleId>
              </a:tblPr>
              <a:tblGrid>
                <a:gridCol w="3352800"/>
                <a:gridCol w="3352800"/>
                <a:gridCol w="3352800"/>
              </a:tblGrid>
              <a:tr h="502920">
                <a:tc>
                  <a:txBody>
                    <a:bodyPr/>
                    <a:lstStyle/>
                    <a:p>
                      <a:pPr>
                        <a:defRPr sz="1600" b="1">
                          <a:solidFill>
                            <a:srgbClr val="FFFFFF"/>
                          </a:solidFill>
                          <a:latin typeface="Calibri"/>
                        </a:defRPr>
                      </a:pPr>
                      <a:r>
                        <a:t>Decoder</a:t>
                      </a:r>
                    </a:p>
                  </a:txBody>
                  <a:tcPr>
                    <a:solidFill>
                      <a:srgbClr val="313244"/>
                    </a:solidFill>
                  </a:tcPr>
                </a:tc>
                <a:tc>
                  <a:txBody>
                    <a:bodyPr/>
                    <a:lstStyle/>
                    <a:p>
                      <a:pPr>
                        <a:defRPr sz="1600" b="1">
                          <a:solidFill>
                            <a:srgbClr val="FFFFFF"/>
                          </a:solidFill>
                          <a:latin typeface="Calibri"/>
                        </a:defRPr>
                      </a:pPr>
                      <a:r>
                        <a:t>Accuracy</a:t>
                      </a:r>
                    </a:p>
                  </a:txBody>
                  <a:tcPr>
                    <a:solidFill>
                      <a:srgbClr val="313244"/>
                    </a:solidFill>
                  </a:tcPr>
                </a:tc>
                <a:tc>
                  <a:txBody>
                    <a:bodyPr/>
                    <a:lstStyle/>
                    <a:p>
                      <a:pPr>
                        <a:defRPr sz="1600" b="1">
                          <a:solidFill>
                            <a:srgbClr val="FFFFFF"/>
                          </a:solidFill>
                          <a:latin typeface="Calibri"/>
                        </a:defRPr>
                      </a:pPr>
                      <a:r>
                        <a:t>Notes</a:t>
                      </a:r>
                    </a:p>
                  </a:txBody>
                  <a:tcPr>
                    <a:solidFill>
                      <a:srgbClr val="313244"/>
                    </a:solidFill>
                  </a:tcPr>
                </a:tc>
              </a:tr>
              <a:tr h="502920">
                <a:tc>
                  <a:txBody>
                    <a:bodyPr/>
                    <a:lstStyle/>
                    <a:p>
                      <a:pPr>
                        <a:defRPr sz="1600" b="0">
                          <a:solidFill>
                            <a:srgbClr val="CDD6F4"/>
                          </a:solidFill>
                          <a:latin typeface="Calibri"/>
                        </a:defRPr>
                      </a:pPr>
                      <a:r>
                        <a:t>Threshold</a:t>
                      </a:r>
                    </a:p>
                  </a:txBody>
                  <a:tcPr>
                    <a:solidFill>
                      <a:srgbClr val="1E1E2E"/>
                    </a:solidFill>
                  </a:tcPr>
                </a:tc>
                <a:tc>
                  <a:txBody>
                    <a:bodyPr/>
                    <a:lstStyle/>
                    <a:p>
                      <a:pPr>
                        <a:defRPr sz="1600" b="0">
                          <a:solidFill>
                            <a:srgbClr val="CDD6F4"/>
                          </a:solidFill>
                          <a:latin typeface="Calibri"/>
                        </a:defRPr>
                      </a:pPr>
                      <a:r>
                        <a:t>79.4%</a:t>
                      </a:r>
                    </a:p>
                  </a:txBody>
                  <a:tcPr>
                    <a:solidFill>
                      <a:srgbClr val="1E1E2E"/>
                    </a:solidFill>
                  </a:tcPr>
                </a:tc>
                <a:tc>
                  <a:txBody>
                    <a:bodyPr/>
                    <a:lstStyle/>
                    <a:p>
                      <a:pPr>
                        <a:defRPr sz="1600" b="0">
                          <a:solidFill>
                            <a:srgbClr val="CDD6F4"/>
                          </a:solidFill>
                          <a:latin typeface="Calibri"/>
                        </a:defRPr>
                      </a:pPr>
                      <a:r>
                        <a:t>Simple averaging fails with colored noise</a:t>
                      </a:r>
                    </a:p>
                  </a:txBody>
                  <a:tcPr>
                    <a:solidFill>
                      <a:srgbClr val="1E1E2E"/>
                    </a:solidFill>
                  </a:tcPr>
                </a:tc>
              </a:tr>
              <a:tr h="502920">
                <a:tc>
                  <a:txBody>
                    <a:bodyPr/>
                    <a:lstStyle/>
                    <a:p>
                      <a:pPr>
                        <a:defRPr sz="1600" b="0">
                          <a:solidFill>
                            <a:srgbClr val="CDD6F4"/>
                          </a:solidFill>
                          <a:latin typeface="Calibri"/>
                        </a:defRPr>
                      </a:pPr>
                      <a:r>
                        <a:t>Bayesian Filter</a:t>
                      </a:r>
                    </a:p>
                  </a:txBody>
                  <a:tcPr>
                    <a:solidFill>
                      <a:srgbClr val="1E1E2E"/>
                    </a:solidFill>
                  </a:tcPr>
                </a:tc>
                <a:tc>
                  <a:txBody>
                    <a:bodyPr/>
                    <a:lstStyle/>
                    <a:p>
                      <a:pPr>
                        <a:defRPr sz="1600" b="0">
                          <a:solidFill>
                            <a:srgbClr val="CDD6F4"/>
                          </a:solidFill>
                          <a:latin typeface="Calibri"/>
                        </a:defRPr>
                      </a:pPr>
                      <a:r>
                        <a:t>84.2%</a:t>
                      </a:r>
                    </a:p>
                  </a:txBody>
                  <a:tcPr>
                    <a:solidFill>
                      <a:srgbClr val="1E1E2E"/>
                    </a:solidFill>
                  </a:tcPr>
                </a:tc>
                <a:tc>
                  <a:txBody>
                    <a:bodyPr/>
                    <a:lstStyle/>
                    <a:p>
                      <a:pPr>
                        <a:defRPr sz="1600" b="0">
                          <a:solidFill>
                            <a:srgbClr val="CDD6F4"/>
                          </a:solidFill>
                          <a:latin typeface="Calibri"/>
                        </a:defRPr>
                      </a:pPr>
                      <a:r>
                        <a:t>White noise assumption violated</a:t>
                      </a:r>
                    </a:p>
                  </a:txBody>
                  <a:tcPr>
                    <a:solidFill>
                      <a:srgbClr val="1E1E2E"/>
                    </a:solidFill>
                  </a:tcPr>
                </a:tc>
              </a:tr>
              <a:tr h="502920">
                <a:tc>
                  <a:txBody>
                    <a:bodyPr/>
                    <a:lstStyle/>
                    <a:p>
                      <a:pPr>
                        <a:defRPr sz="1600" b="0">
                          <a:solidFill>
                            <a:srgbClr val="CDD6F4"/>
                          </a:solidFill>
                          <a:latin typeface="Calibri"/>
                        </a:defRPr>
                      </a:pPr>
                      <a:r>
                        <a:t>GRU</a:t>
                      </a:r>
                    </a:p>
                  </a:txBody>
                  <a:tcPr>
                    <a:solidFill>
                      <a:srgbClr val="1E1E2E"/>
                    </a:solidFill>
                  </a:tcPr>
                </a:tc>
                <a:tc>
                  <a:txBody>
                    <a:bodyPr/>
                    <a:lstStyle/>
                    <a:p>
                      <a:pPr>
                        <a:defRPr sz="1600" b="0">
                          <a:solidFill>
                            <a:srgbClr val="CDD6F4"/>
                          </a:solidFill>
                          <a:latin typeface="Calibri"/>
                        </a:defRPr>
                      </a:pPr>
                      <a:r>
                        <a:t>83.1%</a:t>
                      </a:r>
                    </a:p>
                  </a:txBody>
                  <a:tcPr>
                    <a:solidFill>
                      <a:srgbClr val="1E1E2E"/>
                    </a:solidFill>
                  </a:tcPr>
                </a:tc>
                <a:tc>
                  <a:txBody>
                    <a:bodyPr/>
                    <a:lstStyle/>
                    <a:p>
                      <a:pPr>
                        <a:defRPr sz="1600" b="0">
                          <a:solidFill>
                            <a:srgbClr val="CDD6F4"/>
                          </a:solidFill>
                          <a:latin typeface="Calibri"/>
                        </a:defRPr>
                      </a:pPr>
                      <a:r>
                        <a:t>Learns from data, but overfits</a:t>
                      </a:r>
                    </a:p>
                  </a:txBody>
                  <a:tcPr>
                    <a:solidFill>
                      <a:srgbClr val="1E1E2E"/>
                    </a:solidFill>
                  </a:tcPr>
                </a:tc>
              </a:tr>
            </a:tbl>
          </a:graphicData>
        </a:graphic>
      </p:graphicFrame>
      <p:sp>
        <p:nvSpPr>
          <p:cNvPr id="4" name="TextBox 3"/>
          <p:cNvSpPr txBox="1"/>
          <p:nvPr/>
        </p:nvSpPr>
        <p:spPr>
          <a:xfrm>
            <a:off x="731520" y="3657600"/>
            <a:ext cx="10058400" cy="914400"/>
          </a:xfrm>
          <a:prstGeom prst="rect">
            <a:avLst/>
          </a:prstGeom>
          <a:noFill/>
        </p:spPr>
        <p:txBody>
          <a:bodyPr wrap="square">
            <a:spAutoFit/>
          </a:bodyPr>
          <a:lstStyle/>
          <a:p>
            <a:pPr algn="l">
              <a:defRPr sz="1800" b="0">
                <a:solidFill>
                  <a:srgbClr val="A6ADC8"/>
                </a:solidFill>
                <a:latin typeface="Calibri"/>
              </a:defRPr>
            </a:pPr>
            <a:r>
              <a:t>Key insight: The Bayesian filter's advantage disappears when its assumptions are wrong.</a:t>
            </a:r>
            <a:br/>
            <a:r>
              <a:t>The GRU is competitive but needs more data. This motivates our key question...</a:t>
            </a:r>
          </a:p>
        </p:txBody>
      </p:sp>
      <p:pic>
        <p:nvPicPr>
          <p:cNvPr id="5" name="Picture 4" descr="phase3_decoder_comparison.png"/>
          <p:cNvPicPr>
            <a:picLocks noChangeAspect="1"/>
          </p:cNvPicPr>
          <p:nvPr/>
        </p:nvPicPr>
        <p:blipFill>
          <a:blip r:embed="rId2"/>
          <a:stretch>
            <a:fillRect/>
          </a:stretch>
        </p:blipFill>
        <p:spPr>
          <a:xfrm>
            <a:off x="1828800" y="4572000"/>
            <a:ext cx="8229600" cy="20116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731520" y="365760"/>
            <a:ext cx="10058400" cy="731520"/>
          </a:xfrm>
          <a:prstGeom prst="rect">
            <a:avLst/>
          </a:prstGeom>
          <a:noFill/>
        </p:spPr>
        <p:txBody>
          <a:bodyPr wrap="square">
            <a:spAutoFit/>
          </a:bodyPr>
          <a:lstStyle/>
          <a:p>
            <a:pPr algn="l">
              <a:defRPr sz="3200" b="1">
                <a:solidFill>
                  <a:srgbClr val="FFFFFF"/>
                </a:solidFill>
                <a:latin typeface="Calibri"/>
              </a:defRPr>
            </a:pPr>
            <a:r>
              <a:t>Phase 4: Hardware Drifts During Operation</a:t>
            </a:r>
          </a:p>
        </p:txBody>
      </p:sp>
      <p:sp>
        <p:nvSpPr>
          <p:cNvPr id="3" name="TextBox 2"/>
          <p:cNvSpPr txBox="1"/>
          <p:nvPr/>
        </p:nvSpPr>
        <p:spPr>
          <a:xfrm>
            <a:off x="731520" y="1371600"/>
            <a:ext cx="5029200" cy="3657600"/>
          </a:xfrm>
          <a:prstGeom prst="rect">
            <a:avLst/>
          </a:prstGeom>
          <a:noFill/>
        </p:spPr>
        <p:txBody>
          <a:bodyPr wrap="square">
            <a:spAutoFit/>
          </a:bodyPr>
          <a:lstStyle/>
          <a:p>
            <a:pPr>
              <a:spcAft>
                <a:spcPts val="800"/>
              </a:spcAft>
              <a:defRPr sz="1800">
                <a:solidFill>
                  <a:srgbClr val="CDD6F4"/>
                </a:solidFill>
                <a:latin typeface="Calibri"/>
              </a:defRPr>
            </a:pPr>
            <a:r>
              <a:t>• Real quantum hardware drifts continuously:</a:t>
            </a:r>
          </a:p>
          <a:p>
            <a:pPr>
              <a:spcAft>
                <a:spcPts val="800"/>
              </a:spcAft>
              <a:defRPr sz="1800">
                <a:solidFill>
                  <a:srgbClr val="CDD6F4"/>
                </a:solidFill>
                <a:latin typeface="Calibri"/>
              </a:defRPr>
            </a:pPr>
            <a:r>
              <a:t>  temperature, aging, environment</a:t>
            </a:r>
          </a:p>
          <a:p>
            <a:pPr>
              <a:spcAft>
                <a:spcPts val="800"/>
              </a:spcAft>
              <a:defRPr sz="1800">
                <a:solidFill>
                  <a:srgbClr val="CDD6F4"/>
                </a:solidFill>
                <a:latin typeface="Calibri"/>
              </a:defRPr>
            </a:pPr>
          </a:p>
          <a:p>
            <a:pPr>
              <a:spcAft>
                <a:spcPts val="800"/>
              </a:spcAft>
              <a:defRPr sz="1800">
                <a:solidFill>
                  <a:srgbClr val="CDD6F4"/>
                </a:solidFill>
                <a:latin typeface="Calibri"/>
              </a:defRPr>
            </a:pPr>
            <a:r>
              <a:t>• Parameters aren't just non-ideal —</a:t>
            </a:r>
          </a:p>
          <a:p>
            <a:pPr>
              <a:spcAft>
                <a:spcPts val="800"/>
              </a:spcAft>
              <a:defRPr sz="1800">
                <a:solidFill>
                  <a:srgbClr val="CDD6F4"/>
                </a:solidFill>
                <a:latin typeface="Calibri"/>
              </a:defRPr>
            </a:pPr>
            <a:r>
              <a:t>  they're non-stationary</a:t>
            </a:r>
          </a:p>
          <a:p>
            <a:pPr>
              <a:spcAft>
                <a:spcPts val="800"/>
              </a:spcAft>
              <a:defRPr sz="1800">
                <a:solidFill>
                  <a:srgbClr val="CDD6F4"/>
                </a:solidFill>
                <a:latin typeface="Calibri"/>
              </a:defRPr>
            </a:pPr>
          </a:p>
          <a:p>
            <a:pPr>
              <a:spcAft>
                <a:spcPts val="800"/>
              </a:spcAft>
              <a:defRPr sz="1800">
                <a:solidFill>
                  <a:srgbClr val="CDD6F4"/>
                </a:solidFill>
                <a:latin typeface="Calibri"/>
              </a:defRPr>
            </a:pPr>
            <a:r>
              <a:t>• A decoder trained on yesterday's noise</a:t>
            </a:r>
          </a:p>
          <a:p>
            <a:pPr>
              <a:spcAft>
                <a:spcPts val="800"/>
              </a:spcAft>
              <a:defRPr sz="1800">
                <a:solidFill>
                  <a:srgbClr val="CDD6F4"/>
                </a:solidFill>
                <a:latin typeface="Calibri"/>
              </a:defRPr>
            </a:pPr>
            <a:r>
              <a:t>  fails on today's hardware</a:t>
            </a:r>
          </a:p>
          <a:p>
            <a:pPr>
              <a:spcAft>
                <a:spcPts val="800"/>
              </a:spcAft>
              <a:defRPr sz="1800">
                <a:solidFill>
                  <a:srgbClr val="CDD6F4"/>
                </a:solidFill>
                <a:latin typeface="Calibri"/>
              </a:defRPr>
            </a:pPr>
          </a:p>
          <a:p>
            <a:pPr>
              <a:spcAft>
                <a:spcPts val="800"/>
              </a:spcAft>
              <a:defRPr sz="1800">
                <a:solidFill>
                  <a:srgbClr val="CDD6F4"/>
                </a:solidFill>
                <a:latin typeface="Calibri"/>
              </a:defRPr>
            </a:pPr>
            <a:r>
              <a:t>• Current solution: stop computation,</a:t>
            </a:r>
          </a:p>
          <a:p>
            <a:pPr>
              <a:spcAft>
                <a:spcPts val="800"/>
              </a:spcAft>
              <a:defRPr sz="1800">
                <a:solidFill>
                  <a:srgbClr val="CDD6F4"/>
                </a:solidFill>
                <a:latin typeface="Calibri"/>
              </a:defRPr>
            </a:pPr>
            <a:r>
              <a:t>  recalibrate, restart (expensive!)</a:t>
            </a:r>
          </a:p>
        </p:txBody>
      </p:sp>
      <p:pic>
        <p:nvPicPr>
          <p:cNvPr id="4" name="Picture 3" descr="phase4_drift_schedules.png"/>
          <p:cNvPicPr>
            <a:picLocks noChangeAspect="1"/>
          </p:cNvPicPr>
          <p:nvPr/>
        </p:nvPicPr>
        <p:blipFill>
          <a:blip r:embed="rId2"/>
          <a:stretch>
            <a:fillRect/>
          </a:stretch>
        </p:blipFill>
        <p:spPr>
          <a:xfrm>
            <a:off x="6217920" y="1097280"/>
            <a:ext cx="5303520" cy="4572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731520" y="365760"/>
            <a:ext cx="10058400" cy="731520"/>
          </a:xfrm>
          <a:prstGeom prst="rect">
            <a:avLst/>
          </a:prstGeom>
          <a:noFill/>
        </p:spPr>
        <p:txBody>
          <a:bodyPr wrap="square">
            <a:spAutoFit/>
          </a:bodyPr>
          <a:lstStyle/>
          <a:p>
            <a:pPr algn="l">
              <a:defRPr sz="3200" b="1">
                <a:solidFill>
                  <a:srgbClr val="FFFFFF"/>
                </a:solidFill>
                <a:latin typeface="Calibri"/>
              </a:defRPr>
            </a:pPr>
            <a:r>
              <a:t>Our Solution: A Decoder That Keeps Learning</a:t>
            </a:r>
          </a:p>
        </p:txBody>
      </p:sp>
      <p:sp>
        <p:nvSpPr>
          <p:cNvPr id="3" name="TextBox 2"/>
          <p:cNvSpPr txBox="1"/>
          <p:nvPr/>
        </p:nvSpPr>
        <p:spPr>
          <a:xfrm>
            <a:off x="731520" y="1371600"/>
            <a:ext cx="10058400" cy="1371600"/>
          </a:xfrm>
          <a:prstGeom prst="rect">
            <a:avLst/>
          </a:prstGeom>
          <a:noFill/>
        </p:spPr>
        <p:txBody>
          <a:bodyPr wrap="square">
            <a:spAutoFit/>
          </a:bodyPr>
          <a:lstStyle/>
          <a:p>
            <a:pPr>
              <a:spcAft>
                <a:spcPts val="800"/>
              </a:spcAft>
              <a:defRPr sz="1800">
                <a:solidFill>
                  <a:srgbClr val="CDD6F4"/>
                </a:solidFill>
                <a:latin typeface="Calibri"/>
              </a:defRPr>
            </a:pPr>
            <a:r>
              <a:t>Same GRU architecture, but weights update during inference</a:t>
            </a:r>
          </a:p>
          <a:p>
            <a:pPr>
              <a:spcAft>
                <a:spcPts val="800"/>
              </a:spcAft>
              <a:defRPr sz="1800">
                <a:solidFill>
                  <a:srgbClr val="CDD6F4"/>
                </a:solidFill>
                <a:latin typeface="Calibri"/>
              </a:defRPr>
            </a:pPr>
            <a:r>
              <a:t>EMA-smoothed gradient updates — stable, low-overhead</a:t>
            </a:r>
          </a:p>
          <a:p>
            <a:pPr>
              <a:spcAft>
                <a:spcPts val="800"/>
              </a:spcAft>
              <a:defRPr sz="1800">
                <a:solidFill>
                  <a:srgbClr val="CDD6F4"/>
                </a:solidFill>
                <a:latin typeface="Calibri"/>
              </a:defRPr>
            </a:pPr>
            <a:r>
              <a:t>Three adaptation strategies tested:</a:t>
            </a:r>
          </a:p>
        </p:txBody>
      </p:sp>
      <p:sp>
        <p:nvSpPr>
          <p:cNvPr id="4" name="Rounded Rectangle 3"/>
          <p:cNvSpPr/>
          <p:nvPr/>
        </p:nvSpPr>
        <p:spPr>
          <a:xfrm>
            <a:off x="731520" y="3200400"/>
            <a:ext cx="3474720" cy="2286000"/>
          </a:xfrm>
          <a:prstGeom prst="roundRect">
            <a:avLst/>
          </a:prstGeom>
          <a:solidFill>
            <a:srgbClr val="1E1E2E"/>
          </a:solidFill>
          <a:ln w="38100">
            <a:solidFill>
              <a:srgbClr val="CBA6F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CBA6F7"/>
                </a:solidFill>
              </a:defRPr>
            </a:pPr>
            <a:r>
              <a:t>Static GRU</a:t>
            </a:r>
          </a:p>
          <a:p>
            <a:br/>
            <a:pPr algn="ctr">
              <a:defRPr sz="1400">
                <a:solidFill>
                  <a:srgbClr val="A6ADC8"/>
                </a:solidFill>
              </a:defRPr>
            </a:pPr>
            <a:r>
              <a:t>Trained once, frozen</a:t>
            </a:r>
            <a:br/>
            <a:r>
              <a:t>(baseline)</a:t>
            </a:r>
          </a:p>
        </p:txBody>
      </p:sp>
      <p:sp>
        <p:nvSpPr>
          <p:cNvPr id="5" name="Rounded Rectangle 4"/>
          <p:cNvSpPr/>
          <p:nvPr/>
        </p:nvSpPr>
        <p:spPr>
          <a:xfrm>
            <a:off x="4480559" y="3200400"/>
            <a:ext cx="3474720" cy="2286000"/>
          </a:xfrm>
          <a:prstGeom prst="roundRect">
            <a:avLst/>
          </a:prstGeom>
          <a:solidFill>
            <a:srgbClr val="1E1E2E"/>
          </a:solidFill>
          <a:ln w="38100">
            <a:solidFill>
              <a:srgbClr val="FAB38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AB387"/>
                </a:solidFill>
              </a:defRPr>
            </a:pPr>
            <a:r>
              <a:t>Pseudo-label</a:t>
            </a:r>
          </a:p>
          <a:p>
            <a:br/>
            <a:pPr algn="ctr">
              <a:defRPr sz="1400">
                <a:solidFill>
                  <a:srgbClr val="A6ADC8"/>
                </a:solidFill>
              </a:defRPr>
            </a:pPr>
            <a:r>
              <a:t>Self-training with confident</a:t>
            </a:r>
            <a:br/>
            <a:r>
              <a:t>predictions → fails under drift</a:t>
            </a:r>
          </a:p>
        </p:txBody>
      </p:sp>
      <p:sp>
        <p:nvSpPr>
          <p:cNvPr id="6" name="Rounded Rectangle 5"/>
          <p:cNvSpPr/>
          <p:nvPr/>
        </p:nvSpPr>
        <p:spPr>
          <a:xfrm>
            <a:off x="8229600" y="3200400"/>
            <a:ext cx="3474720" cy="2286000"/>
          </a:xfrm>
          <a:prstGeom prst="roundRect">
            <a:avLst/>
          </a:prstGeom>
          <a:solidFill>
            <a:srgbClr val="1E1E2E"/>
          </a:solidFill>
          <a:ln w="38100">
            <a:solidFill>
              <a:srgbClr val="A6E3A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A6E3A1"/>
                </a:solidFill>
              </a:defRPr>
            </a:pPr>
            <a:r>
              <a:t>Hybrid</a:t>
            </a:r>
          </a:p>
          <a:p>
            <a:br/>
            <a:pPr algn="ctr">
              <a:defRPr sz="1400">
                <a:solidFill>
                  <a:srgbClr val="A6ADC8"/>
                </a:solidFill>
              </a:defRPr>
            </a:pPr>
            <a:r>
              <a:t>Periodic true labels +</a:t>
            </a:r>
            <a:br/>
            <a:r>
              <a:t>pseudo-labels → works!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731520" y="365760"/>
            <a:ext cx="10058400" cy="731520"/>
          </a:xfrm>
          <a:prstGeom prst="rect">
            <a:avLst/>
          </a:prstGeom>
          <a:noFill/>
        </p:spPr>
        <p:txBody>
          <a:bodyPr wrap="square">
            <a:spAutoFit/>
          </a:bodyPr>
          <a:lstStyle/>
          <a:p>
            <a:pPr algn="l">
              <a:defRPr sz="3200" b="1">
                <a:solidFill>
                  <a:srgbClr val="FFFFFF"/>
                </a:solidFill>
                <a:latin typeface="Calibri"/>
              </a:defRPr>
            </a:pPr>
            <a:r>
              <a:t>Phase 4 Results: Five-Way Decoder Comparison</a:t>
            </a:r>
          </a:p>
        </p:txBody>
      </p:sp>
      <p:sp>
        <p:nvSpPr>
          <p:cNvPr id="3" name="TextBox 2"/>
          <p:cNvSpPr txBox="1"/>
          <p:nvPr/>
        </p:nvSpPr>
        <p:spPr>
          <a:xfrm>
            <a:off x="731520" y="1097280"/>
            <a:ext cx="4572000" cy="457200"/>
          </a:xfrm>
          <a:prstGeom prst="rect">
            <a:avLst/>
          </a:prstGeom>
          <a:noFill/>
        </p:spPr>
        <p:txBody>
          <a:bodyPr wrap="square">
            <a:spAutoFit/>
          </a:bodyPr>
          <a:lstStyle/>
          <a:p>
            <a:pPr algn="l">
              <a:defRPr sz="1400" b="0">
                <a:solidFill>
                  <a:srgbClr val="FAB387"/>
                </a:solidFill>
                <a:latin typeface="Calibri"/>
              </a:defRPr>
            </a:pPr>
            <a:r>
              <a:t>⚠️ Fill in after running notebook</a:t>
            </a:r>
          </a:p>
        </p:txBody>
      </p:sp>
      <p:graphicFrame>
        <p:nvGraphicFramePr>
          <p:cNvPr id="4" name="Table 3"/>
          <p:cNvGraphicFramePr>
            <a:graphicFrameLocks noGrp="1"/>
          </p:cNvGraphicFramePr>
          <p:nvPr/>
        </p:nvGraphicFramePr>
        <p:xfrm>
          <a:off x="731520" y="1645920"/>
          <a:ext cx="5029200" cy="3200400"/>
        </p:xfrm>
        <a:graphic>
          <a:graphicData uri="http://schemas.openxmlformats.org/drawingml/2006/table">
            <a:tbl>
              <a:tblPr firstRow="1" bandRow="1">
                <a:tableStyleId>{5C22544A-7EE6-4342-B048-85BDC9FD1C3A}</a:tableStyleId>
              </a:tblPr>
              <a:tblGrid>
                <a:gridCol w="2514600"/>
                <a:gridCol w="2514600"/>
              </a:tblGrid>
              <a:tr h="533400">
                <a:tc>
                  <a:txBody>
                    <a:bodyPr/>
                    <a:lstStyle/>
                    <a:p>
                      <a:pPr>
                        <a:defRPr sz="1800" b="1">
                          <a:solidFill>
                            <a:srgbClr val="FFFFFF"/>
                          </a:solidFill>
                          <a:latin typeface="Calibri"/>
                        </a:defRPr>
                      </a:pPr>
                      <a:r>
                        <a:t>Decoder</a:t>
                      </a:r>
                    </a:p>
                  </a:txBody>
                  <a:tcPr>
                    <a:solidFill>
                      <a:srgbClr val="313244"/>
                    </a:solidFill>
                  </a:tcPr>
                </a:tc>
                <a:tc>
                  <a:txBody>
                    <a:bodyPr/>
                    <a:lstStyle/>
                    <a:p>
                      <a:pPr>
                        <a:defRPr sz="1800" b="1">
                          <a:solidFill>
                            <a:srgbClr val="FFFFFF"/>
                          </a:solidFill>
                          <a:latin typeface="Calibri"/>
                        </a:defRPr>
                      </a:pPr>
                      <a:r>
                        <a:t>Accuracy</a:t>
                      </a:r>
                    </a:p>
                  </a:txBody>
                  <a:tcPr>
                    <a:solidFill>
                      <a:srgbClr val="313244"/>
                    </a:solidFill>
                  </a:tcPr>
                </a:tc>
              </a:tr>
              <a:tr h="533400">
                <a:tc>
                  <a:txBody>
                    <a:bodyPr/>
                    <a:lstStyle/>
                    <a:p>
                      <a:pPr>
                        <a:defRPr sz="1800" b="0">
                          <a:solidFill>
                            <a:srgbClr val="CDD6F4"/>
                          </a:solidFill>
                          <a:latin typeface="Calibri"/>
                        </a:defRPr>
                      </a:pPr>
                      <a:r>
                        <a:t>Threshold</a:t>
                      </a:r>
                    </a:p>
                  </a:txBody>
                  <a:tcPr>
                    <a:solidFill>
                      <a:srgbClr val="1E1E2E"/>
                    </a:solidFill>
                  </a:tcPr>
                </a:tc>
                <a:tc>
                  <a:txBody>
                    <a:bodyPr/>
                    <a:lstStyle/>
                    <a:p>
                      <a:pPr>
                        <a:defRPr sz="1800" b="0">
                          <a:solidFill>
                            <a:srgbClr val="CDD6F4"/>
                          </a:solidFill>
                          <a:latin typeface="Calibri"/>
                        </a:defRPr>
                      </a:pPr>
                      <a:r>
                        <a:t>____%</a:t>
                      </a:r>
                    </a:p>
                  </a:txBody>
                  <a:tcPr>
                    <a:solidFill>
                      <a:srgbClr val="1E1E2E"/>
                    </a:solidFill>
                  </a:tcPr>
                </a:tc>
              </a:tr>
              <a:tr h="533400">
                <a:tc>
                  <a:txBody>
                    <a:bodyPr/>
                    <a:lstStyle/>
                    <a:p>
                      <a:pPr>
                        <a:defRPr sz="1800" b="0">
                          <a:solidFill>
                            <a:srgbClr val="CDD6F4"/>
                          </a:solidFill>
                          <a:latin typeface="Calibri"/>
                        </a:defRPr>
                      </a:pPr>
                      <a:r>
                        <a:t>Bayesian Filter</a:t>
                      </a:r>
                    </a:p>
                  </a:txBody>
                  <a:tcPr>
                    <a:solidFill>
                      <a:srgbClr val="1E1E2E"/>
                    </a:solidFill>
                  </a:tcPr>
                </a:tc>
                <a:tc>
                  <a:txBody>
                    <a:bodyPr/>
                    <a:lstStyle/>
                    <a:p>
                      <a:pPr>
                        <a:defRPr sz="1800" b="0">
                          <a:solidFill>
                            <a:srgbClr val="CDD6F4"/>
                          </a:solidFill>
                          <a:latin typeface="Calibri"/>
                        </a:defRPr>
                      </a:pPr>
                      <a:r>
                        <a:t>____%</a:t>
                      </a:r>
                    </a:p>
                  </a:txBody>
                  <a:tcPr>
                    <a:solidFill>
                      <a:srgbClr val="1E1E2E"/>
                    </a:solidFill>
                  </a:tcPr>
                </a:tc>
              </a:tr>
              <a:tr h="533400">
                <a:tc>
                  <a:txBody>
                    <a:bodyPr/>
                    <a:lstStyle/>
                    <a:p>
                      <a:pPr>
                        <a:defRPr sz="1800" b="0">
                          <a:solidFill>
                            <a:srgbClr val="CDD6F4"/>
                          </a:solidFill>
                          <a:latin typeface="Calibri"/>
                        </a:defRPr>
                      </a:pPr>
                      <a:r>
                        <a:t>Static GRU</a:t>
                      </a:r>
                    </a:p>
                  </a:txBody>
                  <a:tcPr>
                    <a:solidFill>
                      <a:srgbClr val="1E1E2E"/>
                    </a:solidFill>
                  </a:tcPr>
                </a:tc>
                <a:tc>
                  <a:txBody>
                    <a:bodyPr/>
                    <a:lstStyle/>
                    <a:p>
                      <a:pPr>
                        <a:defRPr sz="1800" b="0">
                          <a:solidFill>
                            <a:srgbClr val="CDD6F4"/>
                          </a:solidFill>
                          <a:latin typeface="Calibri"/>
                        </a:defRPr>
                      </a:pPr>
                      <a:r>
                        <a:t>____%</a:t>
                      </a:r>
                    </a:p>
                  </a:txBody>
                  <a:tcPr>
                    <a:solidFill>
                      <a:srgbClr val="1E1E2E"/>
                    </a:solidFill>
                  </a:tcPr>
                </a:tc>
              </a:tr>
              <a:tr h="533400">
                <a:tc>
                  <a:txBody>
                    <a:bodyPr/>
                    <a:lstStyle/>
                    <a:p>
                      <a:pPr>
                        <a:defRPr sz="1800" b="0">
                          <a:solidFill>
                            <a:srgbClr val="CDD6F4"/>
                          </a:solidFill>
                          <a:latin typeface="Calibri"/>
                        </a:defRPr>
                      </a:pPr>
                      <a:r>
                        <a:t>Adaptive (pseudo-labels)</a:t>
                      </a:r>
                    </a:p>
                  </a:txBody>
                  <a:tcPr>
                    <a:solidFill>
                      <a:srgbClr val="1E1E2E"/>
                    </a:solidFill>
                  </a:tcPr>
                </a:tc>
                <a:tc>
                  <a:txBody>
                    <a:bodyPr/>
                    <a:lstStyle/>
                    <a:p>
                      <a:pPr>
                        <a:defRPr sz="1800" b="0">
                          <a:solidFill>
                            <a:srgbClr val="CDD6F4"/>
                          </a:solidFill>
                          <a:latin typeface="Calibri"/>
                        </a:defRPr>
                      </a:pPr>
                      <a:r>
                        <a:t>____%</a:t>
                      </a:r>
                    </a:p>
                  </a:txBody>
                  <a:tcPr>
                    <a:solidFill>
                      <a:srgbClr val="1E1E2E"/>
                    </a:solidFill>
                  </a:tcPr>
                </a:tc>
              </a:tr>
              <a:tr h="533400">
                <a:tc>
                  <a:txBody>
                    <a:bodyPr/>
                    <a:lstStyle/>
                    <a:p>
                      <a:pPr>
                        <a:defRPr sz="1800" b="1">
                          <a:solidFill>
                            <a:srgbClr val="A6E3A1"/>
                          </a:solidFill>
                          <a:latin typeface="Calibri"/>
                        </a:defRPr>
                      </a:pPr>
                      <a:r>
                        <a:t>Adaptive (hybrid)</a:t>
                      </a:r>
                    </a:p>
                  </a:txBody>
                  <a:tcPr>
                    <a:solidFill>
                      <a:srgbClr val="1E1E2E"/>
                    </a:solidFill>
                  </a:tcPr>
                </a:tc>
                <a:tc>
                  <a:txBody>
                    <a:bodyPr/>
                    <a:lstStyle/>
                    <a:p>
                      <a:pPr>
                        <a:defRPr sz="1800" b="1">
                          <a:solidFill>
                            <a:srgbClr val="A6E3A1"/>
                          </a:solidFill>
                          <a:latin typeface="Calibri"/>
                        </a:defRPr>
                      </a:pPr>
                      <a:r>
                        <a:t>____%</a:t>
                      </a:r>
                    </a:p>
                  </a:txBody>
                  <a:tcPr>
                    <a:solidFill>
                      <a:srgbClr val="1E1E2E"/>
                    </a:solidFill>
                  </a:tcPr>
                </a:tc>
              </a:tr>
            </a:tbl>
          </a:graphicData>
        </a:graphic>
      </p:graphicFrame>
      <p:pic>
        <p:nvPicPr>
          <p:cNvPr id="5" name="Picture 4" descr="phase4_decoder_comparison.png"/>
          <p:cNvPicPr>
            <a:picLocks noChangeAspect="1"/>
          </p:cNvPicPr>
          <p:nvPr/>
        </p:nvPicPr>
        <p:blipFill>
          <a:blip r:embed="rId2"/>
          <a:stretch>
            <a:fillRect/>
          </a:stretch>
        </p:blipFill>
        <p:spPr>
          <a:xfrm>
            <a:off x="6400800" y="1097280"/>
            <a:ext cx="5029200" cy="4572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731520" y="182880"/>
            <a:ext cx="10058400" cy="731520"/>
          </a:xfrm>
          <a:prstGeom prst="rect">
            <a:avLst/>
          </a:prstGeom>
          <a:noFill/>
        </p:spPr>
        <p:txBody>
          <a:bodyPr wrap="square">
            <a:spAutoFit/>
          </a:bodyPr>
          <a:lstStyle/>
          <a:p>
            <a:pPr algn="l">
              <a:defRPr sz="3000" b="1">
                <a:solidFill>
                  <a:srgbClr val="FFFFFF"/>
                </a:solidFill>
                <a:latin typeface="Calibri"/>
              </a:defRPr>
            </a:pPr>
            <a:r>
              <a:t>⭐ As Hardware Drifts, Static Decoders Fail — Adaptive Survives</a:t>
            </a:r>
          </a:p>
        </p:txBody>
      </p:sp>
      <p:sp>
        <p:nvSpPr>
          <p:cNvPr id="3" name="TextBox 2"/>
          <p:cNvSpPr txBox="1"/>
          <p:nvPr/>
        </p:nvSpPr>
        <p:spPr>
          <a:xfrm>
            <a:off x="731520" y="914400"/>
            <a:ext cx="4572000" cy="365760"/>
          </a:xfrm>
          <a:prstGeom prst="rect">
            <a:avLst/>
          </a:prstGeom>
          <a:noFill/>
        </p:spPr>
        <p:txBody>
          <a:bodyPr wrap="square">
            <a:spAutoFit/>
          </a:bodyPr>
          <a:lstStyle/>
          <a:p>
            <a:pPr algn="l">
              <a:defRPr sz="1200" b="0">
                <a:solidFill>
                  <a:srgbClr val="FAB387"/>
                </a:solidFill>
                <a:latin typeface="Calibri"/>
              </a:defRPr>
            </a:pPr>
            <a:r>
              <a:t>⚠️ Fill in segment data after running notebook</a:t>
            </a:r>
          </a:p>
        </p:txBody>
      </p:sp>
      <p:graphicFrame>
        <p:nvGraphicFramePr>
          <p:cNvPr id="4" name="Table 3"/>
          <p:cNvGraphicFramePr>
            <a:graphicFrameLocks noGrp="1"/>
          </p:cNvGraphicFramePr>
          <p:nvPr/>
        </p:nvGraphicFramePr>
        <p:xfrm>
          <a:off x="274320" y="1371600"/>
          <a:ext cx="11430000" cy="2560320"/>
        </p:xfrm>
        <a:graphic>
          <a:graphicData uri="http://schemas.openxmlformats.org/drawingml/2006/table">
            <a:tbl>
              <a:tblPr firstRow="1" bandRow="1">
                <a:tableStyleId>{5C22544A-7EE6-4342-B048-85BDC9FD1C3A}</a:tableStyleId>
              </a:tblPr>
              <a:tblGrid>
                <a:gridCol w="1905000"/>
                <a:gridCol w="1905000"/>
                <a:gridCol w="1905000"/>
                <a:gridCol w="1905000"/>
                <a:gridCol w="1905000"/>
                <a:gridCol w="1905000"/>
              </a:tblGrid>
              <a:tr h="426720">
                <a:tc>
                  <a:txBody>
                    <a:bodyPr/>
                    <a:lstStyle/>
                    <a:p>
                      <a:pPr algn="ctr">
                        <a:defRPr sz="1300" b="1">
                          <a:solidFill>
                            <a:srgbClr val="FFFFFF"/>
                          </a:solidFill>
                          <a:latin typeface="Calibri"/>
                        </a:defRPr>
                      </a:pPr>
                      <a:r>
                        <a:t>Segment</a:t>
                      </a:r>
                    </a:p>
                  </a:txBody>
                  <a:tcPr>
                    <a:solidFill>
                      <a:srgbClr val="313244"/>
                    </a:solidFill>
                  </a:tcPr>
                </a:tc>
                <a:tc>
                  <a:txBody>
                    <a:bodyPr/>
                    <a:lstStyle/>
                    <a:p>
                      <a:pPr algn="ctr">
                        <a:defRPr sz="1300" b="1">
                          <a:solidFill>
                            <a:srgbClr val="FFFFFF"/>
                          </a:solidFill>
                          <a:latin typeface="Calibri"/>
                        </a:defRPr>
                      </a:pPr>
                      <a:r>
                        <a:t>Threshold</a:t>
                      </a:r>
                    </a:p>
                  </a:txBody>
                  <a:tcPr>
                    <a:solidFill>
                      <a:srgbClr val="313244"/>
                    </a:solidFill>
                  </a:tcPr>
                </a:tc>
                <a:tc>
                  <a:txBody>
                    <a:bodyPr/>
                    <a:lstStyle/>
                    <a:p>
                      <a:pPr algn="ctr">
                        <a:defRPr sz="1300" b="1">
                          <a:solidFill>
                            <a:srgbClr val="FFFFFF"/>
                          </a:solidFill>
                          <a:latin typeface="Calibri"/>
                        </a:defRPr>
                      </a:pPr>
                      <a:r>
                        <a:t>Bayesian</a:t>
                      </a:r>
                    </a:p>
                  </a:txBody>
                  <a:tcPr>
                    <a:solidFill>
                      <a:srgbClr val="313244"/>
                    </a:solidFill>
                  </a:tcPr>
                </a:tc>
                <a:tc>
                  <a:txBody>
                    <a:bodyPr/>
                    <a:lstStyle/>
                    <a:p>
                      <a:pPr algn="ctr">
                        <a:defRPr sz="1300" b="1">
                          <a:solidFill>
                            <a:srgbClr val="FFFFFF"/>
                          </a:solidFill>
                          <a:latin typeface="Calibri"/>
                        </a:defRPr>
                      </a:pPr>
                      <a:r>
                        <a:t>Static GRU</a:t>
                      </a:r>
                    </a:p>
                  </a:txBody>
                  <a:tcPr>
                    <a:solidFill>
                      <a:srgbClr val="313244"/>
                    </a:solidFill>
                  </a:tcPr>
                </a:tc>
                <a:tc>
                  <a:txBody>
                    <a:bodyPr/>
                    <a:lstStyle/>
                    <a:p>
                      <a:pPr algn="ctr">
                        <a:defRPr sz="1300" b="1">
                          <a:solidFill>
                            <a:srgbClr val="FFFFFF"/>
                          </a:solidFill>
                          <a:latin typeface="Calibri"/>
                        </a:defRPr>
                      </a:pPr>
                      <a:r>
                        <a:t>Pseudo-label</a:t>
                      </a:r>
                    </a:p>
                  </a:txBody>
                  <a:tcPr>
                    <a:solidFill>
                      <a:srgbClr val="313244"/>
                    </a:solidFill>
                  </a:tcPr>
                </a:tc>
                <a:tc>
                  <a:txBody>
                    <a:bodyPr/>
                    <a:lstStyle/>
                    <a:p>
                      <a:pPr algn="ctr">
                        <a:defRPr sz="1300" b="1">
                          <a:solidFill>
                            <a:srgbClr val="FFFFFF"/>
                          </a:solidFill>
                          <a:latin typeface="Calibri"/>
                        </a:defRPr>
                      </a:pPr>
                      <a:r>
                        <a:t>Hybrid</a:t>
                      </a:r>
                    </a:p>
                  </a:txBody>
                  <a:tcPr>
                    <a:solidFill>
                      <a:srgbClr val="313244"/>
                    </a:solidFill>
                  </a:tcPr>
                </a:tc>
              </a:tr>
              <a:tr h="426720">
                <a:tc>
                  <a:txBody>
                    <a:bodyPr/>
                    <a:lstStyle/>
                    <a:p>
                      <a:pPr algn="ctr">
                        <a:defRPr sz="1300">
                          <a:solidFill>
                            <a:srgbClr val="CDD6F4"/>
                          </a:solidFill>
                          <a:latin typeface="Calibri"/>
                        </a:defRPr>
                      </a:pPr>
                      <a:r>
                        <a:t>1 (early)</a:t>
                      </a:r>
                    </a:p>
                  </a:txBody>
                  <a:tcPr>
                    <a:solidFill>
                      <a:srgbClr val="1E1E2E"/>
                    </a:solidFill>
                  </a:tcPr>
                </a:tc>
                <a:tc>
                  <a:txBody>
                    <a:bodyPr/>
                    <a:lstStyle/>
                    <a:p>
                      <a:pPr algn="ctr">
                        <a:defRPr sz="1300">
                          <a:solidFill>
                            <a:srgbClr val="CDD6F4"/>
                          </a:solidFill>
                          <a:latin typeface="Calibri"/>
                        </a:defRPr>
                      </a:pPr>
                      <a:r>
                        <a:t>___</a:t>
                      </a:r>
                    </a:p>
                  </a:txBody>
                  <a:tcPr>
                    <a:solidFill>
                      <a:srgbClr val="1E1E2E"/>
                    </a:solidFill>
                  </a:tcPr>
                </a:tc>
                <a:tc>
                  <a:txBody>
                    <a:bodyPr/>
                    <a:lstStyle/>
                    <a:p>
                      <a:pPr algn="ctr">
                        <a:defRPr sz="1300">
                          <a:solidFill>
                            <a:srgbClr val="CDD6F4"/>
                          </a:solidFill>
                          <a:latin typeface="Calibri"/>
                        </a:defRPr>
                      </a:pPr>
                      <a:r>
                        <a:t>___</a:t>
                      </a:r>
                    </a:p>
                  </a:txBody>
                  <a:tcPr>
                    <a:solidFill>
                      <a:srgbClr val="1E1E2E"/>
                    </a:solidFill>
                  </a:tcPr>
                </a:tc>
                <a:tc>
                  <a:txBody>
                    <a:bodyPr/>
                    <a:lstStyle/>
                    <a:p>
                      <a:pPr algn="ctr">
                        <a:defRPr sz="1300">
                          <a:solidFill>
                            <a:srgbClr val="CDD6F4"/>
                          </a:solidFill>
                          <a:latin typeface="Calibri"/>
                        </a:defRPr>
                      </a:pPr>
                      <a:r>
                        <a:t>___</a:t>
                      </a:r>
                    </a:p>
                  </a:txBody>
                  <a:tcPr>
                    <a:solidFill>
                      <a:srgbClr val="1E1E2E"/>
                    </a:solidFill>
                  </a:tcPr>
                </a:tc>
                <a:tc>
                  <a:txBody>
                    <a:bodyPr/>
                    <a:lstStyle/>
                    <a:p>
                      <a:pPr algn="ctr">
                        <a:defRPr sz="1300">
                          <a:solidFill>
                            <a:srgbClr val="CDD6F4"/>
                          </a:solidFill>
                          <a:latin typeface="Calibri"/>
                        </a:defRPr>
                      </a:pPr>
                      <a:r>
                        <a:t>___</a:t>
                      </a:r>
                    </a:p>
                  </a:txBody>
                  <a:tcPr>
                    <a:solidFill>
                      <a:srgbClr val="1E1E2E"/>
                    </a:solidFill>
                  </a:tcPr>
                </a:tc>
                <a:tc>
                  <a:txBody>
                    <a:bodyPr/>
                    <a:lstStyle/>
                    <a:p>
                      <a:pPr algn="ctr">
                        <a:defRPr sz="1300" b="1">
                          <a:solidFill>
                            <a:srgbClr val="A6E3A1"/>
                          </a:solidFill>
                          <a:latin typeface="Calibri"/>
                        </a:defRPr>
                      </a:pPr>
                      <a:r>
                        <a:t>___</a:t>
                      </a:r>
                    </a:p>
                  </a:txBody>
                  <a:tcPr>
                    <a:solidFill>
                      <a:srgbClr val="1E1E2E"/>
                    </a:solidFill>
                  </a:tcPr>
                </a:tc>
              </a:tr>
              <a:tr h="426720">
                <a:tc>
                  <a:txBody>
                    <a:bodyPr/>
                    <a:lstStyle/>
                    <a:p>
                      <a:pPr algn="ctr">
                        <a:defRPr sz="1300">
                          <a:solidFill>
                            <a:srgbClr val="CDD6F4"/>
                          </a:solidFill>
                          <a:latin typeface="Calibri"/>
                        </a:defRPr>
                      </a:pPr>
                      <a:r>
                        <a:t>2</a:t>
                      </a:r>
                    </a:p>
                  </a:txBody>
                  <a:tcPr>
                    <a:solidFill>
                      <a:srgbClr val="1E1E2E"/>
                    </a:solidFill>
                  </a:tcPr>
                </a:tc>
                <a:tc>
                  <a:txBody>
                    <a:bodyPr/>
                    <a:lstStyle/>
                    <a:p>
                      <a:pPr algn="ctr">
                        <a:defRPr sz="1300">
                          <a:solidFill>
                            <a:srgbClr val="CDD6F4"/>
                          </a:solidFill>
                          <a:latin typeface="Calibri"/>
                        </a:defRPr>
                      </a:pPr>
                      <a:r>
                        <a:t>___</a:t>
                      </a:r>
                    </a:p>
                  </a:txBody>
                  <a:tcPr>
                    <a:solidFill>
                      <a:srgbClr val="1E1E2E"/>
                    </a:solidFill>
                  </a:tcPr>
                </a:tc>
                <a:tc>
                  <a:txBody>
                    <a:bodyPr/>
                    <a:lstStyle/>
                    <a:p>
                      <a:pPr algn="ctr">
                        <a:defRPr sz="1300">
                          <a:solidFill>
                            <a:srgbClr val="CDD6F4"/>
                          </a:solidFill>
                          <a:latin typeface="Calibri"/>
                        </a:defRPr>
                      </a:pPr>
                      <a:r>
                        <a:t>___</a:t>
                      </a:r>
                    </a:p>
                  </a:txBody>
                  <a:tcPr>
                    <a:solidFill>
                      <a:srgbClr val="1E1E2E"/>
                    </a:solidFill>
                  </a:tcPr>
                </a:tc>
                <a:tc>
                  <a:txBody>
                    <a:bodyPr/>
                    <a:lstStyle/>
                    <a:p>
                      <a:pPr algn="ctr">
                        <a:defRPr sz="1300">
                          <a:solidFill>
                            <a:srgbClr val="CDD6F4"/>
                          </a:solidFill>
                          <a:latin typeface="Calibri"/>
                        </a:defRPr>
                      </a:pPr>
                      <a:r>
                        <a:t>___</a:t>
                      </a:r>
                    </a:p>
                  </a:txBody>
                  <a:tcPr>
                    <a:solidFill>
                      <a:srgbClr val="1E1E2E"/>
                    </a:solidFill>
                  </a:tcPr>
                </a:tc>
                <a:tc>
                  <a:txBody>
                    <a:bodyPr/>
                    <a:lstStyle/>
                    <a:p>
                      <a:pPr algn="ctr">
                        <a:defRPr sz="1300">
                          <a:solidFill>
                            <a:srgbClr val="CDD6F4"/>
                          </a:solidFill>
                          <a:latin typeface="Calibri"/>
                        </a:defRPr>
                      </a:pPr>
                      <a:r>
                        <a:t>___</a:t>
                      </a:r>
                    </a:p>
                  </a:txBody>
                  <a:tcPr>
                    <a:solidFill>
                      <a:srgbClr val="1E1E2E"/>
                    </a:solidFill>
                  </a:tcPr>
                </a:tc>
                <a:tc>
                  <a:txBody>
                    <a:bodyPr/>
                    <a:lstStyle/>
                    <a:p>
                      <a:pPr algn="ctr">
                        <a:defRPr sz="1300" b="1">
                          <a:solidFill>
                            <a:srgbClr val="A6E3A1"/>
                          </a:solidFill>
                          <a:latin typeface="Calibri"/>
                        </a:defRPr>
                      </a:pPr>
                      <a:r>
                        <a:t>___</a:t>
                      </a:r>
                    </a:p>
                  </a:txBody>
                  <a:tcPr>
                    <a:solidFill>
                      <a:srgbClr val="1E1E2E"/>
                    </a:solidFill>
                  </a:tcPr>
                </a:tc>
              </a:tr>
              <a:tr h="426720">
                <a:tc>
                  <a:txBody>
                    <a:bodyPr/>
                    <a:lstStyle/>
                    <a:p>
                      <a:pPr algn="ctr">
                        <a:defRPr sz="1300">
                          <a:solidFill>
                            <a:srgbClr val="CDD6F4"/>
                          </a:solidFill>
                          <a:latin typeface="Calibri"/>
                        </a:defRPr>
                      </a:pPr>
                      <a:r>
                        <a:t>3 (mid)</a:t>
                      </a:r>
                    </a:p>
                  </a:txBody>
                  <a:tcPr>
                    <a:solidFill>
                      <a:srgbClr val="1E1E2E"/>
                    </a:solidFill>
                  </a:tcPr>
                </a:tc>
                <a:tc>
                  <a:txBody>
                    <a:bodyPr/>
                    <a:lstStyle/>
                    <a:p>
                      <a:pPr algn="ctr">
                        <a:defRPr sz="1300">
                          <a:solidFill>
                            <a:srgbClr val="CDD6F4"/>
                          </a:solidFill>
                          <a:latin typeface="Calibri"/>
                        </a:defRPr>
                      </a:pPr>
                      <a:r>
                        <a:t>___</a:t>
                      </a:r>
                    </a:p>
                  </a:txBody>
                  <a:tcPr>
                    <a:solidFill>
                      <a:srgbClr val="1E1E2E"/>
                    </a:solidFill>
                  </a:tcPr>
                </a:tc>
                <a:tc>
                  <a:txBody>
                    <a:bodyPr/>
                    <a:lstStyle/>
                    <a:p>
                      <a:pPr algn="ctr">
                        <a:defRPr sz="1300">
                          <a:solidFill>
                            <a:srgbClr val="CDD6F4"/>
                          </a:solidFill>
                          <a:latin typeface="Calibri"/>
                        </a:defRPr>
                      </a:pPr>
                      <a:r>
                        <a:t>___</a:t>
                      </a:r>
                    </a:p>
                  </a:txBody>
                  <a:tcPr>
                    <a:solidFill>
                      <a:srgbClr val="1E1E2E"/>
                    </a:solidFill>
                  </a:tcPr>
                </a:tc>
                <a:tc>
                  <a:txBody>
                    <a:bodyPr/>
                    <a:lstStyle/>
                    <a:p>
                      <a:pPr algn="ctr">
                        <a:defRPr sz="1300">
                          <a:solidFill>
                            <a:srgbClr val="CDD6F4"/>
                          </a:solidFill>
                          <a:latin typeface="Calibri"/>
                        </a:defRPr>
                      </a:pPr>
                      <a:r>
                        <a:t>___</a:t>
                      </a:r>
                    </a:p>
                  </a:txBody>
                  <a:tcPr>
                    <a:solidFill>
                      <a:srgbClr val="1E1E2E"/>
                    </a:solidFill>
                  </a:tcPr>
                </a:tc>
                <a:tc>
                  <a:txBody>
                    <a:bodyPr/>
                    <a:lstStyle/>
                    <a:p>
                      <a:pPr algn="ctr">
                        <a:defRPr sz="1300">
                          <a:solidFill>
                            <a:srgbClr val="CDD6F4"/>
                          </a:solidFill>
                          <a:latin typeface="Calibri"/>
                        </a:defRPr>
                      </a:pPr>
                      <a:r>
                        <a:t>___</a:t>
                      </a:r>
                    </a:p>
                  </a:txBody>
                  <a:tcPr>
                    <a:solidFill>
                      <a:srgbClr val="1E1E2E"/>
                    </a:solidFill>
                  </a:tcPr>
                </a:tc>
                <a:tc>
                  <a:txBody>
                    <a:bodyPr/>
                    <a:lstStyle/>
                    <a:p>
                      <a:pPr algn="ctr">
                        <a:defRPr sz="1300" b="1">
                          <a:solidFill>
                            <a:srgbClr val="A6E3A1"/>
                          </a:solidFill>
                          <a:latin typeface="Calibri"/>
                        </a:defRPr>
                      </a:pPr>
                      <a:r>
                        <a:t>___</a:t>
                      </a:r>
                    </a:p>
                  </a:txBody>
                  <a:tcPr>
                    <a:solidFill>
                      <a:srgbClr val="1E1E2E"/>
                    </a:solidFill>
                  </a:tcPr>
                </a:tc>
              </a:tr>
              <a:tr h="426720">
                <a:tc>
                  <a:txBody>
                    <a:bodyPr/>
                    <a:lstStyle/>
                    <a:p>
                      <a:pPr algn="ctr">
                        <a:defRPr sz="1300">
                          <a:solidFill>
                            <a:srgbClr val="CDD6F4"/>
                          </a:solidFill>
                          <a:latin typeface="Calibri"/>
                        </a:defRPr>
                      </a:pPr>
                      <a:r>
                        <a:t>4</a:t>
                      </a:r>
                    </a:p>
                  </a:txBody>
                  <a:tcPr>
                    <a:solidFill>
                      <a:srgbClr val="1E1E2E"/>
                    </a:solidFill>
                  </a:tcPr>
                </a:tc>
                <a:tc>
                  <a:txBody>
                    <a:bodyPr/>
                    <a:lstStyle/>
                    <a:p>
                      <a:pPr algn="ctr">
                        <a:defRPr sz="1300">
                          <a:solidFill>
                            <a:srgbClr val="CDD6F4"/>
                          </a:solidFill>
                          <a:latin typeface="Calibri"/>
                        </a:defRPr>
                      </a:pPr>
                      <a:r>
                        <a:t>___</a:t>
                      </a:r>
                    </a:p>
                  </a:txBody>
                  <a:tcPr>
                    <a:solidFill>
                      <a:srgbClr val="1E1E2E"/>
                    </a:solidFill>
                  </a:tcPr>
                </a:tc>
                <a:tc>
                  <a:txBody>
                    <a:bodyPr/>
                    <a:lstStyle/>
                    <a:p>
                      <a:pPr algn="ctr">
                        <a:defRPr sz="1300">
                          <a:solidFill>
                            <a:srgbClr val="CDD6F4"/>
                          </a:solidFill>
                          <a:latin typeface="Calibri"/>
                        </a:defRPr>
                      </a:pPr>
                      <a:r>
                        <a:t>___</a:t>
                      </a:r>
                    </a:p>
                  </a:txBody>
                  <a:tcPr>
                    <a:solidFill>
                      <a:srgbClr val="1E1E2E"/>
                    </a:solidFill>
                  </a:tcPr>
                </a:tc>
                <a:tc>
                  <a:txBody>
                    <a:bodyPr/>
                    <a:lstStyle/>
                    <a:p>
                      <a:pPr algn="ctr">
                        <a:defRPr sz="1300">
                          <a:solidFill>
                            <a:srgbClr val="CDD6F4"/>
                          </a:solidFill>
                          <a:latin typeface="Calibri"/>
                        </a:defRPr>
                      </a:pPr>
                      <a:r>
                        <a:t>___</a:t>
                      </a:r>
                    </a:p>
                  </a:txBody>
                  <a:tcPr>
                    <a:solidFill>
                      <a:srgbClr val="1E1E2E"/>
                    </a:solidFill>
                  </a:tcPr>
                </a:tc>
                <a:tc>
                  <a:txBody>
                    <a:bodyPr/>
                    <a:lstStyle/>
                    <a:p>
                      <a:pPr algn="ctr">
                        <a:defRPr sz="1300">
                          <a:solidFill>
                            <a:srgbClr val="CDD6F4"/>
                          </a:solidFill>
                          <a:latin typeface="Calibri"/>
                        </a:defRPr>
                      </a:pPr>
                      <a:r>
                        <a:t>___</a:t>
                      </a:r>
                    </a:p>
                  </a:txBody>
                  <a:tcPr>
                    <a:solidFill>
                      <a:srgbClr val="1E1E2E"/>
                    </a:solidFill>
                  </a:tcPr>
                </a:tc>
                <a:tc>
                  <a:txBody>
                    <a:bodyPr/>
                    <a:lstStyle/>
                    <a:p>
                      <a:pPr algn="ctr">
                        <a:defRPr sz="1300" b="1">
                          <a:solidFill>
                            <a:srgbClr val="A6E3A1"/>
                          </a:solidFill>
                          <a:latin typeface="Calibri"/>
                        </a:defRPr>
                      </a:pPr>
                      <a:r>
                        <a:t>___</a:t>
                      </a:r>
                    </a:p>
                  </a:txBody>
                  <a:tcPr>
                    <a:solidFill>
                      <a:srgbClr val="1E1E2E"/>
                    </a:solidFill>
                  </a:tcPr>
                </a:tc>
              </a:tr>
              <a:tr h="426720">
                <a:tc>
                  <a:txBody>
                    <a:bodyPr/>
                    <a:lstStyle/>
                    <a:p>
                      <a:pPr algn="ctr">
                        <a:defRPr sz="1300">
                          <a:solidFill>
                            <a:srgbClr val="CDD6F4"/>
                          </a:solidFill>
                          <a:latin typeface="Calibri"/>
                        </a:defRPr>
                      </a:pPr>
                      <a:r>
                        <a:t>5 (late)</a:t>
                      </a:r>
                    </a:p>
                  </a:txBody>
                  <a:tcPr>
                    <a:solidFill>
                      <a:srgbClr val="1E1E2E"/>
                    </a:solidFill>
                  </a:tcPr>
                </a:tc>
                <a:tc>
                  <a:txBody>
                    <a:bodyPr/>
                    <a:lstStyle/>
                    <a:p>
                      <a:pPr algn="ctr">
                        <a:defRPr sz="1300">
                          <a:solidFill>
                            <a:srgbClr val="CDD6F4"/>
                          </a:solidFill>
                          <a:latin typeface="Calibri"/>
                        </a:defRPr>
                      </a:pPr>
                      <a:r>
                        <a:t>___</a:t>
                      </a:r>
                    </a:p>
                  </a:txBody>
                  <a:tcPr>
                    <a:solidFill>
                      <a:srgbClr val="1E1E2E"/>
                    </a:solidFill>
                  </a:tcPr>
                </a:tc>
                <a:tc>
                  <a:txBody>
                    <a:bodyPr/>
                    <a:lstStyle/>
                    <a:p>
                      <a:pPr algn="ctr">
                        <a:defRPr sz="1300">
                          <a:solidFill>
                            <a:srgbClr val="CDD6F4"/>
                          </a:solidFill>
                          <a:latin typeface="Calibri"/>
                        </a:defRPr>
                      </a:pPr>
                      <a:r>
                        <a:t>___</a:t>
                      </a:r>
                    </a:p>
                  </a:txBody>
                  <a:tcPr>
                    <a:solidFill>
                      <a:srgbClr val="1E1E2E"/>
                    </a:solidFill>
                  </a:tcPr>
                </a:tc>
                <a:tc>
                  <a:txBody>
                    <a:bodyPr/>
                    <a:lstStyle/>
                    <a:p>
                      <a:pPr algn="ctr">
                        <a:defRPr sz="1300">
                          <a:solidFill>
                            <a:srgbClr val="CDD6F4"/>
                          </a:solidFill>
                          <a:latin typeface="Calibri"/>
                        </a:defRPr>
                      </a:pPr>
                      <a:r>
                        <a:t>___</a:t>
                      </a:r>
                    </a:p>
                  </a:txBody>
                  <a:tcPr>
                    <a:solidFill>
                      <a:srgbClr val="1E1E2E"/>
                    </a:solidFill>
                  </a:tcPr>
                </a:tc>
                <a:tc>
                  <a:txBody>
                    <a:bodyPr/>
                    <a:lstStyle/>
                    <a:p>
                      <a:pPr algn="ctr">
                        <a:defRPr sz="1300">
                          <a:solidFill>
                            <a:srgbClr val="CDD6F4"/>
                          </a:solidFill>
                          <a:latin typeface="Calibri"/>
                        </a:defRPr>
                      </a:pPr>
                      <a:r>
                        <a:t>___</a:t>
                      </a:r>
                    </a:p>
                  </a:txBody>
                  <a:tcPr>
                    <a:solidFill>
                      <a:srgbClr val="1E1E2E"/>
                    </a:solidFill>
                  </a:tcPr>
                </a:tc>
                <a:tc>
                  <a:txBody>
                    <a:bodyPr/>
                    <a:lstStyle/>
                    <a:p>
                      <a:pPr algn="ctr">
                        <a:defRPr sz="1300" b="1">
                          <a:solidFill>
                            <a:srgbClr val="A6E3A1"/>
                          </a:solidFill>
                          <a:latin typeface="Calibri"/>
                        </a:defRPr>
                      </a:pPr>
                      <a:r>
                        <a:t>___</a:t>
                      </a:r>
                    </a:p>
                  </a:txBody>
                  <a:tcPr>
                    <a:solidFill>
                      <a:srgbClr val="1E1E2E"/>
                    </a:solidFill>
                  </a:tcPr>
                </a:tc>
              </a:tr>
            </a:tbl>
          </a:graphicData>
        </a:graphic>
      </p:graphicFrame>
      <p:pic>
        <p:nvPicPr>
          <p:cNvPr id="5" name="Picture 4" descr="phase4_accuracy_over_time.png"/>
          <p:cNvPicPr>
            <a:picLocks noChangeAspect="1"/>
          </p:cNvPicPr>
          <p:nvPr/>
        </p:nvPicPr>
        <p:blipFill>
          <a:blip r:embed="rId2"/>
          <a:stretch>
            <a:fillRect/>
          </a:stretch>
        </p:blipFill>
        <p:spPr>
          <a:xfrm>
            <a:off x="914400" y="4114800"/>
            <a:ext cx="10058400" cy="256032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731520" y="365760"/>
            <a:ext cx="10058400" cy="731520"/>
          </a:xfrm>
          <a:prstGeom prst="rect">
            <a:avLst/>
          </a:prstGeom>
          <a:noFill/>
        </p:spPr>
        <p:txBody>
          <a:bodyPr wrap="square">
            <a:spAutoFit/>
          </a:bodyPr>
          <a:lstStyle/>
          <a:p>
            <a:pPr algn="l">
              <a:defRPr sz="3200" b="1">
                <a:solidFill>
                  <a:srgbClr val="FFFFFF"/>
                </a:solidFill>
                <a:latin typeface="Calibri"/>
              </a:defRPr>
            </a:pPr>
            <a:r>
              <a:t>Why Pure Self-Training Fails: The Pseudo-Label Trap</a:t>
            </a:r>
          </a:p>
        </p:txBody>
      </p:sp>
      <p:sp>
        <p:nvSpPr>
          <p:cNvPr id="3" name="TextBox 2"/>
          <p:cNvSpPr txBox="1"/>
          <p:nvPr/>
        </p:nvSpPr>
        <p:spPr>
          <a:xfrm>
            <a:off x="731520" y="1371600"/>
            <a:ext cx="5486400" cy="2743200"/>
          </a:xfrm>
          <a:prstGeom prst="rect">
            <a:avLst/>
          </a:prstGeom>
          <a:noFill/>
        </p:spPr>
        <p:txBody>
          <a:bodyPr wrap="square">
            <a:spAutoFit/>
          </a:bodyPr>
          <a:lstStyle/>
          <a:p>
            <a:pPr>
              <a:spcAft>
                <a:spcPts val="800"/>
              </a:spcAft>
              <a:defRPr sz="2000">
                <a:solidFill>
                  <a:srgbClr val="CDD6F4"/>
                </a:solidFill>
                <a:latin typeface="Calibri"/>
              </a:defRPr>
            </a:pPr>
            <a:r>
              <a:t>• Model is ~95% confident on average</a:t>
            </a:r>
          </a:p>
          <a:p>
            <a:pPr>
              <a:spcAft>
                <a:spcPts val="800"/>
              </a:spcAft>
              <a:defRPr sz="2000">
                <a:solidFill>
                  <a:srgbClr val="CDD6F4"/>
                </a:solidFill>
                <a:latin typeface="Calibri"/>
              </a:defRPr>
            </a:pPr>
            <a:r>
              <a:t>• But accuracy drops to ~70% under heavy drift</a:t>
            </a:r>
          </a:p>
          <a:p>
            <a:pPr>
              <a:spcAft>
                <a:spcPts val="800"/>
              </a:spcAft>
              <a:defRPr sz="2000">
                <a:solidFill>
                  <a:srgbClr val="CDD6F4"/>
                </a:solidFill>
                <a:latin typeface="Calibri"/>
              </a:defRPr>
            </a:pPr>
            <a:r>
              <a:t>• High confidence + wrong answer = poisoned labels</a:t>
            </a:r>
          </a:p>
          <a:p>
            <a:pPr>
              <a:spcAft>
                <a:spcPts val="800"/>
              </a:spcAft>
              <a:defRPr sz="2000">
                <a:solidFill>
                  <a:srgbClr val="CDD6F4"/>
                </a:solidFill>
                <a:latin typeface="Calibri"/>
              </a:defRPr>
            </a:pPr>
            <a:r>
              <a:t>• The model reinforces its own mistakes</a:t>
            </a:r>
          </a:p>
          <a:p>
            <a:pPr>
              <a:spcAft>
                <a:spcPts val="800"/>
              </a:spcAft>
              <a:defRPr sz="2000">
                <a:solidFill>
                  <a:srgbClr val="CDD6F4"/>
                </a:solidFill>
                <a:latin typeface="Calibri"/>
              </a:defRPr>
            </a:pPr>
            <a:r>
              <a:t>• Accuracy spirals downward over time</a:t>
            </a:r>
          </a:p>
        </p:txBody>
      </p:sp>
      <p:sp>
        <p:nvSpPr>
          <p:cNvPr id="4" name="Rounded Rectangle 3"/>
          <p:cNvSpPr/>
          <p:nvPr/>
        </p:nvSpPr>
        <p:spPr>
          <a:xfrm>
            <a:off x="6858000" y="1371600"/>
            <a:ext cx="2103120" cy="1645920"/>
          </a:xfrm>
          <a:prstGeom prst="roundRect">
            <a:avLst/>
          </a:prstGeom>
          <a:solidFill>
            <a:srgbClr val="1E1E2E"/>
          </a:solidFill>
          <a:ln w="25400">
            <a:solidFill>
              <a:srgbClr val="A6E3A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A6E3A1"/>
                </a:solidFill>
              </a:defRPr>
            </a:pPr>
            <a:r>
              <a:t>Correct +</a:t>
            </a:r>
            <a:br/>
            <a:r>
              <a:t>High Conf</a:t>
            </a:r>
          </a:p>
          <a:p>
            <a:pPr algn="ctr">
              <a:defRPr sz="1600">
                <a:solidFill>
                  <a:srgbClr val="A6E3A1"/>
                </a:solidFill>
              </a:defRPr>
            </a:pPr>
            <a:r>
              <a:t>✅ Good</a:t>
            </a:r>
          </a:p>
        </p:txBody>
      </p:sp>
      <p:sp>
        <p:nvSpPr>
          <p:cNvPr id="5" name="Rounded Rectangle 4"/>
          <p:cNvSpPr/>
          <p:nvPr/>
        </p:nvSpPr>
        <p:spPr>
          <a:xfrm>
            <a:off x="9144000" y="1371600"/>
            <a:ext cx="2103120" cy="1645920"/>
          </a:xfrm>
          <a:prstGeom prst="roundRect">
            <a:avLst/>
          </a:prstGeom>
          <a:solidFill>
            <a:srgbClr val="1E1E2E"/>
          </a:solidFill>
          <a:ln w="25400">
            <a:solidFill>
              <a:srgbClr val="F38BA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38BA8"/>
                </a:solidFill>
              </a:defRPr>
            </a:pPr>
            <a:r>
              <a:t>Wrong +</a:t>
            </a:r>
            <a:br/>
            <a:r>
              <a:t>High Conf</a:t>
            </a:r>
          </a:p>
          <a:p>
            <a:pPr algn="ctr">
              <a:defRPr sz="1600">
                <a:solidFill>
                  <a:srgbClr val="F38BA8"/>
                </a:solidFill>
              </a:defRPr>
            </a:pPr>
            <a:r>
              <a:t>❌ Poison!</a:t>
            </a:r>
          </a:p>
        </p:txBody>
      </p:sp>
      <p:sp>
        <p:nvSpPr>
          <p:cNvPr id="6" name="Rounded Rectangle 5"/>
          <p:cNvSpPr/>
          <p:nvPr/>
        </p:nvSpPr>
        <p:spPr>
          <a:xfrm>
            <a:off x="6858000" y="3383280"/>
            <a:ext cx="2103120" cy="1645920"/>
          </a:xfrm>
          <a:prstGeom prst="roundRect">
            <a:avLst/>
          </a:prstGeom>
          <a:solidFill>
            <a:srgbClr val="1E1E2E"/>
          </a:solidFill>
          <a:ln w="25400">
            <a:solidFill>
              <a:srgbClr val="89B4F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89B4FA"/>
                </a:solidFill>
              </a:defRPr>
            </a:pPr>
            <a:r>
              <a:t>Correct +</a:t>
            </a:r>
            <a:br/>
            <a:r>
              <a:t>Low Conf</a:t>
            </a:r>
          </a:p>
          <a:p>
            <a:pPr algn="ctr">
              <a:defRPr sz="1600">
                <a:solidFill>
                  <a:srgbClr val="89B4FA"/>
                </a:solidFill>
              </a:defRPr>
            </a:pPr>
            <a:r>
              <a:t>⚠️ Skip</a:t>
            </a:r>
          </a:p>
        </p:txBody>
      </p:sp>
      <p:sp>
        <p:nvSpPr>
          <p:cNvPr id="7" name="Rounded Rectangle 6"/>
          <p:cNvSpPr/>
          <p:nvPr/>
        </p:nvSpPr>
        <p:spPr>
          <a:xfrm>
            <a:off x="9144000" y="3383280"/>
            <a:ext cx="2103120" cy="1645920"/>
          </a:xfrm>
          <a:prstGeom prst="roundRect">
            <a:avLst/>
          </a:prstGeom>
          <a:solidFill>
            <a:srgbClr val="1E1E2E"/>
          </a:solidFill>
          <a:ln w="25400">
            <a:solidFill>
              <a:srgbClr val="A6ADC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A6ADC8"/>
                </a:solidFill>
              </a:defRPr>
            </a:pPr>
            <a:r>
              <a:t>Wrong +</a:t>
            </a:r>
            <a:br/>
            <a:r>
              <a:t>Low Conf</a:t>
            </a:r>
          </a:p>
          <a:p>
            <a:pPr algn="ctr">
              <a:defRPr sz="1600">
                <a:solidFill>
                  <a:srgbClr val="A6ADC8"/>
                </a:solidFill>
              </a:defRPr>
            </a:pPr>
            <a:r>
              <a:t>⚠️ Skip</a:t>
            </a:r>
          </a:p>
        </p:txBody>
      </p:sp>
      <p:sp>
        <p:nvSpPr>
          <p:cNvPr id="8" name="TextBox 7"/>
          <p:cNvSpPr txBox="1"/>
          <p:nvPr/>
        </p:nvSpPr>
        <p:spPr>
          <a:xfrm>
            <a:off x="731520" y="5029200"/>
            <a:ext cx="10058400" cy="914400"/>
          </a:xfrm>
          <a:prstGeom prst="rect">
            <a:avLst/>
          </a:prstGeom>
          <a:noFill/>
        </p:spPr>
        <p:txBody>
          <a:bodyPr wrap="square">
            <a:spAutoFit/>
          </a:bodyPr>
          <a:lstStyle/>
          <a:p>
            <a:pPr algn="l">
              <a:defRPr sz="1800" b="0">
                <a:solidFill>
                  <a:srgbClr val="A6ADC8"/>
                </a:solidFill>
                <a:latin typeface="Calibri"/>
              </a:defRPr>
            </a:pPr>
            <a:r>
              <a:t>The confidence threshold can't save you when the distribution shifts.</a:t>
            </a:r>
            <a:br/>
            <a:r>
              <a:t>You need ground truth to anchor the model.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731520" y="365760"/>
            <a:ext cx="10058400" cy="731520"/>
          </a:xfrm>
          <a:prstGeom prst="rect">
            <a:avLst/>
          </a:prstGeom>
          <a:noFill/>
        </p:spPr>
        <p:txBody>
          <a:bodyPr wrap="square">
            <a:spAutoFit/>
          </a:bodyPr>
          <a:lstStyle/>
          <a:p>
            <a:pPr algn="l">
              <a:defRPr sz="3200" b="1">
                <a:solidFill>
                  <a:srgbClr val="FFFFFF"/>
                </a:solidFill>
                <a:latin typeface="Calibri"/>
              </a:defRPr>
            </a:pPr>
            <a:r>
              <a:t>How Often Do You Need True Labels?</a:t>
            </a:r>
          </a:p>
        </p:txBody>
      </p:sp>
      <p:sp>
        <p:nvSpPr>
          <p:cNvPr id="3" name="TextBox 2"/>
          <p:cNvSpPr txBox="1"/>
          <p:nvPr/>
        </p:nvSpPr>
        <p:spPr>
          <a:xfrm>
            <a:off x="731520" y="1097280"/>
            <a:ext cx="4572000" cy="365760"/>
          </a:xfrm>
          <a:prstGeom prst="rect">
            <a:avLst/>
          </a:prstGeom>
          <a:noFill/>
        </p:spPr>
        <p:txBody>
          <a:bodyPr wrap="square">
            <a:spAutoFit/>
          </a:bodyPr>
          <a:lstStyle/>
          <a:p>
            <a:pPr algn="l">
              <a:defRPr sz="1400" b="0">
                <a:solidFill>
                  <a:srgbClr val="FAB387"/>
                </a:solidFill>
                <a:latin typeface="Calibri"/>
              </a:defRPr>
            </a:pPr>
            <a:r>
              <a:t>⚠️ Fill in after running notebook</a:t>
            </a:r>
          </a:p>
        </p:txBody>
      </p:sp>
      <p:graphicFrame>
        <p:nvGraphicFramePr>
          <p:cNvPr id="4" name="Table 3"/>
          <p:cNvGraphicFramePr>
            <a:graphicFrameLocks noGrp="1"/>
          </p:cNvGraphicFramePr>
          <p:nvPr/>
        </p:nvGraphicFramePr>
        <p:xfrm>
          <a:off x="731520" y="1554480"/>
          <a:ext cx="5029200" cy="4114800"/>
        </p:xfrm>
        <a:graphic>
          <a:graphicData uri="http://schemas.openxmlformats.org/drawingml/2006/table">
            <a:tbl>
              <a:tblPr firstRow="1" bandRow="1">
                <a:tableStyleId>{5C22544A-7EE6-4342-B048-85BDC9FD1C3A}</a:tableStyleId>
              </a:tblPr>
              <a:tblGrid>
                <a:gridCol w="1676400"/>
                <a:gridCol w="1676400"/>
                <a:gridCol w="1676400"/>
              </a:tblGrid>
              <a:tr h="514350">
                <a:tc>
                  <a:txBody>
                    <a:bodyPr/>
                    <a:lstStyle/>
                    <a:p>
                      <a:pPr algn="ctr">
                        <a:defRPr sz="1400" b="1">
                          <a:solidFill>
                            <a:srgbClr val="FFFFFF"/>
                          </a:solidFill>
                          <a:latin typeface="Calibri"/>
                        </a:defRPr>
                      </a:pPr>
                      <a:r>
                        <a:t>Supervision Rate</a:t>
                      </a:r>
                    </a:p>
                  </a:txBody>
                  <a:tcPr>
                    <a:solidFill>
                      <a:srgbClr val="313244"/>
                    </a:solidFill>
                  </a:tcPr>
                </a:tc>
                <a:tc>
                  <a:txBody>
                    <a:bodyPr/>
                    <a:lstStyle/>
                    <a:p>
                      <a:pPr algn="ctr">
                        <a:defRPr sz="1400" b="1">
                          <a:solidFill>
                            <a:srgbClr val="FFFFFF"/>
                          </a:solidFill>
                          <a:latin typeface="Calibri"/>
                        </a:defRPr>
                      </a:pPr>
                      <a:r>
                        <a:t>% Supervised</a:t>
                      </a:r>
                    </a:p>
                  </a:txBody>
                  <a:tcPr>
                    <a:solidFill>
                      <a:srgbClr val="313244"/>
                    </a:solidFill>
                  </a:tcPr>
                </a:tc>
                <a:tc>
                  <a:txBody>
                    <a:bodyPr/>
                    <a:lstStyle/>
                    <a:p>
                      <a:pPr algn="ctr">
                        <a:defRPr sz="1400" b="1">
                          <a:solidFill>
                            <a:srgbClr val="FFFFFF"/>
                          </a:solidFill>
                          <a:latin typeface="Calibri"/>
                        </a:defRPr>
                      </a:pPr>
                      <a:r>
                        <a:t>Accuracy</a:t>
                      </a:r>
                    </a:p>
                  </a:txBody>
                  <a:tcPr>
                    <a:solidFill>
                      <a:srgbClr val="313244"/>
                    </a:solidFill>
                  </a:tcPr>
                </a:tc>
              </a:tr>
              <a:tr h="514350">
                <a:tc>
                  <a:txBody>
                    <a:bodyPr/>
                    <a:lstStyle/>
                    <a:p>
                      <a:pPr algn="ctr">
                        <a:defRPr sz="1400" b="0">
                          <a:solidFill>
                            <a:srgbClr val="CDD6F4"/>
                          </a:solidFill>
                          <a:latin typeface="Calibri"/>
                        </a:defRPr>
                      </a:pPr>
                      <a:r>
                        <a:t>Every 10</a:t>
                      </a:r>
                    </a:p>
                  </a:txBody>
                  <a:tcPr>
                    <a:solidFill>
                      <a:srgbClr val="1E1E2E"/>
                    </a:solidFill>
                  </a:tcPr>
                </a:tc>
                <a:tc>
                  <a:txBody>
                    <a:bodyPr/>
                    <a:lstStyle/>
                    <a:p>
                      <a:pPr algn="ctr">
                        <a:defRPr sz="1400" b="0">
                          <a:solidFill>
                            <a:srgbClr val="CDD6F4"/>
                          </a:solidFill>
                          <a:latin typeface="Calibri"/>
                        </a:defRPr>
                      </a:pPr>
                      <a:r>
                        <a:t>10%</a:t>
                      </a:r>
                    </a:p>
                  </a:txBody>
                  <a:tcPr>
                    <a:solidFill>
                      <a:srgbClr val="1E1E2E"/>
                    </a:solidFill>
                  </a:tcPr>
                </a:tc>
                <a:tc>
                  <a:txBody>
                    <a:bodyPr/>
                    <a:lstStyle/>
                    <a:p>
                      <a:pPr algn="ctr">
                        <a:defRPr sz="1400" b="0">
                          <a:solidFill>
                            <a:srgbClr val="CDD6F4"/>
                          </a:solidFill>
                          <a:latin typeface="Calibri"/>
                        </a:defRPr>
                      </a:pPr>
                      <a:r>
                        <a:t>____%</a:t>
                      </a:r>
                    </a:p>
                  </a:txBody>
                  <a:tcPr>
                    <a:solidFill>
                      <a:srgbClr val="1E1E2E"/>
                    </a:solidFill>
                  </a:tcPr>
                </a:tc>
              </a:tr>
              <a:tr h="514350">
                <a:tc>
                  <a:txBody>
                    <a:bodyPr/>
                    <a:lstStyle/>
                    <a:p>
                      <a:pPr algn="ctr">
                        <a:defRPr sz="1400" b="0">
                          <a:solidFill>
                            <a:srgbClr val="CDD6F4"/>
                          </a:solidFill>
                          <a:latin typeface="Calibri"/>
                        </a:defRPr>
                      </a:pPr>
                      <a:r>
                        <a:t>Every 20</a:t>
                      </a:r>
                    </a:p>
                  </a:txBody>
                  <a:tcPr>
                    <a:solidFill>
                      <a:srgbClr val="1E1E2E"/>
                    </a:solidFill>
                  </a:tcPr>
                </a:tc>
                <a:tc>
                  <a:txBody>
                    <a:bodyPr/>
                    <a:lstStyle/>
                    <a:p>
                      <a:pPr algn="ctr">
                        <a:defRPr sz="1400" b="0">
                          <a:solidFill>
                            <a:srgbClr val="CDD6F4"/>
                          </a:solidFill>
                          <a:latin typeface="Calibri"/>
                        </a:defRPr>
                      </a:pPr>
                      <a:r>
                        <a:t>5%</a:t>
                      </a:r>
                    </a:p>
                  </a:txBody>
                  <a:tcPr>
                    <a:solidFill>
                      <a:srgbClr val="1E1E2E"/>
                    </a:solidFill>
                  </a:tcPr>
                </a:tc>
                <a:tc>
                  <a:txBody>
                    <a:bodyPr/>
                    <a:lstStyle/>
                    <a:p>
                      <a:pPr algn="ctr">
                        <a:defRPr sz="1400" b="0">
                          <a:solidFill>
                            <a:srgbClr val="CDD6F4"/>
                          </a:solidFill>
                          <a:latin typeface="Calibri"/>
                        </a:defRPr>
                      </a:pPr>
                      <a:r>
                        <a:t>____%</a:t>
                      </a:r>
                    </a:p>
                  </a:txBody>
                  <a:tcPr>
                    <a:solidFill>
                      <a:srgbClr val="1E1E2E"/>
                    </a:solidFill>
                  </a:tcPr>
                </a:tc>
              </a:tr>
              <a:tr h="514350">
                <a:tc>
                  <a:txBody>
                    <a:bodyPr/>
                    <a:lstStyle/>
                    <a:p>
                      <a:pPr algn="ctr">
                        <a:defRPr sz="1400" b="0">
                          <a:solidFill>
                            <a:srgbClr val="CDD6F4"/>
                          </a:solidFill>
                          <a:latin typeface="Calibri"/>
                        </a:defRPr>
                      </a:pPr>
                      <a:r>
                        <a:t>Every 50</a:t>
                      </a:r>
                    </a:p>
                  </a:txBody>
                  <a:tcPr>
                    <a:solidFill>
                      <a:srgbClr val="1E1E2E"/>
                    </a:solidFill>
                  </a:tcPr>
                </a:tc>
                <a:tc>
                  <a:txBody>
                    <a:bodyPr/>
                    <a:lstStyle/>
                    <a:p>
                      <a:pPr algn="ctr">
                        <a:defRPr sz="1400" b="0">
                          <a:solidFill>
                            <a:srgbClr val="CDD6F4"/>
                          </a:solidFill>
                          <a:latin typeface="Calibri"/>
                        </a:defRPr>
                      </a:pPr>
                      <a:r>
                        <a:t>2%</a:t>
                      </a:r>
                    </a:p>
                  </a:txBody>
                  <a:tcPr>
                    <a:solidFill>
                      <a:srgbClr val="1E1E2E"/>
                    </a:solidFill>
                  </a:tcPr>
                </a:tc>
                <a:tc>
                  <a:txBody>
                    <a:bodyPr/>
                    <a:lstStyle/>
                    <a:p>
                      <a:pPr algn="ctr">
                        <a:defRPr sz="1400" b="0">
                          <a:solidFill>
                            <a:srgbClr val="CDD6F4"/>
                          </a:solidFill>
                          <a:latin typeface="Calibri"/>
                        </a:defRPr>
                      </a:pPr>
                      <a:r>
                        <a:t>____%</a:t>
                      </a:r>
                    </a:p>
                  </a:txBody>
                  <a:tcPr>
                    <a:solidFill>
                      <a:srgbClr val="1E1E2E"/>
                    </a:solidFill>
                  </a:tcPr>
                </a:tc>
              </a:tr>
              <a:tr h="514350">
                <a:tc>
                  <a:txBody>
                    <a:bodyPr/>
                    <a:lstStyle/>
                    <a:p>
                      <a:pPr algn="ctr">
                        <a:defRPr sz="1400" b="0">
                          <a:solidFill>
                            <a:srgbClr val="CDD6F4"/>
                          </a:solidFill>
                          <a:latin typeface="Calibri"/>
                        </a:defRPr>
                      </a:pPr>
                      <a:r>
                        <a:t>Every 100</a:t>
                      </a:r>
                    </a:p>
                  </a:txBody>
                  <a:tcPr>
                    <a:solidFill>
                      <a:srgbClr val="1E1E2E"/>
                    </a:solidFill>
                  </a:tcPr>
                </a:tc>
                <a:tc>
                  <a:txBody>
                    <a:bodyPr/>
                    <a:lstStyle/>
                    <a:p>
                      <a:pPr algn="ctr">
                        <a:defRPr sz="1400" b="0">
                          <a:solidFill>
                            <a:srgbClr val="CDD6F4"/>
                          </a:solidFill>
                          <a:latin typeface="Calibri"/>
                        </a:defRPr>
                      </a:pPr>
                      <a:r>
                        <a:t>1%</a:t>
                      </a:r>
                    </a:p>
                  </a:txBody>
                  <a:tcPr>
                    <a:solidFill>
                      <a:srgbClr val="1E1E2E"/>
                    </a:solidFill>
                  </a:tcPr>
                </a:tc>
                <a:tc>
                  <a:txBody>
                    <a:bodyPr/>
                    <a:lstStyle/>
                    <a:p>
                      <a:pPr algn="ctr">
                        <a:defRPr sz="1400" b="0">
                          <a:solidFill>
                            <a:srgbClr val="CDD6F4"/>
                          </a:solidFill>
                          <a:latin typeface="Calibri"/>
                        </a:defRPr>
                      </a:pPr>
                      <a:r>
                        <a:t>____%</a:t>
                      </a:r>
                    </a:p>
                  </a:txBody>
                  <a:tcPr>
                    <a:solidFill>
                      <a:srgbClr val="1E1E2E"/>
                    </a:solidFill>
                  </a:tcPr>
                </a:tc>
              </a:tr>
              <a:tr h="514350">
                <a:tc>
                  <a:txBody>
                    <a:bodyPr/>
                    <a:lstStyle/>
                    <a:p>
                      <a:pPr algn="ctr">
                        <a:defRPr sz="1400" b="0">
                          <a:solidFill>
                            <a:srgbClr val="CDD6F4"/>
                          </a:solidFill>
                          <a:latin typeface="Calibri"/>
                        </a:defRPr>
                      </a:pPr>
                      <a:r>
                        <a:t>Every 200</a:t>
                      </a:r>
                    </a:p>
                  </a:txBody>
                  <a:tcPr>
                    <a:solidFill>
                      <a:srgbClr val="1E1E2E"/>
                    </a:solidFill>
                  </a:tcPr>
                </a:tc>
                <a:tc>
                  <a:txBody>
                    <a:bodyPr/>
                    <a:lstStyle/>
                    <a:p>
                      <a:pPr algn="ctr">
                        <a:defRPr sz="1400" b="0">
                          <a:solidFill>
                            <a:srgbClr val="CDD6F4"/>
                          </a:solidFill>
                          <a:latin typeface="Calibri"/>
                        </a:defRPr>
                      </a:pPr>
                      <a:r>
                        <a:t>0.5%</a:t>
                      </a:r>
                    </a:p>
                  </a:txBody>
                  <a:tcPr>
                    <a:solidFill>
                      <a:srgbClr val="1E1E2E"/>
                    </a:solidFill>
                  </a:tcPr>
                </a:tc>
                <a:tc>
                  <a:txBody>
                    <a:bodyPr/>
                    <a:lstStyle/>
                    <a:p>
                      <a:pPr algn="ctr">
                        <a:defRPr sz="1400" b="0">
                          <a:solidFill>
                            <a:srgbClr val="CDD6F4"/>
                          </a:solidFill>
                          <a:latin typeface="Calibri"/>
                        </a:defRPr>
                      </a:pPr>
                      <a:r>
                        <a:t>____%</a:t>
                      </a:r>
                    </a:p>
                  </a:txBody>
                  <a:tcPr>
                    <a:solidFill>
                      <a:srgbClr val="1E1E2E"/>
                    </a:solidFill>
                  </a:tcPr>
                </a:tc>
              </a:tr>
              <a:tr h="514350">
                <a:tc>
                  <a:txBody>
                    <a:bodyPr/>
                    <a:lstStyle/>
                    <a:p>
                      <a:pPr algn="ctr">
                        <a:defRPr sz="1400" b="0">
                          <a:solidFill>
                            <a:srgbClr val="CDD6F4"/>
                          </a:solidFill>
                          <a:latin typeface="Calibri"/>
                        </a:defRPr>
                      </a:pPr>
                      <a:r>
                        <a:t>Every 500</a:t>
                      </a:r>
                    </a:p>
                  </a:txBody>
                  <a:tcPr>
                    <a:solidFill>
                      <a:srgbClr val="1E1E2E"/>
                    </a:solidFill>
                  </a:tcPr>
                </a:tc>
                <a:tc>
                  <a:txBody>
                    <a:bodyPr/>
                    <a:lstStyle/>
                    <a:p>
                      <a:pPr algn="ctr">
                        <a:defRPr sz="1400" b="0">
                          <a:solidFill>
                            <a:srgbClr val="CDD6F4"/>
                          </a:solidFill>
                          <a:latin typeface="Calibri"/>
                        </a:defRPr>
                      </a:pPr>
                      <a:r>
                        <a:t>0.2%</a:t>
                      </a:r>
                    </a:p>
                  </a:txBody>
                  <a:tcPr>
                    <a:solidFill>
                      <a:srgbClr val="1E1E2E"/>
                    </a:solidFill>
                  </a:tcPr>
                </a:tc>
                <a:tc>
                  <a:txBody>
                    <a:bodyPr/>
                    <a:lstStyle/>
                    <a:p>
                      <a:pPr algn="ctr">
                        <a:defRPr sz="1400" b="0">
                          <a:solidFill>
                            <a:srgbClr val="CDD6F4"/>
                          </a:solidFill>
                          <a:latin typeface="Calibri"/>
                        </a:defRPr>
                      </a:pPr>
                      <a:r>
                        <a:t>____%</a:t>
                      </a:r>
                    </a:p>
                  </a:txBody>
                  <a:tcPr>
                    <a:solidFill>
                      <a:srgbClr val="1E1E2E"/>
                    </a:solidFill>
                  </a:tcPr>
                </a:tc>
              </a:tr>
              <a:tr h="514350">
                <a:tc>
                  <a:txBody>
                    <a:bodyPr/>
                    <a:lstStyle/>
                    <a:p>
                      <a:pPr algn="ctr">
                        <a:defRPr sz="1400" b="0">
                          <a:solidFill>
                            <a:srgbClr val="CDD6F4"/>
                          </a:solidFill>
                          <a:latin typeface="Calibri"/>
                        </a:defRPr>
                      </a:pPr>
                      <a:r>
                        <a:t>Static (none)</a:t>
                      </a:r>
                    </a:p>
                  </a:txBody>
                  <a:tcPr>
                    <a:solidFill>
                      <a:srgbClr val="1E1E2E"/>
                    </a:solidFill>
                  </a:tcPr>
                </a:tc>
                <a:tc>
                  <a:txBody>
                    <a:bodyPr/>
                    <a:lstStyle/>
                    <a:p>
                      <a:pPr algn="ctr">
                        <a:defRPr sz="1400" b="0">
                          <a:solidFill>
                            <a:srgbClr val="CDD6F4"/>
                          </a:solidFill>
                          <a:latin typeface="Calibri"/>
                        </a:defRPr>
                      </a:pPr>
                      <a:r>
                        <a:t>0%</a:t>
                      </a:r>
                    </a:p>
                  </a:txBody>
                  <a:tcPr>
                    <a:solidFill>
                      <a:srgbClr val="1E1E2E"/>
                    </a:solidFill>
                  </a:tcPr>
                </a:tc>
                <a:tc>
                  <a:txBody>
                    <a:bodyPr/>
                    <a:lstStyle/>
                    <a:p>
                      <a:pPr algn="ctr">
                        <a:defRPr sz="1400" b="0">
                          <a:solidFill>
                            <a:srgbClr val="CDD6F4"/>
                          </a:solidFill>
                          <a:latin typeface="Calibri"/>
                        </a:defRPr>
                      </a:pPr>
                      <a:r>
                        <a:t>____%</a:t>
                      </a:r>
                    </a:p>
                  </a:txBody>
                  <a:tcPr>
                    <a:solidFill>
                      <a:srgbClr val="1E1E2E"/>
                    </a:solidFill>
                  </a:tcPr>
                </a:tc>
              </a:tr>
            </a:tbl>
          </a:graphicData>
        </a:graphic>
      </p:graphicFrame>
      <p:pic>
        <p:nvPicPr>
          <p:cNvPr id="5" name="Picture 4" descr="phase4_robustness_drift.png"/>
          <p:cNvPicPr>
            <a:picLocks noChangeAspect="1"/>
          </p:cNvPicPr>
          <p:nvPr/>
        </p:nvPicPr>
        <p:blipFill>
          <a:blip r:embed="rId2"/>
          <a:stretch>
            <a:fillRect/>
          </a:stretch>
        </p:blipFill>
        <p:spPr>
          <a:xfrm>
            <a:off x="6400800" y="1097280"/>
            <a:ext cx="5029200" cy="4572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731520" y="365760"/>
            <a:ext cx="10058400" cy="731520"/>
          </a:xfrm>
          <a:prstGeom prst="rect">
            <a:avLst/>
          </a:prstGeom>
          <a:noFill/>
        </p:spPr>
        <p:txBody>
          <a:bodyPr wrap="square">
            <a:spAutoFit/>
          </a:bodyPr>
          <a:lstStyle/>
          <a:p>
            <a:pPr algn="l">
              <a:defRPr sz="3200" b="1">
                <a:solidFill>
                  <a:srgbClr val="FFFFFF"/>
                </a:solidFill>
                <a:latin typeface="Calibri"/>
              </a:defRPr>
            </a:pPr>
            <a:r>
              <a:t>The Journey: Four Phases of Increasing Realism</a:t>
            </a:r>
          </a:p>
        </p:txBody>
      </p:sp>
      <p:sp>
        <p:nvSpPr>
          <p:cNvPr id="3" name="Rounded Rectangle 2"/>
          <p:cNvSpPr/>
          <p:nvPr/>
        </p:nvSpPr>
        <p:spPr>
          <a:xfrm>
            <a:off x="457200" y="1371600"/>
            <a:ext cx="2651760" cy="4114800"/>
          </a:xfrm>
          <a:prstGeom prst="roundRect">
            <a:avLst/>
          </a:prstGeom>
          <a:solidFill>
            <a:srgbClr val="1E1E2E"/>
          </a:solidFill>
          <a:ln w="38100">
            <a:solidFill>
              <a:srgbClr val="89B4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2468880" cy="457200"/>
          </a:xfrm>
          <a:prstGeom prst="rect">
            <a:avLst/>
          </a:prstGeom>
          <a:noFill/>
        </p:spPr>
        <p:txBody>
          <a:bodyPr wrap="square">
            <a:spAutoFit/>
          </a:bodyPr>
          <a:lstStyle/>
          <a:p>
            <a:pPr algn="ctr">
              <a:defRPr sz="2200" b="1">
                <a:solidFill>
                  <a:srgbClr val="89B4FA"/>
                </a:solidFill>
                <a:latin typeface="Calibri"/>
              </a:defRPr>
            </a:pPr>
            <a:r>
              <a:t>Phase 1</a:t>
            </a:r>
          </a:p>
        </p:txBody>
      </p:sp>
      <p:sp>
        <p:nvSpPr>
          <p:cNvPr id="5" name="TextBox 4"/>
          <p:cNvSpPr txBox="1"/>
          <p:nvPr/>
        </p:nvSpPr>
        <p:spPr>
          <a:xfrm>
            <a:off x="548640" y="2011680"/>
            <a:ext cx="2468880" cy="914400"/>
          </a:xfrm>
          <a:prstGeom prst="rect">
            <a:avLst/>
          </a:prstGeom>
          <a:noFill/>
        </p:spPr>
        <p:txBody>
          <a:bodyPr wrap="square">
            <a:spAutoFit/>
          </a:bodyPr>
          <a:lstStyle/>
          <a:p>
            <a:pPr algn="ctr">
              <a:defRPr sz="1600" b="0">
                <a:solidFill>
                  <a:srgbClr val="CDD6F4"/>
                </a:solidFill>
                <a:latin typeface="Calibri"/>
              </a:defRPr>
            </a:pPr>
            <a:r>
              <a:t>Static</a:t>
            </a:r>
            <a:br/>
            <a:r>
              <a:t>Syndromes</a:t>
            </a:r>
          </a:p>
        </p:txBody>
      </p:sp>
      <p:sp>
        <p:nvSpPr>
          <p:cNvPr id="6" name="TextBox 5"/>
          <p:cNvSpPr txBox="1"/>
          <p:nvPr/>
        </p:nvSpPr>
        <p:spPr>
          <a:xfrm>
            <a:off x="548640" y="3017520"/>
            <a:ext cx="2468880" cy="914400"/>
          </a:xfrm>
          <a:prstGeom prst="rect">
            <a:avLst/>
          </a:prstGeom>
          <a:noFill/>
        </p:spPr>
        <p:txBody>
          <a:bodyPr wrap="square">
            <a:spAutoFit/>
          </a:bodyPr>
          <a:lstStyle/>
          <a:p>
            <a:pPr algn="ctr">
              <a:defRPr sz="1500" b="1">
                <a:solidFill>
                  <a:srgbClr val="FFFFFF"/>
                </a:solidFill>
                <a:latin typeface="Calibri"/>
              </a:defRPr>
            </a:pPr>
            <a:r>
              <a:t>GRU: ~96%</a:t>
            </a:r>
          </a:p>
        </p:txBody>
      </p:sp>
      <p:sp>
        <p:nvSpPr>
          <p:cNvPr id="7" name="TextBox 6"/>
          <p:cNvSpPr txBox="1"/>
          <p:nvPr/>
        </p:nvSpPr>
        <p:spPr>
          <a:xfrm>
            <a:off x="548640" y="4389120"/>
            <a:ext cx="2468880" cy="731520"/>
          </a:xfrm>
          <a:prstGeom prst="rect">
            <a:avLst/>
          </a:prstGeom>
          <a:noFill/>
        </p:spPr>
        <p:txBody>
          <a:bodyPr wrap="square">
            <a:spAutoFit/>
          </a:bodyPr>
          <a:lstStyle/>
          <a:p>
            <a:pPr algn="ctr">
              <a:defRPr sz="1200" b="0">
                <a:solidFill>
                  <a:srgbClr val="A6ADC8"/>
                </a:solidFill>
                <a:latin typeface="Calibri"/>
              </a:defRPr>
            </a:pPr>
            <a:r>
              <a:t>Ideal world</a:t>
            </a:r>
          </a:p>
        </p:txBody>
      </p:sp>
      <p:sp>
        <p:nvSpPr>
          <p:cNvPr id="8" name="TextBox 7"/>
          <p:cNvSpPr txBox="1"/>
          <p:nvPr/>
        </p:nvSpPr>
        <p:spPr>
          <a:xfrm>
            <a:off x="3108960" y="2743200"/>
            <a:ext cx="365760" cy="457200"/>
          </a:xfrm>
          <a:prstGeom prst="rect">
            <a:avLst/>
          </a:prstGeom>
          <a:noFill/>
        </p:spPr>
        <p:txBody>
          <a:bodyPr wrap="square">
            <a:spAutoFit/>
          </a:bodyPr>
          <a:lstStyle/>
          <a:p>
            <a:pPr algn="ctr">
              <a:defRPr sz="2800" b="0">
                <a:solidFill>
                  <a:srgbClr val="A6ADC8"/>
                </a:solidFill>
                <a:latin typeface="Calibri"/>
              </a:defRPr>
            </a:pPr>
            <a:r>
              <a:t>→</a:t>
            </a:r>
          </a:p>
        </p:txBody>
      </p:sp>
      <p:sp>
        <p:nvSpPr>
          <p:cNvPr id="9" name="Rounded Rectangle 8"/>
          <p:cNvSpPr/>
          <p:nvPr/>
        </p:nvSpPr>
        <p:spPr>
          <a:xfrm>
            <a:off x="3383280" y="1371600"/>
            <a:ext cx="2651760" cy="4114800"/>
          </a:xfrm>
          <a:prstGeom prst="roundRect">
            <a:avLst/>
          </a:prstGeom>
          <a:solidFill>
            <a:srgbClr val="1E1E2E"/>
          </a:solidFill>
          <a:ln w="38100">
            <a:solidFill>
              <a:srgbClr val="CBA6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74720" y="1463040"/>
            <a:ext cx="2468880" cy="457200"/>
          </a:xfrm>
          <a:prstGeom prst="rect">
            <a:avLst/>
          </a:prstGeom>
          <a:noFill/>
        </p:spPr>
        <p:txBody>
          <a:bodyPr wrap="square">
            <a:spAutoFit/>
          </a:bodyPr>
          <a:lstStyle/>
          <a:p>
            <a:pPr algn="ctr">
              <a:defRPr sz="2200" b="1">
                <a:solidFill>
                  <a:srgbClr val="CBA6F7"/>
                </a:solidFill>
                <a:latin typeface="Calibri"/>
              </a:defRPr>
            </a:pPr>
            <a:r>
              <a:t>Phase 2</a:t>
            </a:r>
          </a:p>
        </p:txBody>
      </p:sp>
      <p:sp>
        <p:nvSpPr>
          <p:cNvPr id="11" name="TextBox 10"/>
          <p:cNvSpPr txBox="1"/>
          <p:nvPr/>
        </p:nvSpPr>
        <p:spPr>
          <a:xfrm>
            <a:off x="3474720" y="2011680"/>
            <a:ext cx="2468880" cy="914400"/>
          </a:xfrm>
          <a:prstGeom prst="rect">
            <a:avLst/>
          </a:prstGeom>
          <a:noFill/>
        </p:spPr>
        <p:txBody>
          <a:bodyPr wrap="square">
            <a:spAutoFit/>
          </a:bodyPr>
          <a:lstStyle/>
          <a:p>
            <a:pPr algn="ctr">
              <a:defRPr sz="1600" b="0">
                <a:solidFill>
                  <a:srgbClr val="CDD6F4"/>
                </a:solidFill>
                <a:latin typeface="Calibri"/>
              </a:defRPr>
            </a:pPr>
            <a:r>
              <a:t>Hamiltonian</a:t>
            </a:r>
            <a:br/>
            <a:r>
              <a:t>Dynamics</a:t>
            </a:r>
          </a:p>
        </p:txBody>
      </p:sp>
      <p:sp>
        <p:nvSpPr>
          <p:cNvPr id="12" name="TextBox 11"/>
          <p:cNvSpPr txBox="1"/>
          <p:nvPr/>
        </p:nvSpPr>
        <p:spPr>
          <a:xfrm>
            <a:off x="3474720" y="3017520"/>
            <a:ext cx="2468880" cy="914400"/>
          </a:xfrm>
          <a:prstGeom prst="rect">
            <a:avLst/>
          </a:prstGeom>
          <a:noFill/>
        </p:spPr>
        <p:txBody>
          <a:bodyPr wrap="square">
            <a:spAutoFit/>
          </a:bodyPr>
          <a:lstStyle/>
          <a:p>
            <a:pPr algn="ctr">
              <a:defRPr sz="1500" b="1">
                <a:solidFill>
                  <a:srgbClr val="FFFFFF"/>
                </a:solidFill>
                <a:latin typeface="Calibri"/>
              </a:defRPr>
            </a:pPr>
            <a:r>
              <a:t>GRU: ~96%</a:t>
            </a:r>
            <a:br/>
            <a:r>
              <a:t>Bayes: ~94%</a:t>
            </a:r>
          </a:p>
        </p:txBody>
      </p:sp>
      <p:sp>
        <p:nvSpPr>
          <p:cNvPr id="13" name="TextBox 12"/>
          <p:cNvSpPr txBox="1"/>
          <p:nvPr/>
        </p:nvSpPr>
        <p:spPr>
          <a:xfrm>
            <a:off x="3474720" y="4389120"/>
            <a:ext cx="2468880" cy="731520"/>
          </a:xfrm>
          <a:prstGeom prst="rect">
            <a:avLst/>
          </a:prstGeom>
          <a:noFill/>
        </p:spPr>
        <p:txBody>
          <a:bodyPr wrap="square">
            <a:spAutoFit/>
          </a:bodyPr>
          <a:lstStyle/>
          <a:p>
            <a:pPr algn="ctr">
              <a:defRPr sz="1200" b="0">
                <a:solidFill>
                  <a:srgbClr val="A6ADC8"/>
                </a:solidFill>
                <a:latin typeface="Calibri"/>
              </a:defRPr>
            </a:pPr>
            <a:r>
              <a:t>Add physics</a:t>
            </a:r>
          </a:p>
        </p:txBody>
      </p:sp>
      <p:sp>
        <p:nvSpPr>
          <p:cNvPr id="14" name="TextBox 13"/>
          <p:cNvSpPr txBox="1"/>
          <p:nvPr/>
        </p:nvSpPr>
        <p:spPr>
          <a:xfrm>
            <a:off x="6035040" y="2743200"/>
            <a:ext cx="365760" cy="457200"/>
          </a:xfrm>
          <a:prstGeom prst="rect">
            <a:avLst/>
          </a:prstGeom>
          <a:noFill/>
        </p:spPr>
        <p:txBody>
          <a:bodyPr wrap="square">
            <a:spAutoFit/>
          </a:bodyPr>
          <a:lstStyle/>
          <a:p>
            <a:pPr algn="ctr">
              <a:defRPr sz="2800" b="0">
                <a:solidFill>
                  <a:srgbClr val="A6ADC8"/>
                </a:solidFill>
                <a:latin typeface="Calibri"/>
              </a:defRPr>
            </a:pPr>
            <a:r>
              <a:t>→</a:t>
            </a:r>
          </a:p>
        </p:txBody>
      </p:sp>
      <p:sp>
        <p:nvSpPr>
          <p:cNvPr id="15" name="Rounded Rectangle 14"/>
          <p:cNvSpPr/>
          <p:nvPr/>
        </p:nvSpPr>
        <p:spPr>
          <a:xfrm>
            <a:off x="6309360" y="1371600"/>
            <a:ext cx="2651760" cy="4114800"/>
          </a:xfrm>
          <a:prstGeom prst="roundRect">
            <a:avLst/>
          </a:prstGeom>
          <a:solidFill>
            <a:srgbClr val="1E1E2E"/>
          </a:solidFill>
          <a:ln w="38100">
            <a:solidFill>
              <a:srgbClr val="FAB3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1463040"/>
            <a:ext cx="2468880" cy="457200"/>
          </a:xfrm>
          <a:prstGeom prst="rect">
            <a:avLst/>
          </a:prstGeom>
          <a:noFill/>
        </p:spPr>
        <p:txBody>
          <a:bodyPr wrap="square">
            <a:spAutoFit/>
          </a:bodyPr>
          <a:lstStyle/>
          <a:p>
            <a:pPr algn="ctr">
              <a:defRPr sz="2200" b="1">
                <a:solidFill>
                  <a:srgbClr val="FAB387"/>
                </a:solidFill>
                <a:latin typeface="Calibri"/>
              </a:defRPr>
            </a:pPr>
            <a:r>
              <a:t>Phase 3</a:t>
            </a:r>
          </a:p>
        </p:txBody>
      </p:sp>
      <p:sp>
        <p:nvSpPr>
          <p:cNvPr id="17" name="TextBox 16"/>
          <p:cNvSpPr txBox="1"/>
          <p:nvPr/>
        </p:nvSpPr>
        <p:spPr>
          <a:xfrm>
            <a:off x="6400800" y="2011680"/>
            <a:ext cx="2468880" cy="914400"/>
          </a:xfrm>
          <a:prstGeom prst="rect">
            <a:avLst/>
          </a:prstGeom>
          <a:noFill/>
        </p:spPr>
        <p:txBody>
          <a:bodyPr wrap="square">
            <a:spAutoFit/>
          </a:bodyPr>
          <a:lstStyle/>
          <a:p>
            <a:pPr algn="ctr">
              <a:defRPr sz="1600" b="0">
                <a:solidFill>
                  <a:srgbClr val="CDD6F4"/>
                </a:solidFill>
                <a:latin typeface="Calibri"/>
              </a:defRPr>
            </a:pPr>
            <a:r>
              <a:t>Non-Ideal</a:t>
            </a:r>
            <a:br/>
            <a:r>
              <a:t>Effects</a:t>
            </a:r>
          </a:p>
        </p:txBody>
      </p:sp>
      <p:sp>
        <p:nvSpPr>
          <p:cNvPr id="18" name="TextBox 17"/>
          <p:cNvSpPr txBox="1"/>
          <p:nvPr/>
        </p:nvSpPr>
        <p:spPr>
          <a:xfrm>
            <a:off x="6400800" y="3017520"/>
            <a:ext cx="2468880" cy="914400"/>
          </a:xfrm>
          <a:prstGeom prst="rect">
            <a:avLst/>
          </a:prstGeom>
          <a:noFill/>
        </p:spPr>
        <p:txBody>
          <a:bodyPr wrap="square">
            <a:spAutoFit/>
          </a:bodyPr>
          <a:lstStyle/>
          <a:p>
            <a:pPr algn="ctr">
              <a:defRPr sz="1500" b="1">
                <a:solidFill>
                  <a:srgbClr val="FFFFFF"/>
                </a:solidFill>
                <a:latin typeface="Calibri"/>
              </a:defRPr>
            </a:pPr>
            <a:r>
              <a:t>GRU: ~83%</a:t>
            </a:r>
            <a:br/>
            <a:r>
              <a:t>Bayes: ~84%</a:t>
            </a:r>
          </a:p>
        </p:txBody>
      </p:sp>
      <p:sp>
        <p:nvSpPr>
          <p:cNvPr id="19" name="TextBox 18"/>
          <p:cNvSpPr txBox="1"/>
          <p:nvPr/>
        </p:nvSpPr>
        <p:spPr>
          <a:xfrm>
            <a:off x="6400800" y="4389120"/>
            <a:ext cx="2468880" cy="731520"/>
          </a:xfrm>
          <a:prstGeom prst="rect">
            <a:avLst/>
          </a:prstGeom>
          <a:noFill/>
        </p:spPr>
        <p:txBody>
          <a:bodyPr wrap="square">
            <a:spAutoFit/>
          </a:bodyPr>
          <a:lstStyle/>
          <a:p>
            <a:pPr algn="ctr">
              <a:defRPr sz="1200" b="0">
                <a:solidFill>
                  <a:srgbClr val="A6ADC8"/>
                </a:solidFill>
                <a:latin typeface="Calibri"/>
              </a:defRPr>
            </a:pPr>
            <a:r>
              <a:t>Add hardware</a:t>
            </a:r>
            <a:br/>
            <a:r>
              <a:t>imperfections</a:t>
            </a:r>
          </a:p>
        </p:txBody>
      </p:sp>
      <p:sp>
        <p:nvSpPr>
          <p:cNvPr id="20" name="TextBox 19"/>
          <p:cNvSpPr txBox="1"/>
          <p:nvPr/>
        </p:nvSpPr>
        <p:spPr>
          <a:xfrm>
            <a:off x="8961120" y="2743200"/>
            <a:ext cx="365760" cy="457200"/>
          </a:xfrm>
          <a:prstGeom prst="rect">
            <a:avLst/>
          </a:prstGeom>
          <a:noFill/>
        </p:spPr>
        <p:txBody>
          <a:bodyPr wrap="square">
            <a:spAutoFit/>
          </a:bodyPr>
          <a:lstStyle/>
          <a:p>
            <a:pPr algn="ctr">
              <a:defRPr sz="2800" b="0">
                <a:solidFill>
                  <a:srgbClr val="A6ADC8"/>
                </a:solidFill>
                <a:latin typeface="Calibri"/>
              </a:defRPr>
            </a:pPr>
            <a:r>
              <a:t>→</a:t>
            </a:r>
          </a:p>
        </p:txBody>
      </p:sp>
      <p:sp>
        <p:nvSpPr>
          <p:cNvPr id="21" name="Rounded Rectangle 20"/>
          <p:cNvSpPr/>
          <p:nvPr/>
        </p:nvSpPr>
        <p:spPr>
          <a:xfrm>
            <a:off x="9235440" y="1371600"/>
            <a:ext cx="2651760" cy="4114800"/>
          </a:xfrm>
          <a:prstGeom prst="roundRect">
            <a:avLst/>
          </a:prstGeom>
          <a:solidFill>
            <a:srgbClr val="1E1E2E"/>
          </a:solidFill>
          <a:ln w="38100">
            <a:solidFill>
              <a:srgbClr val="A6E3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26880" y="1463040"/>
            <a:ext cx="2468880" cy="457200"/>
          </a:xfrm>
          <a:prstGeom prst="rect">
            <a:avLst/>
          </a:prstGeom>
          <a:noFill/>
        </p:spPr>
        <p:txBody>
          <a:bodyPr wrap="square">
            <a:spAutoFit/>
          </a:bodyPr>
          <a:lstStyle/>
          <a:p>
            <a:pPr algn="ctr">
              <a:defRPr sz="2200" b="1">
                <a:solidFill>
                  <a:srgbClr val="A6E3A1"/>
                </a:solidFill>
                <a:latin typeface="Calibri"/>
              </a:defRPr>
            </a:pPr>
            <a:r>
              <a:t>Phase 4</a:t>
            </a:r>
          </a:p>
        </p:txBody>
      </p:sp>
      <p:sp>
        <p:nvSpPr>
          <p:cNvPr id="23" name="TextBox 22"/>
          <p:cNvSpPr txBox="1"/>
          <p:nvPr/>
        </p:nvSpPr>
        <p:spPr>
          <a:xfrm>
            <a:off x="9326880" y="2011680"/>
            <a:ext cx="2468880" cy="914400"/>
          </a:xfrm>
          <a:prstGeom prst="rect">
            <a:avLst/>
          </a:prstGeom>
          <a:noFill/>
        </p:spPr>
        <p:txBody>
          <a:bodyPr wrap="square">
            <a:spAutoFit/>
          </a:bodyPr>
          <a:lstStyle/>
          <a:p>
            <a:pPr algn="ctr">
              <a:defRPr sz="1600" b="0">
                <a:solidFill>
                  <a:srgbClr val="CDD6F4"/>
                </a:solidFill>
                <a:latin typeface="Calibri"/>
              </a:defRPr>
            </a:pPr>
            <a:r>
              <a:t>Drifting</a:t>
            </a:r>
            <a:br/>
            <a:r>
              <a:t>Parameters</a:t>
            </a:r>
          </a:p>
        </p:txBody>
      </p:sp>
      <p:sp>
        <p:nvSpPr>
          <p:cNvPr id="24" name="TextBox 23"/>
          <p:cNvSpPr txBox="1"/>
          <p:nvPr/>
        </p:nvSpPr>
        <p:spPr>
          <a:xfrm>
            <a:off x="9326880" y="3017520"/>
            <a:ext cx="2468880" cy="914400"/>
          </a:xfrm>
          <a:prstGeom prst="rect">
            <a:avLst/>
          </a:prstGeom>
          <a:noFill/>
        </p:spPr>
        <p:txBody>
          <a:bodyPr wrap="square">
            <a:spAutoFit/>
          </a:bodyPr>
          <a:lstStyle/>
          <a:p>
            <a:pPr algn="ctr">
              <a:defRPr sz="1500" b="1">
                <a:solidFill>
                  <a:srgbClr val="FFFFFF"/>
                </a:solidFill>
                <a:latin typeface="Calibri"/>
              </a:defRPr>
            </a:pPr>
            <a:r>
              <a:t>Hybrid: ____%</a:t>
            </a:r>
            <a:br/>
            <a:r>
              <a:t>Static: ____%</a:t>
            </a:r>
          </a:p>
        </p:txBody>
      </p:sp>
      <p:sp>
        <p:nvSpPr>
          <p:cNvPr id="25" name="TextBox 24"/>
          <p:cNvSpPr txBox="1"/>
          <p:nvPr/>
        </p:nvSpPr>
        <p:spPr>
          <a:xfrm>
            <a:off x="9326880" y="4389120"/>
            <a:ext cx="2468880" cy="731520"/>
          </a:xfrm>
          <a:prstGeom prst="rect">
            <a:avLst/>
          </a:prstGeom>
          <a:noFill/>
        </p:spPr>
        <p:txBody>
          <a:bodyPr wrap="square">
            <a:spAutoFit/>
          </a:bodyPr>
          <a:lstStyle/>
          <a:p>
            <a:pPr algn="ctr">
              <a:defRPr sz="1200" b="0">
                <a:solidFill>
                  <a:srgbClr val="A6ADC8"/>
                </a:solidFill>
                <a:latin typeface="Calibri"/>
              </a:defRPr>
            </a:pPr>
            <a:r>
              <a:t>Hardware changes</a:t>
            </a:r>
            <a:br/>
            <a:r>
              <a:t>during operation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731520" y="365760"/>
            <a:ext cx="10058400" cy="731520"/>
          </a:xfrm>
          <a:prstGeom prst="rect">
            <a:avLst/>
          </a:prstGeom>
          <a:noFill/>
        </p:spPr>
        <p:txBody>
          <a:bodyPr wrap="square">
            <a:spAutoFit/>
          </a:bodyPr>
          <a:lstStyle/>
          <a:p>
            <a:pPr algn="l">
              <a:defRPr sz="3200" b="1">
                <a:solidFill>
                  <a:srgbClr val="FFFFFF"/>
                </a:solidFill>
                <a:latin typeface="Calibri"/>
              </a:defRPr>
            </a:pPr>
            <a:r>
              <a:t>What's Novel Here</a:t>
            </a:r>
          </a:p>
        </p:txBody>
      </p:sp>
      <p:sp>
        <p:nvSpPr>
          <p:cNvPr id="3" name="TextBox 2"/>
          <p:cNvSpPr txBox="1"/>
          <p:nvPr/>
        </p:nvSpPr>
        <p:spPr>
          <a:xfrm>
            <a:off x="731520" y="1371600"/>
            <a:ext cx="548640" cy="457200"/>
          </a:xfrm>
          <a:prstGeom prst="rect">
            <a:avLst/>
          </a:prstGeom>
          <a:noFill/>
        </p:spPr>
        <p:txBody>
          <a:bodyPr wrap="square">
            <a:spAutoFit/>
          </a:bodyPr>
          <a:lstStyle/>
          <a:p>
            <a:pPr algn="l">
              <a:defRPr sz="2800" b="1">
                <a:solidFill>
                  <a:srgbClr val="A6E3A1"/>
                </a:solidFill>
                <a:latin typeface="Calibri"/>
              </a:defRPr>
            </a:pPr>
            <a:r>
              <a:t>1</a:t>
            </a:r>
          </a:p>
        </p:txBody>
      </p:sp>
      <p:sp>
        <p:nvSpPr>
          <p:cNvPr id="4" name="TextBox 3"/>
          <p:cNvSpPr txBox="1"/>
          <p:nvPr/>
        </p:nvSpPr>
        <p:spPr>
          <a:xfrm>
            <a:off x="1371600" y="1371600"/>
            <a:ext cx="9144000" cy="457200"/>
          </a:xfrm>
          <a:prstGeom prst="rect">
            <a:avLst/>
          </a:prstGeom>
          <a:noFill/>
        </p:spPr>
        <p:txBody>
          <a:bodyPr wrap="square">
            <a:spAutoFit/>
          </a:bodyPr>
          <a:lstStyle/>
          <a:p>
            <a:pPr algn="l">
              <a:defRPr sz="2000" b="1">
                <a:solidFill>
                  <a:srgbClr val="FFFFFF"/>
                </a:solidFill>
                <a:latin typeface="Calibri"/>
              </a:defRPr>
            </a:pPr>
            <a:r>
              <a:t>First adaptive ML decoder for QEC</a:t>
            </a:r>
          </a:p>
        </p:txBody>
      </p:sp>
      <p:sp>
        <p:nvSpPr>
          <p:cNvPr id="5" name="TextBox 4"/>
          <p:cNvSpPr txBox="1"/>
          <p:nvPr/>
        </p:nvSpPr>
        <p:spPr>
          <a:xfrm>
            <a:off x="1371600" y="1783080"/>
            <a:ext cx="9144000" cy="457200"/>
          </a:xfrm>
          <a:prstGeom prst="rect">
            <a:avLst/>
          </a:prstGeom>
          <a:noFill/>
        </p:spPr>
        <p:txBody>
          <a:bodyPr wrap="square">
            <a:spAutoFit/>
          </a:bodyPr>
          <a:lstStyle/>
          <a:p>
            <a:pPr algn="l">
              <a:defRPr sz="1500" b="0">
                <a:solidFill>
                  <a:srgbClr val="A6ADC8"/>
                </a:solidFill>
                <a:latin typeface="Calibri"/>
              </a:defRPr>
            </a:pPr>
            <a:r>
              <a:t>Online learning during inference — nobody has done this</a:t>
            </a:r>
          </a:p>
        </p:txBody>
      </p:sp>
      <p:sp>
        <p:nvSpPr>
          <p:cNvPr id="6" name="TextBox 5"/>
          <p:cNvSpPr txBox="1"/>
          <p:nvPr/>
        </p:nvSpPr>
        <p:spPr>
          <a:xfrm>
            <a:off x="731520" y="2560320"/>
            <a:ext cx="548640" cy="457200"/>
          </a:xfrm>
          <a:prstGeom prst="rect">
            <a:avLst/>
          </a:prstGeom>
          <a:noFill/>
        </p:spPr>
        <p:txBody>
          <a:bodyPr wrap="square">
            <a:spAutoFit/>
          </a:bodyPr>
          <a:lstStyle/>
          <a:p>
            <a:pPr algn="l">
              <a:defRPr sz="2800" b="1">
                <a:solidFill>
                  <a:srgbClr val="89B4FA"/>
                </a:solidFill>
                <a:latin typeface="Calibri"/>
              </a:defRPr>
            </a:pPr>
            <a:r>
              <a:t>2</a:t>
            </a:r>
          </a:p>
        </p:txBody>
      </p:sp>
      <p:sp>
        <p:nvSpPr>
          <p:cNvPr id="7" name="TextBox 6"/>
          <p:cNvSpPr txBox="1"/>
          <p:nvPr/>
        </p:nvSpPr>
        <p:spPr>
          <a:xfrm>
            <a:off x="1371600" y="2560320"/>
            <a:ext cx="9144000" cy="457200"/>
          </a:xfrm>
          <a:prstGeom prst="rect">
            <a:avLst/>
          </a:prstGeom>
          <a:noFill/>
        </p:spPr>
        <p:txBody>
          <a:bodyPr wrap="square">
            <a:spAutoFit/>
          </a:bodyPr>
          <a:lstStyle/>
          <a:p>
            <a:pPr algn="l">
              <a:defRPr sz="2000" b="1">
                <a:solidFill>
                  <a:srgbClr val="FFFFFF"/>
                </a:solidFill>
                <a:latin typeface="Calibri"/>
              </a:defRPr>
            </a:pPr>
            <a:r>
              <a:t>Time-varying non-ideality simulator</a:t>
            </a:r>
          </a:p>
        </p:txBody>
      </p:sp>
      <p:sp>
        <p:nvSpPr>
          <p:cNvPr id="8" name="TextBox 7"/>
          <p:cNvSpPr txBox="1"/>
          <p:nvPr/>
        </p:nvSpPr>
        <p:spPr>
          <a:xfrm>
            <a:off x="1371600" y="2971800"/>
            <a:ext cx="9144000" cy="457200"/>
          </a:xfrm>
          <a:prstGeom prst="rect">
            <a:avLst/>
          </a:prstGeom>
          <a:noFill/>
        </p:spPr>
        <p:txBody>
          <a:bodyPr wrap="square">
            <a:spAutoFit/>
          </a:bodyPr>
          <a:lstStyle/>
          <a:p>
            <a:pPr algn="l">
              <a:defRPr sz="1500" b="0">
                <a:solidFill>
                  <a:srgbClr val="A6ADC8"/>
                </a:solidFill>
                <a:latin typeface="Calibri"/>
              </a:defRPr>
            </a:pPr>
            <a:r>
              <a:t>Parameters drift within trajectories, not just between them</a:t>
            </a:r>
          </a:p>
        </p:txBody>
      </p:sp>
      <p:sp>
        <p:nvSpPr>
          <p:cNvPr id="9" name="TextBox 8"/>
          <p:cNvSpPr txBox="1"/>
          <p:nvPr/>
        </p:nvSpPr>
        <p:spPr>
          <a:xfrm>
            <a:off x="731520" y="3749039"/>
            <a:ext cx="548640" cy="457200"/>
          </a:xfrm>
          <a:prstGeom prst="rect">
            <a:avLst/>
          </a:prstGeom>
          <a:noFill/>
        </p:spPr>
        <p:txBody>
          <a:bodyPr wrap="square">
            <a:spAutoFit/>
          </a:bodyPr>
          <a:lstStyle/>
          <a:p>
            <a:pPr algn="l">
              <a:defRPr sz="2800" b="1">
                <a:solidFill>
                  <a:srgbClr val="FAB387"/>
                </a:solidFill>
                <a:latin typeface="Calibri"/>
              </a:defRPr>
            </a:pPr>
            <a:r>
              <a:t>3</a:t>
            </a:r>
          </a:p>
        </p:txBody>
      </p:sp>
      <p:sp>
        <p:nvSpPr>
          <p:cNvPr id="10" name="TextBox 9"/>
          <p:cNvSpPr txBox="1"/>
          <p:nvPr/>
        </p:nvSpPr>
        <p:spPr>
          <a:xfrm>
            <a:off x="1371600" y="3749039"/>
            <a:ext cx="9144000" cy="457200"/>
          </a:xfrm>
          <a:prstGeom prst="rect">
            <a:avLst/>
          </a:prstGeom>
          <a:noFill/>
        </p:spPr>
        <p:txBody>
          <a:bodyPr wrap="square">
            <a:spAutoFit/>
          </a:bodyPr>
          <a:lstStyle/>
          <a:p>
            <a:pPr algn="l">
              <a:defRPr sz="2000" b="1">
                <a:solidFill>
                  <a:srgbClr val="FFFFFF"/>
                </a:solidFill>
                <a:latin typeface="Calibri"/>
              </a:defRPr>
            </a:pPr>
            <a:r>
              <a:t>Hybrid supervision strategy</a:t>
            </a:r>
          </a:p>
        </p:txBody>
      </p:sp>
      <p:sp>
        <p:nvSpPr>
          <p:cNvPr id="11" name="TextBox 10"/>
          <p:cNvSpPr txBox="1"/>
          <p:nvPr/>
        </p:nvSpPr>
        <p:spPr>
          <a:xfrm>
            <a:off x="1371600" y="4160520"/>
            <a:ext cx="9144000" cy="457200"/>
          </a:xfrm>
          <a:prstGeom prst="rect">
            <a:avLst/>
          </a:prstGeom>
          <a:noFill/>
        </p:spPr>
        <p:txBody>
          <a:bodyPr wrap="square">
            <a:spAutoFit/>
          </a:bodyPr>
          <a:lstStyle/>
          <a:p>
            <a:pPr algn="l">
              <a:defRPr sz="1500" b="0">
                <a:solidFill>
                  <a:srgbClr val="A6ADC8"/>
                </a:solidFill>
                <a:latin typeface="Calibri"/>
              </a:defRPr>
            </a:pPr>
            <a:r>
              <a:t>Periodic recalibration + pseudo-labels beats pure self-training</a:t>
            </a:r>
          </a:p>
        </p:txBody>
      </p:sp>
      <p:sp>
        <p:nvSpPr>
          <p:cNvPr id="12" name="TextBox 11"/>
          <p:cNvSpPr txBox="1"/>
          <p:nvPr/>
        </p:nvSpPr>
        <p:spPr>
          <a:xfrm>
            <a:off x="731520" y="4937760"/>
            <a:ext cx="548640" cy="457200"/>
          </a:xfrm>
          <a:prstGeom prst="rect">
            <a:avLst/>
          </a:prstGeom>
          <a:noFill/>
        </p:spPr>
        <p:txBody>
          <a:bodyPr wrap="square">
            <a:spAutoFit/>
          </a:bodyPr>
          <a:lstStyle/>
          <a:p>
            <a:pPr algn="l">
              <a:defRPr sz="2800" b="1">
                <a:solidFill>
                  <a:srgbClr val="CBA6F7"/>
                </a:solidFill>
                <a:latin typeface="Calibri"/>
              </a:defRPr>
            </a:pPr>
            <a:r>
              <a:t>4</a:t>
            </a:r>
          </a:p>
        </p:txBody>
      </p:sp>
      <p:sp>
        <p:nvSpPr>
          <p:cNvPr id="13" name="TextBox 12"/>
          <p:cNvSpPr txBox="1"/>
          <p:nvPr/>
        </p:nvSpPr>
        <p:spPr>
          <a:xfrm>
            <a:off x="1371600" y="4937760"/>
            <a:ext cx="9144000" cy="457200"/>
          </a:xfrm>
          <a:prstGeom prst="rect">
            <a:avLst/>
          </a:prstGeom>
          <a:noFill/>
        </p:spPr>
        <p:txBody>
          <a:bodyPr wrap="square">
            <a:spAutoFit/>
          </a:bodyPr>
          <a:lstStyle/>
          <a:p>
            <a:pPr algn="l">
              <a:defRPr sz="2000" b="1">
                <a:solidFill>
                  <a:srgbClr val="FFFFFF"/>
                </a:solidFill>
                <a:latin typeface="Calibri"/>
              </a:defRPr>
            </a:pPr>
            <a:r>
              <a:t>Comprehensive benchmark</a:t>
            </a:r>
          </a:p>
        </p:txBody>
      </p:sp>
      <p:sp>
        <p:nvSpPr>
          <p:cNvPr id="14" name="TextBox 13"/>
          <p:cNvSpPr txBox="1"/>
          <p:nvPr/>
        </p:nvSpPr>
        <p:spPr>
          <a:xfrm>
            <a:off x="1371600" y="5349240"/>
            <a:ext cx="9144000" cy="457200"/>
          </a:xfrm>
          <a:prstGeom prst="rect">
            <a:avLst/>
          </a:prstGeom>
          <a:noFill/>
        </p:spPr>
        <p:txBody>
          <a:bodyPr wrap="square">
            <a:spAutoFit/>
          </a:bodyPr>
          <a:lstStyle/>
          <a:p>
            <a:pPr algn="l">
              <a:defRPr sz="1500" b="0">
                <a:solidFill>
                  <a:srgbClr val="A6ADC8"/>
                </a:solidFill>
                <a:latin typeface="Calibri"/>
              </a:defRPr>
            </a:pPr>
            <a:r>
              <a:t>5 decoders × 4 phases of realism, 200+ unit tests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731520" y="365760"/>
            <a:ext cx="10058400" cy="731520"/>
          </a:xfrm>
          <a:prstGeom prst="rect">
            <a:avLst/>
          </a:prstGeom>
          <a:noFill/>
        </p:spPr>
        <p:txBody>
          <a:bodyPr wrap="square">
            <a:spAutoFit/>
          </a:bodyPr>
          <a:lstStyle/>
          <a:p>
            <a:pPr algn="l">
              <a:defRPr sz="3200" b="1">
                <a:solidFill>
                  <a:srgbClr val="FFFFFF"/>
                </a:solidFill>
                <a:latin typeface="Calibri"/>
              </a:defRPr>
            </a:pPr>
            <a:r>
              <a:t>Future Work &amp; Path to Impact</a:t>
            </a:r>
          </a:p>
        </p:txBody>
      </p:sp>
      <p:sp>
        <p:nvSpPr>
          <p:cNvPr id="3" name="TextBox 2"/>
          <p:cNvSpPr txBox="1"/>
          <p:nvPr/>
        </p:nvSpPr>
        <p:spPr>
          <a:xfrm>
            <a:off x="1097280" y="1371600"/>
            <a:ext cx="3200400" cy="457200"/>
          </a:xfrm>
          <a:prstGeom prst="rect">
            <a:avLst/>
          </a:prstGeom>
          <a:noFill/>
        </p:spPr>
        <p:txBody>
          <a:bodyPr wrap="square">
            <a:spAutoFit/>
          </a:bodyPr>
          <a:lstStyle/>
          <a:p>
            <a:pPr algn="l">
              <a:defRPr sz="1800" b="1">
                <a:solidFill>
                  <a:srgbClr val="89B4FA"/>
                </a:solidFill>
                <a:latin typeface="Calibri"/>
              </a:defRPr>
            </a:pPr>
            <a:r>
              <a:t>→  Larger codes</a:t>
            </a:r>
          </a:p>
        </p:txBody>
      </p:sp>
      <p:sp>
        <p:nvSpPr>
          <p:cNvPr id="4" name="TextBox 3"/>
          <p:cNvSpPr txBox="1"/>
          <p:nvPr/>
        </p:nvSpPr>
        <p:spPr>
          <a:xfrm>
            <a:off x="4389120" y="1371600"/>
            <a:ext cx="7315200" cy="457200"/>
          </a:xfrm>
          <a:prstGeom prst="rect">
            <a:avLst/>
          </a:prstGeom>
          <a:noFill/>
        </p:spPr>
        <p:txBody>
          <a:bodyPr wrap="square">
            <a:spAutoFit/>
          </a:bodyPr>
          <a:lstStyle/>
          <a:p>
            <a:pPr algn="l">
              <a:defRPr sz="1600" b="0">
                <a:solidFill>
                  <a:srgbClr val="CDD6F4"/>
                </a:solidFill>
                <a:latin typeface="Calibri"/>
              </a:defRPr>
            </a:pPr>
            <a:r>
              <a:t>Scale from 3-qubit to surface codes (the industry standard)</a:t>
            </a:r>
          </a:p>
        </p:txBody>
      </p:sp>
      <p:sp>
        <p:nvSpPr>
          <p:cNvPr id="5" name="TextBox 4"/>
          <p:cNvSpPr txBox="1"/>
          <p:nvPr/>
        </p:nvSpPr>
        <p:spPr>
          <a:xfrm>
            <a:off x="1097280" y="2377440"/>
            <a:ext cx="3200400" cy="457200"/>
          </a:xfrm>
          <a:prstGeom prst="rect">
            <a:avLst/>
          </a:prstGeom>
          <a:noFill/>
        </p:spPr>
        <p:txBody>
          <a:bodyPr wrap="square">
            <a:spAutoFit/>
          </a:bodyPr>
          <a:lstStyle/>
          <a:p>
            <a:pPr algn="l">
              <a:defRPr sz="1800" b="1">
                <a:solidFill>
                  <a:srgbClr val="89B4FA"/>
                </a:solidFill>
                <a:latin typeface="Calibri"/>
              </a:defRPr>
            </a:pPr>
            <a:r>
              <a:t>→  Real hardware</a:t>
            </a:r>
          </a:p>
        </p:txBody>
      </p:sp>
      <p:sp>
        <p:nvSpPr>
          <p:cNvPr id="6" name="TextBox 5"/>
          <p:cNvSpPr txBox="1"/>
          <p:nvPr/>
        </p:nvSpPr>
        <p:spPr>
          <a:xfrm>
            <a:off x="4389120" y="2377440"/>
            <a:ext cx="7315200" cy="457200"/>
          </a:xfrm>
          <a:prstGeom prst="rect">
            <a:avLst/>
          </a:prstGeom>
          <a:noFill/>
        </p:spPr>
        <p:txBody>
          <a:bodyPr wrap="square">
            <a:spAutoFit/>
          </a:bodyPr>
          <a:lstStyle/>
          <a:p>
            <a:pPr algn="l">
              <a:defRPr sz="1600" b="0">
                <a:solidFill>
                  <a:srgbClr val="CDD6F4"/>
                </a:solidFill>
                <a:latin typeface="Calibri"/>
              </a:defRPr>
            </a:pPr>
            <a:r>
              <a:t>Validate on IBM / Google superconducting qubits</a:t>
            </a:r>
          </a:p>
        </p:txBody>
      </p:sp>
      <p:sp>
        <p:nvSpPr>
          <p:cNvPr id="7" name="TextBox 6"/>
          <p:cNvSpPr txBox="1"/>
          <p:nvPr/>
        </p:nvSpPr>
        <p:spPr>
          <a:xfrm>
            <a:off x="1097280" y="3383280"/>
            <a:ext cx="3200400" cy="457200"/>
          </a:xfrm>
          <a:prstGeom prst="rect">
            <a:avLst/>
          </a:prstGeom>
          <a:noFill/>
        </p:spPr>
        <p:txBody>
          <a:bodyPr wrap="square">
            <a:spAutoFit/>
          </a:bodyPr>
          <a:lstStyle/>
          <a:p>
            <a:pPr algn="l">
              <a:defRPr sz="1800" b="1">
                <a:solidFill>
                  <a:srgbClr val="89B4FA"/>
                </a:solidFill>
                <a:latin typeface="Calibri"/>
              </a:defRPr>
            </a:pPr>
            <a:r>
              <a:t>→  Smarter adaptation</a:t>
            </a:r>
          </a:p>
        </p:txBody>
      </p:sp>
      <p:sp>
        <p:nvSpPr>
          <p:cNvPr id="8" name="TextBox 7"/>
          <p:cNvSpPr txBox="1"/>
          <p:nvPr/>
        </p:nvSpPr>
        <p:spPr>
          <a:xfrm>
            <a:off x="4389120" y="3383280"/>
            <a:ext cx="7315200" cy="457200"/>
          </a:xfrm>
          <a:prstGeom prst="rect">
            <a:avLst/>
          </a:prstGeom>
          <a:noFill/>
        </p:spPr>
        <p:txBody>
          <a:bodyPr wrap="square">
            <a:spAutoFit/>
          </a:bodyPr>
          <a:lstStyle/>
          <a:p>
            <a:pPr algn="l">
              <a:defRPr sz="1600" b="0">
                <a:solidFill>
                  <a:srgbClr val="CDD6F4"/>
                </a:solidFill>
                <a:latin typeface="Calibri"/>
              </a:defRPr>
            </a:pPr>
            <a:r>
              <a:t>Meta-learning to adapt faster, ensemble methods</a:t>
            </a:r>
          </a:p>
        </p:txBody>
      </p:sp>
      <p:sp>
        <p:nvSpPr>
          <p:cNvPr id="9" name="TextBox 8"/>
          <p:cNvSpPr txBox="1"/>
          <p:nvPr/>
        </p:nvSpPr>
        <p:spPr>
          <a:xfrm>
            <a:off x="1097280" y="4389120"/>
            <a:ext cx="3200400" cy="457200"/>
          </a:xfrm>
          <a:prstGeom prst="rect">
            <a:avLst/>
          </a:prstGeom>
          <a:noFill/>
        </p:spPr>
        <p:txBody>
          <a:bodyPr wrap="square">
            <a:spAutoFit/>
          </a:bodyPr>
          <a:lstStyle/>
          <a:p>
            <a:pPr algn="l">
              <a:defRPr sz="1800" b="1">
                <a:solidFill>
                  <a:srgbClr val="89B4FA"/>
                </a:solidFill>
                <a:latin typeface="Calibri"/>
              </a:defRPr>
            </a:pPr>
            <a:r>
              <a:t>→  Multi-task learning</a:t>
            </a:r>
          </a:p>
        </p:txBody>
      </p:sp>
      <p:sp>
        <p:nvSpPr>
          <p:cNvPr id="10" name="TextBox 9"/>
          <p:cNvSpPr txBox="1"/>
          <p:nvPr/>
        </p:nvSpPr>
        <p:spPr>
          <a:xfrm>
            <a:off x="4389120" y="4389120"/>
            <a:ext cx="7315200" cy="457200"/>
          </a:xfrm>
          <a:prstGeom prst="rect">
            <a:avLst/>
          </a:prstGeom>
          <a:noFill/>
        </p:spPr>
        <p:txBody>
          <a:bodyPr wrap="square">
            <a:spAutoFit/>
          </a:bodyPr>
          <a:lstStyle/>
          <a:p>
            <a:pPr algn="l">
              <a:defRPr sz="1600" b="0">
                <a:solidFill>
                  <a:srgbClr val="CDD6F4"/>
                </a:solidFill>
                <a:latin typeface="Calibri"/>
              </a:defRPr>
            </a:pPr>
            <a:r>
              <a:t>Simultaneously decode errors AND estimate drifting parameters</a:t>
            </a:r>
          </a:p>
        </p:txBody>
      </p:sp>
      <p:sp>
        <p:nvSpPr>
          <p:cNvPr id="11" name="TextBox 10"/>
          <p:cNvSpPr txBox="1"/>
          <p:nvPr/>
        </p:nvSpPr>
        <p:spPr>
          <a:xfrm>
            <a:off x="1097280" y="5394960"/>
            <a:ext cx="3200400" cy="457200"/>
          </a:xfrm>
          <a:prstGeom prst="rect">
            <a:avLst/>
          </a:prstGeom>
          <a:noFill/>
        </p:spPr>
        <p:txBody>
          <a:bodyPr wrap="square">
            <a:spAutoFit/>
          </a:bodyPr>
          <a:lstStyle/>
          <a:p>
            <a:pPr algn="l">
              <a:defRPr sz="1800" b="1">
                <a:solidFill>
                  <a:srgbClr val="89B4FA"/>
                </a:solidFill>
                <a:latin typeface="Calibri"/>
              </a:defRPr>
            </a:pPr>
            <a:r>
              <a:t>→  Publication</a:t>
            </a:r>
          </a:p>
        </p:txBody>
      </p:sp>
      <p:sp>
        <p:nvSpPr>
          <p:cNvPr id="12" name="TextBox 11"/>
          <p:cNvSpPr txBox="1"/>
          <p:nvPr/>
        </p:nvSpPr>
        <p:spPr>
          <a:xfrm>
            <a:off x="4389120" y="5394960"/>
            <a:ext cx="7315200" cy="457200"/>
          </a:xfrm>
          <a:prstGeom prst="rect">
            <a:avLst/>
          </a:prstGeom>
          <a:noFill/>
        </p:spPr>
        <p:txBody>
          <a:bodyPr wrap="square">
            <a:spAutoFit/>
          </a:bodyPr>
          <a:lstStyle/>
          <a:p>
            <a:pPr algn="l">
              <a:defRPr sz="1600" b="0">
                <a:solidFill>
                  <a:srgbClr val="CDD6F4"/>
                </a:solidFill>
                <a:latin typeface="Calibri"/>
              </a:defRPr>
            </a:pPr>
            <a:r>
              <a:t>Quantum ML workshops (NeurIPS, ICML) or journals (PRX Quantum)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914400" y="914400"/>
            <a:ext cx="10058400" cy="1097280"/>
          </a:xfrm>
          <a:prstGeom prst="rect">
            <a:avLst/>
          </a:prstGeom>
          <a:noFill/>
        </p:spPr>
        <p:txBody>
          <a:bodyPr wrap="square">
            <a:spAutoFit/>
          </a:bodyPr>
          <a:lstStyle/>
          <a:p>
            <a:pPr algn="ctr">
              <a:defRPr sz="3600" b="1">
                <a:solidFill>
                  <a:srgbClr val="FFFFFF"/>
                </a:solidFill>
                <a:latin typeface="Calibri"/>
              </a:defRPr>
            </a:pPr>
            <a:r>
              <a:t>Quantum Computers Break.</a:t>
            </a:r>
            <a:br/>
            <a:r>
              <a:t>We Taught a Neural Network to Keep Up.</a:t>
            </a:r>
          </a:p>
        </p:txBody>
      </p:sp>
      <p:sp>
        <p:nvSpPr>
          <p:cNvPr id="3" name="TextBox 2"/>
          <p:cNvSpPr txBox="1"/>
          <p:nvPr/>
        </p:nvSpPr>
        <p:spPr>
          <a:xfrm>
            <a:off x="1371600" y="2743200"/>
            <a:ext cx="9144000" cy="640080"/>
          </a:xfrm>
          <a:prstGeom prst="rect">
            <a:avLst/>
          </a:prstGeom>
          <a:noFill/>
        </p:spPr>
        <p:txBody>
          <a:bodyPr wrap="square">
            <a:spAutoFit/>
          </a:bodyPr>
          <a:lstStyle/>
          <a:p>
            <a:pPr algn="ctr">
              <a:defRPr sz="2200" b="0">
                <a:solidFill>
                  <a:srgbClr val="F38BA8"/>
                </a:solidFill>
                <a:latin typeface="Calibri"/>
              </a:defRPr>
            </a:pPr>
            <a:r>
              <a:t>1.  Model-based decoders fail when hardware doesn't match the model</a:t>
            </a:r>
          </a:p>
        </p:txBody>
      </p:sp>
      <p:sp>
        <p:nvSpPr>
          <p:cNvPr id="4" name="TextBox 3"/>
          <p:cNvSpPr txBox="1"/>
          <p:nvPr/>
        </p:nvSpPr>
        <p:spPr>
          <a:xfrm>
            <a:off x="1371600" y="3566160"/>
            <a:ext cx="9144000" cy="640080"/>
          </a:xfrm>
          <a:prstGeom prst="rect">
            <a:avLst/>
          </a:prstGeom>
          <a:noFill/>
        </p:spPr>
        <p:txBody>
          <a:bodyPr wrap="square">
            <a:spAutoFit/>
          </a:bodyPr>
          <a:lstStyle/>
          <a:p>
            <a:pPr algn="ctr">
              <a:defRPr sz="2200" b="0">
                <a:solidFill>
                  <a:srgbClr val="FAB387"/>
                </a:solidFill>
                <a:latin typeface="Calibri"/>
              </a:defRPr>
            </a:pPr>
            <a:r>
              <a:t>2.  Static ML decoders fail when hardware drifts over time</a:t>
            </a:r>
          </a:p>
        </p:txBody>
      </p:sp>
      <p:sp>
        <p:nvSpPr>
          <p:cNvPr id="5" name="TextBox 4"/>
          <p:cNvSpPr txBox="1"/>
          <p:nvPr/>
        </p:nvSpPr>
        <p:spPr>
          <a:xfrm>
            <a:off x="1371600" y="4389120"/>
            <a:ext cx="9144000" cy="640080"/>
          </a:xfrm>
          <a:prstGeom prst="rect">
            <a:avLst/>
          </a:prstGeom>
          <a:noFill/>
        </p:spPr>
        <p:txBody>
          <a:bodyPr wrap="square">
            <a:spAutoFit/>
          </a:bodyPr>
          <a:lstStyle/>
          <a:p>
            <a:pPr algn="ctr">
              <a:defRPr sz="2200" b="0">
                <a:solidFill>
                  <a:srgbClr val="A6E3A1"/>
                </a:solidFill>
                <a:latin typeface="Calibri"/>
              </a:defRPr>
            </a:pPr>
            <a:r>
              <a:t>3.  Adaptive decoders with periodic recalibration maintain accuracy</a:t>
            </a:r>
          </a:p>
        </p:txBody>
      </p:sp>
      <p:sp>
        <p:nvSpPr>
          <p:cNvPr id="6" name="TextBox 5"/>
          <p:cNvSpPr txBox="1"/>
          <p:nvPr/>
        </p:nvSpPr>
        <p:spPr>
          <a:xfrm>
            <a:off x="914400" y="5486400"/>
            <a:ext cx="10058400" cy="731520"/>
          </a:xfrm>
          <a:prstGeom prst="rect">
            <a:avLst/>
          </a:prstGeom>
          <a:noFill/>
        </p:spPr>
        <p:txBody>
          <a:bodyPr wrap="square">
            <a:spAutoFit/>
          </a:bodyPr>
          <a:lstStyle/>
          <a:p>
            <a:pPr algn="ctr">
              <a:defRPr sz="2000" b="0">
                <a:solidFill>
                  <a:srgbClr val="A6ADC8"/>
                </a:solidFill>
                <a:latin typeface="Calibri"/>
              </a:defRPr>
            </a:pPr>
            <a:r>
              <a:t>Self-calibrating quantum error correction is possible. This is the first step.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731520" y="365760"/>
            <a:ext cx="10058400" cy="731520"/>
          </a:xfrm>
          <a:prstGeom prst="rect">
            <a:avLst/>
          </a:prstGeom>
          <a:noFill/>
        </p:spPr>
        <p:txBody>
          <a:bodyPr wrap="square">
            <a:spAutoFit/>
          </a:bodyPr>
          <a:lstStyle/>
          <a:p>
            <a:pPr algn="l">
              <a:defRPr sz="2800" b="1">
                <a:solidFill>
                  <a:srgbClr val="A6ADC8"/>
                </a:solidFill>
                <a:latin typeface="Calibri"/>
              </a:defRPr>
            </a:pPr>
            <a:r>
              <a:t>Backup: GRU Architecture Detail</a:t>
            </a:r>
          </a:p>
        </p:txBody>
      </p:sp>
      <p:sp>
        <p:nvSpPr>
          <p:cNvPr id="3" name="TextBox 2"/>
          <p:cNvSpPr txBox="1"/>
          <p:nvPr/>
        </p:nvSpPr>
        <p:spPr>
          <a:xfrm>
            <a:off x="731520" y="1371600"/>
            <a:ext cx="10058400" cy="4572000"/>
          </a:xfrm>
          <a:prstGeom prst="rect">
            <a:avLst/>
          </a:prstGeom>
          <a:noFill/>
        </p:spPr>
        <p:txBody>
          <a:bodyPr wrap="square">
            <a:spAutoFit/>
          </a:bodyPr>
          <a:lstStyle/>
          <a:p>
            <a:pPr>
              <a:spcAft>
                <a:spcPts val="800"/>
              </a:spcAft>
              <a:defRPr sz="1600">
                <a:solidFill>
                  <a:srgbClr val="CDD6F4"/>
                </a:solidFill>
                <a:latin typeface="Calibri"/>
              </a:defRPr>
            </a:pPr>
            <a:r>
              <a:t>Input: (window_size, 2) — measurement windows of r₁(t), r₂(t)</a:t>
            </a:r>
          </a:p>
          <a:p>
            <a:pPr>
              <a:spcAft>
                <a:spcPts val="800"/>
              </a:spcAft>
              <a:defRPr sz="1600">
                <a:solidFill>
                  <a:srgbClr val="CDD6F4"/>
                </a:solidFill>
                <a:latin typeface="Calibri"/>
              </a:defRPr>
            </a:pPr>
            <a:r>
              <a:t>GRU: 64 hidden units, 1 layer, batch_first=True</a:t>
            </a:r>
          </a:p>
          <a:p>
            <a:pPr>
              <a:spcAft>
                <a:spcPts val="800"/>
              </a:spcAft>
              <a:defRPr sz="1600">
                <a:solidFill>
                  <a:srgbClr val="CDD6F4"/>
                </a:solidFill>
                <a:latin typeface="Calibri"/>
              </a:defRPr>
            </a:pPr>
            <a:r>
              <a:t>Classifier: Linear(64→32) → ReLU → Dropout(0.1) → Linear(32→4)</a:t>
            </a:r>
          </a:p>
          <a:p>
            <a:pPr>
              <a:spcAft>
                <a:spcPts val="800"/>
              </a:spcAft>
              <a:defRPr sz="1600">
                <a:solidFill>
                  <a:srgbClr val="CDD6F4"/>
                </a:solidFill>
                <a:latin typeface="Calibri"/>
              </a:defRPr>
            </a:pPr>
            <a:r>
              <a:t>Training: Adam optimizer, lr=0.001, 50 epochs, batch_size=256</a:t>
            </a:r>
          </a:p>
          <a:p>
            <a:pPr>
              <a:spcAft>
                <a:spcPts val="800"/>
              </a:spcAft>
              <a:defRPr sz="1600">
                <a:solidFill>
                  <a:srgbClr val="CDD6F4"/>
                </a:solidFill>
                <a:latin typeface="Calibri"/>
              </a:defRPr>
            </a:pPr>
          </a:p>
          <a:p>
            <a:pPr>
              <a:spcAft>
                <a:spcPts val="800"/>
              </a:spcAft>
              <a:defRPr sz="1600">
                <a:solidFill>
                  <a:srgbClr val="CDD6F4"/>
                </a:solidFill>
                <a:latin typeface="Calibri"/>
              </a:defRPr>
            </a:pPr>
            <a:r>
              <a:t>Adaptive additions:</a:t>
            </a:r>
          </a:p>
          <a:p>
            <a:pPr>
              <a:spcAft>
                <a:spcPts val="800"/>
              </a:spcAft>
              <a:defRPr sz="1600">
                <a:solidFill>
                  <a:srgbClr val="CDD6F4"/>
                </a:solidFill>
                <a:latin typeface="Calibri"/>
              </a:defRPr>
            </a:pPr>
            <a:r>
              <a:t>  • EMA gradient buffers (decay=0.7)</a:t>
            </a:r>
          </a:p>
          <a:p>
            <a:pPr>
              <a:spcAft>
                <a:spcPts val="800"/>
              </a:spcAft>
              <a:defRPr sz="1600">
                <a:solidFill>
                  <a:srgbClr val="CDD6F4"/>
                </a:solidFill>
                <a:latin typeface="Calibri"/>
              </a:defRPr>
            </a:pPr>
            <a:r>
              <a:t>  • Online weight updates (adapt_lr=0.001)</a:t>
            </a:r>
          </a:p>
          <a:p>
            <a:pPr>
              <a:spcAft>
                <a:spcPts val="800"/>
              </a:spcAft>
              <a:defRPr sz="1600">
                <a:solidFill>
                  <a:srgbClr val="CDD6F4"/>
                </a:solidFill>
                <a:latin typeface="Calibri"/>
              </a:defRPr>
            </a:pPr>
            <a:r>
              <a:t>  • Confidence threshold for pseudo-labels (0.8)</a:t>
            </a:r>
          </a:p>
          <a:p>
            <a:pPr>
              <a:spcAft>
                <a:spcPts val="800"/>
              </a:spcAft>
              <a:defRPr sz="1600">
                <a:solidFill>
                  <a:srgbClr val="CDD6F4"/>
                </a:solidFill>
                <a:latin typeface="Calibri"/>
              </a:defRPr>
            </a:pPr>
            <a:r>
              <a:t>  • supervised_every parameter for hybrid mode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731520" y="365760"/>
            <a:ext cx="10058400" cy="731520"/>
          </a:xfrm>
          <a:prstGeom prst="rect">
            <a:avLst/>
          </a:prstGeom>
          <a:noFill/>
        </p:spPr>
        <p:txBody>
          <a:bodyPr wrap="square">
            <a:spAutoFit/>
          </a:bodyPr>
          <a:lstStyle/>
          <a:p>
            <a:pPr algn="l">
              <a:defRPr sz="2800" b="1">
                <a:solidFill>
                  <a:srgbClr val="A6ADC8"/>
                </a:solidFill>
                <a:latin typeface="Calibri"/>
              </a:defRPr>
            </a:pPr>
            <a:r>
              <a:t>Backup: Confusion Matrices</a:t>
            </a:r>
          </a:p>
        </p:txBody>
      </p:sp>
      <p:pic>
        <p:nvPicPr>
          <p:cNvPr id="3" name="Picture 2" descr="phase4_confusion_matrices.png"/>
          <p:cNvPicPr>
            <a:picLocks noChangeAspect="1"/>
          </p:cNvPicPr>
          <p:nvPr/>
        </p:nvPicPr>
        <p:blipFill>
          <a:blip r:embed="rId2"/>
          <a:stretch>
            <a:fillRect/>
          </a:stretch>
        </p:blipFill>
        <p:spPr>
          <a:xfrm>
            <a:off x="457200" y="1371600"/>
            <a:ext cx="10972800" cy="4572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731520" y="365760"/>
            <a:ext cx="10058400" cy="731520"/>
          </a:xfrm>
          <a:prstGeom prst="rect">
            <a:avLst/>
          </a:prstGeom>
          <a:noFill/>
        </p:spPr>
        <p:txBody>
          <a:bodyPr wrap="square">
            <a:spAutoFit/>
          </a:bodyPr>
          <a:lstStyle/>
          <a:p>
            <a:pPr algn="l">
              <a:defRPr sz="2800" b="1">
                <a:solidFill>
                  <a:srgbClr val="A6ADC8"/>
                </a:solidFill>
                <a:latin typeface="Calibri"/>
              </a:defRPr>
            </a:pPr>
            <a:r>
              <a:t>Backup: Training Curves</a:t>
            </a:r>
          </a:p>
        </p:txBody>
      </p:sp>
      <p:sp>
        <p:nvSpPr>
          <p:cNvPr id="3" name="TextBox 2"/>
          <p:cNvSpPr txBox="1"/>
          <p:nvPr/>
        </p:nvSpPr>
        <p:spPr>
          <a:xfrm>
            <a:off x="731520" y="1097280"/>
            <a:ext cx="10058400" cy="457200"/>
          </a:xfrm>
          <a:prstGeom prst="rect">
            <a:avLst/>
          </a:prstGeom>
          <a:noFill/>
        </p:spPr>
        <p:txBody>
          <a:bodyPr wrap="square">
            <a:spAutoFit/>
          </a:bodyPr>
          <a:lstStyle/>
          <a:p>
            <a:pPr algn="l">
              <a:defRPr sz="1600" b="0">
                <a:solidFill>
                  <a:srgbClr val="A6ADC8"/>
                </a:solidFill>
                <a:latin typeface="Calibri"/>
              </a:defRPr>
            </a:pPr>
            <a:r>
              <a:t>Static and adaptive GRU have identical training curves — difference is at inference only</a:t>
            </a:r>
          </a:p>
        </p:txBody>
      </p:sp>
      <p:pic>
        <p:nvPicPr>
          <p:cNvPr id="4" name="Picture 3" descr="phase4_training_curves.png"/>
          <p:cNvPicPr>
            <a:picLocks noChangeAspect="1"/>
          </p:cNvPicPr>
          <p:nvPr/>
        </p:nvPicPr>
        <p:blipFill>
          <a:blip r:embed="rId2"/>
          <a:stretch>
            <a:fillRect/>
          </a:stretch>
        </p:blipFill>
        <p:spPr>
          <a:xfrm>
            <a:off x="1371600" y="1828800"/>
            <a:ext cx="9144000" cy="41148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731520" y="365760"/>
            <a:ext cx="10058400" cy="731520"/>
          </a:xfrm>
          <a:prstGeom prst="rect">
            <a:avLst/>
          </a:prstGeom>
          <a:noFill/>
        </p:spPr>
        <p:txBody>
          <a:bodyPr wrap="square">
            <a:spAutoFit/>
          </a:bodyPr>
          <a:lstStyle/>
          <a:p>
            <a:pPr algn="l">
              <a:defRPr sz="2800" b="1">
                <a:solidFill>
                  <a:srgbClr val="A6ADC8"/>
                </a:solidFill>
                <a:latin typeface="Calibri"/>
              </a:defRPr>
            </a:pPr>
            <a:r>
              <a:t>Backup: Test Suite &amp; Reproducibility</a:t>
            </a:r>
          </a:p>
        </p:txBody>
      </p:sp>
      <p:sp>
        <p:nvSpPr>
          <p:cNvPr id="3" name="TextBox 2"/>
          <p:cNvSpPr txBox="1"/>
          <p:nvPr/>
        </p:nvSpPr>
        <p:spPr>
          <a:xfrm>
            <a:off x="731520" y="1371600"/>
            <a:ext cx="10058400" cy="4572000"/>
          </a:xfrm>
          <a:prstGeom prst="rect">
            <a:avLst/>
          </a:prstGeom>
          <a:noFill/>
        </p:spPr>
        <p:txBody>
          <a:bodyPr wrap="square">
            <a:spAutoFit/>
          </a:bodyPr>
          <a:lstStyle/>
          <a:p>
            <a:pPr>
              <a:spcAft>
                <a:spcPts val="800"/>
              </a:spcAft>
              <a:defRPr sz="1600">
                <a:solidFill>
                  <a:srgbClr val="CDD6F4"/>
                </a:solidFill>
                <a:latin typeface="Calibri"/>
              </a:defRPr>
            </a:pPr>
            <a:r>
              <a:t>225+ unit tests across all phases:</a:t>
            </a:r>
          </a:p>
          <a:p>
            <a:pPr>
              <a:spcAft>
                <a:spcPts val="800"/>
              </a:spcAft>
              <a:defRPr sz="1600">
                <a:solidFill>
                  <a:srgbClr val="CDD6F4"/>
                </a:solidFill>
                <a:latin typeface="Calibri"/>
              </a:defRPr>
            </a:pPr>
            <a:r>
              <a:t>  • 44 tests — quantum operator math</a:t>
            </a:r>
          </a:p>
          <a:p>
            <a:pPr>
              <a:spcAft>
                <a:spcPts val="800"/>
              </a:spcAft>
              <a:defRPr sz="1600">
                <a:solidFill>
                  <a:srgbClr val="CDD6F4"/>
                </a:solidFill>
                <a:latin typeface="Calibri"/>
              </a:defRPr>
            </a:pPr>
            <a:r>
              <a:t>  • 58 tests — Phase 2 Hamiltonian simulator</a:t>
            </a:r>
          </a:p>
          <a:p>
            <a:pPr>
              <a:spcAft>
                <a:spcPts val="800"/>
              </a:spcAft>
              <a:defRPr sz="1600">
                <a:solidFill>
                  <a:srgbClr val="CDD6F4"/>
                </a:solidFill>
                <a:latin typeface="Calibri"/>
              </a:defRPr>
            </a:pPr>
            <a:r>
              <a:t>  • 22 tests — Bayesian filter</a:t>
            </a:r>
          </a:p>
          <a:p>
            <a:pPr>
              <a:spcAft>
                <a:spcPts val="800"/>
              </a:spcAft>
              <a:defRPr sz="1600">
                <a:solidFill>
                  <a:srgbClr val="CDD6F4"/>
                </a:solidFill>
                <a:latin typeface="Calibri"/>
              </a:defRPr>
            </a:pPr>
            <a:r>
              <a:t>  • 99 tests — Phase 3 non-ideal effects</a:t>
            </a:r>
          </a:p>
          <a:p>
            <a:pPr>
              <a:spcAft>
                <a:spcPts val="800"/>
              </a:spcAft>
              <a:defRPr sz="1600">
                <a:solidFill>
                  <a:srgbClr val="CDD6F4"/>
                </a:solidFill>
                <a:latin typeface="Calibri"/>
              </a:defRPr>
            </a:pPr>
            <a:r>
              <a:t>  • 25 tests — Phase 4 adaptive decoder (incl. hybrid supervision)</a:t>
            </a:r>
          </a:p>
          <a:p>
            <a:pPr>
              <a:spcAft>
                <a:spcPts val="800"/>
              </a:spcAft>
              <a:defRPr sz="1600">
                <a:solidFill>
                  <a:srgbClr val="CDD6F4"/>
                </a:solidFill>
                <a:latin typeface="Calibri"/>
              </a:defRPr>
            </a:pPr>
          </a:p>
          <a:p>
            <a:pPr>
              <a:spcAft>
                <a:spcPts val="800"/>
              </a:spcAft>
              <a:defRPr sz="1600">
                <a:solidFill>
                  <a:srgbClr val="CDD6F4"/>
                </a:solidFill>
                <a:latin typeface="Calibri"/>
              </a:defRPr>
            </a:pPr>
            <a:r>
              <a:t>Backward compatibility verified:</a:t>
            </a:r>
          </a:p>
          <a:p>
            <a:pPr>
              <a:spcAft>
                <a:spcPts val="800"/>
              </a:spcAft>
              <a:defRPr sz="1600">
                <a:solidFill>
                  <a:srgbClr val="CDD6F4"/>
                </a:solidFill>
                <a:latin typeface="Calibri"/>
              </a:defRPr>
            </a:pPr>
            <a:r>
              <a:t>  Phase 4 (no drift) == Phase 3 == Phase 2 == Phase 1</a:t>
            </a:r>
          </a:p>
          <a:p>
            <a:pPr>
              <a:spcAft>
                <a:spcPts val="800"/>
              </a:spcAft>
              <a:defRPr sz="1600">
                <a:solidFill>
                  <a:srgbClr val="CDD6F4"/>
                </a:solidFill>
                <a:latin typeface="Calibri"/>
              </a:defRPr>
            </a:pPr>
          </a:p>
          <a:p>
            <a:pPr>
              <a:spcAft>
                <a:spcPts val="800"/>
              </a:spcAft>
              <a:defRPr sz="1600">
                <a:solidFill>
                  <a:srgbClr val="CDD6F4"/>
                </a:solidFill>
                <a:latin typeface="Calibri"/>
              </a:defRPr>
            </a:pPr>
            <a:r>
              <a:t>Full reproducibility via seeded RNG (seed=42 throughout)</a:t>
            </a:r>
          </a:p>
          <a:p>
            <a:pPr>
              <a:spcAft>
                <a:spcPts val="800"/>
              </a:spcAft>
              <a:defRPr sz="1600">
                <a:solidFill>
                  <a:srgbClr val="CDD6F4"/>
                </a:solidFill>
                <a:latin typeface="Calibri"/>
              </a:defRPr>
            </a:pPr>
          </a:p>
          <a:p>
            <a:pPr>
              <a:spcAft>
                <a:spcPts val="800"/>
              </a:spcAft>
              <a:defRPr sz="1600">
                <a:solidFill>
                  <a:srgbClr val="CDD6F4"/>
                </a:solidFill>
                <a:latin typeface="Calibri"/>
              </a:defRPr>
            </a:pPr>
            <a:r>
              <a:t>Repository: github.com/pkarakala/cqec-ml-decoder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