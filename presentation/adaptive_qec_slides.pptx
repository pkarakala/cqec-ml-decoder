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quantum computers are powerful but incredibly fragile. Error correction is the single biggest unsolved engineering challenge. If we can't fix errors faster than they happen, quantum computing stays in the 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like a checksum. We don't read the data directly — we read parity checks that tell us if something flipped.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doing textbook QEC with discrete syndrome bits. We're working with continuous analog readout buried in noise. The decoder has to figure out what happened from messy real-valued signals.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Bayesian filter is the gold standard — optimal under known noise model. The GRU learns the dynamics from data. The question is: which wins when the model is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the easy case. Phase 2 adds real physics. The Bayesian filter degrades because its model is wrong. The GRU just learns the dynamics.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effects appear in real superconducting qubit hardware. The Bayesian filter assumes white noise and static parameters — both assumptions are now violated.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and GRU are neck-and-neck. The model-based approach loses its edge when the model is wrong. What happens when things get even worse?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problem nobody has solved with ML decoders. You train your network, deploy it, and within hours the hardware has drifted. The industry solution is constant recalibration.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 pure self-training fails because when the model is confidently wrong, it reinforces its own mistakes. But periodic recalibration anchors the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 matters less than the temporal breakdown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SLIDE. Point to the lines diverging. Early on, everyone does fine. As parameters drift, static decoders fall off. Pseudo-label barely helps — confident wrong predictions poison self-training. Hybrid maintains accuracy. This is the path to self-calibrating QEC.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well-known failure mode in semi-supervised learning. When the data distribution shifts, confident predictions become unreliable.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1-2% true labels gives most of the benefit. That's one recalibration every 50-100 windows — realistic for real hardware.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adds realism. Phase 1-2: GRU dominates. Phase 3: non-idealities level the field. Phase 4: only adaptive decoders survive drift.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is entirely novel. Nobody has done adaptive online learning for QEC. The simulator and hybrid supervision approach are new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3-qubit code is a proof of concept. The real test is surface codes. But the principle — adaptive online learning for QEC — transfers directly.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clean takeaways. End strong.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1371600" y="1371600"/>
            <a:ext cx="9144000" cy="1097280"/>
          </a:xfrm>
          <a:prstGeom prst="rect">
            <a:avLst/>
          </a:prstGeom>
          <a:noFill/>
        </p:spPr>
        <p:txBody>
          <a:bodyPr wrap="square">
            <a:spAutoFit/>
          </a:bodyPr>
          <a:lstStyle/>
          <a:p>
            <a:pPr algn="ctr">
              <a:defRPr sz="3600" b="1">
                <a:solidFill>
                  <a:srgbClr val="FFFFFF"/>
                </a:solidFill>
                <a:latin typeface="Calibri"/>
              </a:defRPr>
            </a:pPr>
            <a:r>
              <a:t>Can a Neural Network Decode Quantum Errors</a:t>
            </a:r>
            <a:br/>
            <a:r>
              <a:t>Better Than Bayes' Theorem?</a:t>
            </a:r>
          </a:p>
        </p:txBody>
      </p:sp>
      <p:sp>
        <p:nvSpPr>
          <p:cNvPr id="3" name="TextBox 2"/>
          <p:cNvSpPr txBox="1"/>
          <p:nvPr/>
        </p:nvSpPr>
        <p:spPr>
          <a:xfrm>
            <a:off x="1371600" y="2926080"/>
            <a:ext cx="9144000" cy="731520"/>
          </a:xfrm>
          <a:prstGeom prst="rect">
            <a:avLst/>
          </a:prstGeom>
          <a:noFill/>
        </p:spPr>
        <p:txBody>
          <a:bodyPr wrap="square">
            <a:spAutoFit/>
          </a:bodyPr>
          <a:lstStyle/>
          <a:p>
            <a:pPr algn="ctr">
              <a:defRPr sz="2200" b="0">
                <a:solidFill>
                  <a:srgbClr val="89B4FA"/>
                </a:solidFill>
                <a:latin typeface="Calibri"/>
              </a:defRPr>
            </a:pPr>
            <a:r>
              <a:t>Adaptive Machine Learning for Real-Time Quantum Error Correction</a:t>
            </a:r>
          </a:p>
        </p:txBody>
      </p:sp>
      <p:sp>
        <p:nvSpPr>
          <p:cNvPr id="4" name="TextBox 3"/>
          <p:cNvSpPr txBox="1"/>
          <p:nvPr/>
        </p:nvSpPr>
        <p:spPr>
          <a:xfrm>
            <a:off x="1371600" y="4114800"/>
            <a:ext cx="9144000" cy="457200"/>
          </a:xfrm>
          <a:prstGeom prst="rect">
            <a:avLst/>
          </a:prstGeom>
          <a:noFill/>
        </p:spPr>
        <p:txBody>
          <a:bodyPr wrap="square">
            <a:spAutoFit/>
          </a:bodyPr>
          <a:lstStyle/>
          <a:p>
            <a:pPr algn="ctr">
              <a:defRPr sz="1800" b="0">
                <a:solidFill>
                  <a:srgbClr val="A6ADC8"/>
                </a:solidFill>
                <a:latin typeface="Calibri"/>
              </a:defRPr>
            </a:pPr>
            <a:r>
              <a:t>Pranav Reddy  ·  Clark Enge</a:t>
            </a:r>
          </a:p>
        </p:txBody>
      </p:sp>
      <p:sp>
        <p:nvSpPr>
          <p:cNvPr id="5" name="TextBox 4"/>
          <p:cNvSpPr txBox="1"/>
          <p:nvPr/>
        </p:nvSpPr>
        <p:spPr>
          <a:xfrm>
            <a:off x="1371600" y="4754880"/>
            <a:ext cx="9144000" cy="457200"/>
          </a:xfrm>
          <a:prstGeom prst="rect">
            <a:avLst/>
          </a:prstGeom>
          <a:noFill/>
        </p:spPr>
        <p:txBody>
          <a:bodyPr wrap="square">
            <a:spAutoFit/>
          </a:bodyPr>
          <a:lstStyle/>
          <a:p>
            <a:pPr algn="ctr">
              <a:defRPr sz="1600" b="0">
                <a:solidFill>
                  <a:srgbClr val="A6ADC8"/>
                </a:solidFill>
                <a:latin typeface="Calibri"/>
              </a:defRPr>
            </a:pPr>
            <a:r>
              <a:t>UC Santa Barbara  ·  Data Science Club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Quantum Computers Are Incredibly Fragile</a:t>
            </a:r>
          </a:p>
        </p:txBody>
      </p:sp>
      <p:sp>
        <p:nvSpPr>
          <p:cNvPr id="3" name="TextBox 2"/>
          <p:cNvSpPr txBox="1"/>
          <p:nvPr/>
        </p:nvSpPr>
        <p:spPr>
          <a:xfrm>
            <a:off x="731520" y="1371600"/>
            <a:ext cx="6400800" cy="4114800"/>
          </a:xfrm>
          <a:prstGeom prst="rect">
            <a:avLst/>
          </a:prstGeom>
          <a:noFill/>
        </p:spPr>
        <p:txBody>
          <a:bodyPr wrap="square">
            <a:spAutoFit/>
          </a:bodyPr>
          <a:lstStyle/>
          <a:p>
            <a:pPr>
              <a:spcAft>
                <a:spcPts val="800"/>
              </a:spcAft>
              <a:defRPr sz="2000">
                <a:solidFill>
                  <a:srgbClr val="CDD6F4"/>
                </a:solidFill>
                <a:latin typeface="Calibri"/>
              </a:defRPr>
            </a:pPr>
            <a:r>
              <a:t>• Qubits lose information in microseconds</a:t>
            </a:r>
          </a:p>
          <a:p>
            <a:pPr>
              <a:spcAft>
                <a:spcPts val="800"/>
              </a:spcAft>
              <a:defRPr sz="2000">
                <a:solidFill>
                  <a:srgbClr val="CDD6F4"/>
                </a:solidFill>
                <a:latin typeface="Calibri"/>
              </a:defRPr>
            </a:pPr>
            <a:r>
              <a:t>• Error rates: ~0.1–1% per operation  (vs ~10⁻¹⁵ for classical bits)</a:t>
            </a:r>
          </a:p>
          <a:p>
            <a:pPr>
              <a:spcAft>
                <a:spcPts val="800"/>
              </a:spcAft>
              <a:defRPr sz="2000">
                <a:solidFill>
                  <a:srgbClr val="CDD6F4"/>
                </a:solidFill>
                <a:latin typeface="Calibri"/>
              </a:defRPr>
            </a:pPr>
            <a:r>
              <a:t>• Without error correction, quantum advantage is impossible</a:t>
            </a:r>
          </a:p>
          <a:p>
            <a:pPr>
              <a:spcAft>
                <a:spcPts val="800"/>
              </a:spcAft>
              <a:defRPr sz="2000">
                <a:solidFill>
                  <a:srgbClr val="CDD6F4"/>
                </a:solidFill>
                <a:latin typeface="Calibri"/>
              </a:defRPr>
            </a:pPr>
            <a:r>
              <a:t>• Every major quantum roadmap depends on solving this</a:t>
            </a:r>
          </a:p>
          <a:p>
            <a:pPr>
              <a:spcAft>
                <a:spcPts val="800"/>
              </a:spcAft>
              <a:defRPr sz="2000">
                <a:solidFill>
                  <a:srgbClr val="CDD6F4"/>
                </a:solidFill>
                <a:latin typeface="Calibri"/>
              </a:defRPr>
            </a:pPr>
          </a:p>
          <a:p>
            <a:pPr>
              <a:spcAft>
                <a:spcPts val="800"/>
              </a:spcAft>
              <a:defRPr sz="2000">
                <a:solidFill>
                  <a:srgbClr val="CDD6F4"/>
                </a:solidFill>
                <a:latin typeface="Calibri"/>
              </a:defRPr>
            </a:pPr>
            <a:r>
              <a:t>• Google, IBM, Microsoft all agree:</a:t>
            </a:r>
          </a:p>
          <a:p>
            <a:pPr>
              <a:spcAft>
                <a:spcPts val="800"/>
              </a:spcAft>
              <a:defRPr sz="2000">
                <a:solidFill>
                  <a:srgbClr val="CDD6F4"/>
                </a:solidFill>
                <a:latin typeface="Calibri"/>
              </a:defRPr>
            </a:pPr>
            <a:r>
              <a:t>  Error correction is THE bottleneck for useful quantum computing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The 3-Qubit Repetition Code</a:t>
            </a:r>
          </a:p>
        </p:txBody>
      </p:sp>
      <p:sp>
        <p:nvSpPr>
          <p:cNvPr id="3" name="TextBox 2"/>
          <p:cNvSpPr txBox="1"/>
          <p:nvPr/>
        </p:nvSpPr>
        <p:spPr>
          <a:xfrm>
            <a:off x="731520" y="1280160"/>
            <a:ext cx="5486400" cy="2286000"/>
          </a:xfrm>
          <a:prstGeom prst="rect">
            <a:avLst/>
          </a:prstGeom>
          <a:noFill/>
        </p:spPr>
        <p:txBody>
          <a:bodyPr wrap="square">
            <a:spAutoFit/>
          </a:bodyPr>
          <a:lstStyle/>
          <a:p>
            <a:pPr>
              <a:spcAft>
                <a:spcPts val="800"/>
              </a:spcAft>
              <a:defRPr sz="1800">
                <a:solidFill>
                  <a:srgbClr val="CDD6F4"/>
                </a:solidFill>
                <a:latin typeface="Calibri"/>
              </a:defRPr>
            </a:pPr>
            <a:r>
              <a:t>• Encode 1 logical qubit across 3 physical qubits</a:t>
            </a:r>
          </a:p>
          <a:p>
            <a:pPr>
              <a:spcAft>
                <a:spcPts val="800"/>
              </a:spcAft>
              <a:defRPr sz="1800">
                <a:solidFill>
                  <a:srgbClr val="CDD6F4"/>
                </a:solidFill>
                <a:latin typeface="Calibri"/>
              </a:defRPr>
            </a:pPr>
            <a:r>
              <a:t>    |0⟩ → |000⟩     |1⟩ → |111⟩</a:t>
            </a:r>
          </a:p>
          <a:p>
            <a:pPr>
              <a:spcAft>
                <a:spcPts val="800"/>
              </a:spcAft>
              <a:defRPr sz="1800">
                <a:solidFill>
                  <a:srgbClr val="CDD6F4"/>
                </a:solidFill>
                <a:latin typeface="Calibri"/>
              </a:defRPr>
            </a:pPr>
            <a:r>
              <a:t>• Measure stabilizers to detect errors without</a:t>
            </a:r>
          </a:p>
          <a:p>
            <a:pPr>
              <a:spcAft>
                <a:spcPts val="800"/>
              </a:spcAft>
              <a:defRPr sz="1800">
                <a:solidFill>
                  <a:srgbClr val="CDD6F4"/>
                </a:solidFill>
                <a:latin typeface="Calibri"/>
              </a:defRPr>
            </a:pPr>
            <a:r>
              <a:t>  destroying the quantum state</a:t>
            </a:r>
          </a:p>
          <a:p>
            <a:pPr>
              <a:spcAft>
                <a:spcPts val="800"/>
              </a:spcAft>
              <a:defRPr sz="1800">
                <a:solidFill>
                  <a:srgbClr val="CDD6F4"/>
                </a:solidFill>
                <a:latin typeface="Calibri"/>
              </a:defRPr>
            </a:pPr>
            <a:r>
              <a:t>• Each error produces a unique syndrome signature</a:t>
            </a:r>
          </a:p>
        </p:txBody>
      </p:sp>
      <p:sp>
        <p:nvSpPr>
          <p:cNvPr id="4" name="TextBox 3"/>
          <p:cNvSpPr txBox="1"/>
          <p:nvPr/>
        </p:nvSpPr>
        <p:spPr>
          <a:xfrm>
            <a:off x="6858000" y="1280160"/>
            <a:ext cx="4572000" cy="457200"/>
          </a:xfrm>
          <a:prstGeom prst="rect">
            <a:avLst/>
          </a:prstGeom>
          <a:noFill/>
        </p:spPr>
        <p:txBody>
          <a:bodyPr wrap="square">
            <a:spAutoFit/>
          </a:bodyPr>
          <a:lstStyle/>
          <a:p>
            <a:pPr algn="l">
              <a:defRPr sz="1800" b="1">
                <a:solidFill>
                  <a:srgbClr val="89B4FA"/>
                </a:solidFill>
                <a:latin typeface="Calibri"/>
              </a:defRPr>
            </a:pPr>
            <a:r>
              <a:t>Syndrome Table</a:t>
            </a:r>
          </a:p>
        </p:txBody>
      </p:sp>
      <p:graphicFrame>
        <p:nvGraphicFramePr>
          <p:cNvPr id="5" name="Table 4"/>
          <p:cNvGraphicFramePr>
            <a:graphicFrameLocks noGrp="1"/>
          </p:cNvGraphicFramePr>
          <p:nvPr/>
        </p:nvGraphicFramePr>
        <p:xfrm>
          <a:off x="6858000" y="1828800"/>
          <a:ext cx="4114800" cy="2286000"/>
        </p:xfrm>
        <a:graphic>
          <a:graphicData uri="http://schemas.openxmlformats.org/drawingml/2006/table">
            <a:tbl>
              <a:tblPr firstRow="1" bandRow="1">
                <a:tableStyleId>{5C22544A-7EE6-4342-B048-85BDC9FD1C3A}</a:tableStyleId>
              </a:tblPr>
              <a:tblGrid>
                <a:gridCol w="1371600"/>
                <a:gridCol w="1371600"/>
                <a:gridCol w="1371600"/>
              </a:tblGrid>
              <a:tr h="457200">
                <a:tc>
                  <a:txBody>
                    <a:bodyPr/>
                    <a:lstStyle/>
                    <a:p>
                      <a:pPr algn="ctr">
                        <a:defRPr sz="1600" b="1">
                          <a:solidFill>
                            <a:srgbClr val="FFFFFF"/>
                          </a:solidFill>
                          <a:latin typeface="Calibri"/>
                        </a:defRPr>
                      </a:pPr>
                      <a:r>
                        <a:t>Error</a:t>
                      </a:r>
                    </a:p>
                  </a:txBody>
                  <a:tcPr>
                    <a:solidFill>
                      <a:srgbClr val="313244"/>
                    </a:solidFill>
                  </a:tcPr>
                </a:tc>
                <a:tc>
                  <a:txBody>
                    <a:bodyPr/>
                    <a:lstStyle/>
                    <a:p>
                      <a:pPr algn="ctr">
                        <a:defRPr sz="1600" b="1">
                          <a:solidFill>
                            <a:srgbClr val="FFFFFF"/>
                          </a:solidFill>
                          <a:latin typeface="Calibri"/>
                        </a:defRPr>
                      </a:pPr>
                      <a:r>
                        <a:t>S₁</a:t>
                      </a:r>
                    </a:p>
                  </a:txBody>
                  <a:tcPr>
                    <a:solidFill>
                      <a:srgbClr val="313244"/>
                    </a:solidFill>
                  </a:tcPr>
                </a:tc>
                <a:tc>
                  <a:txBody>
                    <a:bodyPr/>
                    <a:lstStyle/>
                    <a:p>
                      <a:pPr algn="ctr">
                        <a:defRPr sz="1600" b="1">
                          <a:solidFill>
                            <a:srgbClr val="FFFFFF"/>
                          </a:solidFill>
                          <a:latin typeface="Calibri"/>
                        </a:defRPr>
                      </a:pPr>
                      <a:r>
                        <a:t>S₂</a:t>
                      </a:r>
                    </a:p>
                  </a:txBody>
                  <a:tcPr>
                    <a:solidFill>
                      <a:srgbClr val="313244"/>
                    </a:solidFill>
                  </a:tcPr>
                </a:tc>
              </a:tr>
              <a:tr h="457200">
                <a:tc>
                  <a:txBody>
                    <a:bodyPr/>
                    <a:lstStyle/>
                    <a:p>
                      <a:pPr algn="ctr">
                        <a:defRPr sz="1600" b="0">
                          <a:solidFill>
                            <a:srgbClr val="CDD6F4"/>
                          </a:solidFill>
                          <a:latin typeface="Calibri"/>
                        </a:defRPr>
                      </a:pPr>
                      <a:r>
                        <a:t>No error</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r>
              <a:tr h="457200">
                <a:tc>
                  <a:txBody>
                    <a:bodyPr/>
                    <a:lstStyle/>
                    <a:p>
                      <a:pPr algn="ctr">
                        <a:defRPr sz="1600" b="0">
                          <a:solidFill>
                            <a:srgbClr val="CDD6F4"/>
                          </a:solidFill>
                          <a:latin typeface="Calibri"/>
                        </a:defRPr>
                      </a:pPr>
                      <a:r>
                        <a:t>Flip qubit 1</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r>
              <a:tr h="457200">
                <a:tc>
                  <a:txBody>
                    <a:bodyPr/>
                    <a:lstStyle/>
                    <a:p>
                      <a:pPr algn="ctr">
                        <a:defRPr sz="1600" b="0">
                          <a:solidFill>
                            <a:srgbClr val="CDD6F4"/>
                          </a:solidFill>
                          <a:latin typeface="Calibri"/>
                        </a:defRPr>
                      </a:pPr>
                      <a:r>
                        <a:t>Flip qubit 2</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r>
              <a:tr h="457200">
                <a:tc>
                  <a:txBody>
                    <a:bodyPr/>
                    <a:lstStyle/>
                    <a:p>
                      <a:pPr algn="ctr">
                        <a:defRPr sz="1600" b="0">
                          <a:solidFill>
                            <a:srgbClr val="CDD6F4"/>
                          </a:solidFill>
                          <a:latin typeface="Calibri"/>
                        </a:defRPr>
                      </a:pPr>
                      <a:r>
                        <a:t>Flip qubit 3</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c>
                  <a:txBody>
                    <a:bodyPr/>
                    <a:lstStyle/>
                    <a:p>
                      <a:pPr algn="ctr">
                        <a:defRPr sz="1600" b="0">
                          <a:solidFill>
                            <a:srgbClr val="CDD6F4"/>
                          </a:solidFill>
                          <a:latin typeface="Calibri"/>
                        </a:defRPr>
                      </a:pPr>
                      <a:r>
                        <a:t>−1</a:t>
                      </a:r>
                    </a:p>
                  </a:txBody>
                  <a:tcPr>
                    <a:solidFill>
                      <a:srgbClr val="1E1E2E"/>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Real Measurements Are Noisy Analog Signals</a:t>
            </a:r>
          </a:p>
        </p:txBody>
      </p:sp>
      <p:sp>
        <p:nvSpPr>
          <p:cNvPr id="3" name="TextBox 2"/>
          <p:cNvSpPr txBox="1"/>
          <p:nvPr/>
        </p:nvSpPr>
        <p:spPr>
          <a:xfrm>
            <a:off x="731520" y="1371600"/>
            <a:ext cx="5029200" cy="2743200"/>
          </a:xfrm>
          <a:prstGeom prst="rect">
            <a:avLst/>
          </a:prstGeom>
          <a:noFill/>
        </p:spPr>
        <p:txBody>
          <a:bodyPr wrap="square">
            <a:spAutoFit/>
          </a:bodyPr>
          <a:lstStyle/>
          <a:p>
            <a:pPr>
              <a:spcAft>
                <a:spcPts val="800"/>
              </a:spcAft>
              <a:defRPr sz="1800">
                <a:solidFill>
                  <a:srgbClr val="CDD6F4"/>
                </a:solidFill>
                <a:latin typeface="Calibri"/>
              </a:defRPr>
            </a:pPr>
            <a:r>
              <a:t>• Real hardware gives continuous readout:</a:t>
            </a:r>
          </a:p>
          <a:p>
            <a:pPr>
              <a:spcAft>
                <a:spcPts val="800"/>
              </a:spcAft>
              <a:defRPr sz="1800">
                <a:solidFill>
                  <a:srgbClr val="CDD6F4"/>
                </a:solidFill>
                <a:latin typeface="Calibri"/>
              </a:defRPr>
            </a:pPr>
            <a:r>
              <a:t>    r(t) = signal + noise</a:t>
            </a:r>
          </a:p>
          <a:p>
            <a:pPr>
              <a:spcAft>
                <a:spcPts val="800"/>
              </a:spcAft>
              <a:defRPr sz="1800">
                <a:solidFill>
                  <a:srgbClr val="CDD6F4"/>
                </a:solidFill>
                <a:latin typeface="Calibri"/>
              </a:defRPr>
            </a:pPr>
            <a:r>
              <a:t>• The decoder must infer the error state</a:t>
            </a:r>
          </a:p>
          <a:p>
            <a:pPr>
              <a:spcAft>
                <a:spcPts val="800"/>
              </a:spcAft>
              <a:defRPr sz="1800">
                <a:solidFill>
                  <a:srgbClr val="CDD6F4"/>
                </a:solidFill>
                <a:latin typeface="Calibri"/>
              </a:defRPr>
            </a:pPr>
            <a:r>
              <a:t>  from a noisy time series</a:t>
            </a:r>
          </a:p>
          <a:p>
            <a:pPr>
              <a:spcAft>
                <a:spcPts val="800"/>
              </a:spcAft>
              <a:defRPr sz="1800">
                <a:solidFill>
                  <a:srgbClr val="CDD6F4"/>
                </a:solidFill>
                <a:latin typeface="Calibri"/>
              </a:defRPr>
            </a:pPr>
            <a:r>
              <a:t>• This is a classification problem:</a:t>
            </a:r>
          </a:p>
          <a:p>
            <a:pPr>
              <a:spcAft>
                <a:spcPts val="800"/>
              </a:spcAft>
              <a:defRPr sz="1800">
                <a:solidFill>
                  <a:srgbClr val="CDD6F4"/>
                </a:solidFill>
                <a:latin typeface="Calibri"/>
              </a:defRPr>
            </a:pPr>
            <a:r>
              <a:t>  4 error classes from 2 noisy signals</a:t>
            </a:r>
          </a:p>
          <a:p>
            <a:pPr>
              <a:spcAft>
                <a:spcPts val="800"/>
              </a:spcAft>
              <a:defRPr sz="1800">
                <a:solidFill>
                  <a:srgbClr val="CDD6F4"/>
                </a:solidFill>
                <a:latin typeface="Calibri"/>
              </a:defRPr>
            </a:pPr>
          </a:p>
          <a:p>
            <a:pPr>
              <a:spcAft>
                <a:spcPts val="800"/>
              </a:spcAft>
              <a:defRPr sz="1800">
                <a:solidFill>
                  <a:srgbClr val="CDD6F4"/>
                </a:solidFill>
                <a:latin typeface="Calibri"/>
              </a:defRPr>
            </a:pPr>
            <a:r>
              <a:t>• This is where ML comes in — we're doing</a:t>
            </a:r>
          </a:p>
          <a:p>
            <a:pPr>
              <a:spcAft>
                <a:spcPts val="800"/>
              </a:spcAft>
              <a:defRPr sz="1800">
                <a:solidFill>
                  <a:srgbClr val="CDD6F4"/>
                </a:solidFill>
                <a:latin typeface="Calibri"/>
              </a:defRPr>
            </a:pPr>
            <a:r>
              <a:t>  signal processing under uncertainty</a:t>
            </a:r>
          </a:p>
        </p:txBody>
      </p:sp>
      <p:pic>
        <p:nvPicPr>
          <p:cNvPr id="4" name="Picture 3" descr="decoder_comparison.png"/>
          <p:cNvPicPr>
            <a:picLocks noChangeAspect="1"/>
          </p:cNvPicPr>
          <p:nvPr/>
        </p:nvPicPr>
        <p:blipFill>
          <a:blip r:embed="rId2"/>
          <a:stretch>
            <a:fillRect/>
          </a:stretch>
        </p:blipFill>
        <p:spPr>
          <a:xfrm>
            <a:off x="6400800" y="1371600"/>
            <a:ext cx="50292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Three Decoders, Head to Head</a:t>
            </a:r>
          </a:p>
        </p:txBody>
      </p:sp>
      <p:sp>
        <p:nvSpPr>
          <p:cNvPr id="3" name="TextBox 2"/>
          <p:cNvSpPr txBox="1"/>
          <p:nvPr/>
        </p:nvSpPr>
        <p:spPr>
          <a:xfrm>
            <a:off x="731520" y="1371600"/>
            <a:ext cx="3474720" cy="457200"/>
          </a:xfrm>
          <a:prstGeom prst="rect">
            <a:avLst/>
          </a:prstGeom>
          <a:noFill/>
        </p:spPr>
        <p:txBody>
          <a:bodyPr wrap="square">
            <a:spAutoFit/>
          </a:bodyPr>
          <a:lstStyle/>
          <a:p>
            <a:pPr algn="ctr">
              <a:defRPr sz="2200" b="1">
                <a:solidFill>
                  <a:srgbClr val="F38BA8"/>
                </a:solidFill>
                <a:latin typeface="Calibri"/>
              </a:defRPr>
            </a:pPr>
            <a:r>
              <a:t>Threshold</a:t>
            </a:r>
          </a:p>
        </p:txBody>
      </p:sp>
      <p:sp>
        <p:nvSpPr>
          <p:cNvPr id="4" name="TextBox 3"/>
          <p:cNvSpPr txBox="1"/>
          <p:nvPr/>
        </p:nvSpPr>
        <p:spPr>
          <a:xfrm>
            <a:off x="731520" y="2011680"/>
            <a:ext cx="3474720" cy="1371600"/>
          </a:xfrm>
          <a:prstGeom prst="rect">
            <a:avLst/>
          </a:prstGeom>
          <a:noFill/>
        </p:spPr>
        <p:txBody>
          <a:bodyPr wrap="square">
            <a:spAutoFit/>
          </a:bodyPr>
          <a:lstStyle/>
          <a:p>
            <a:pPr algn="ctr">
              <a:defRPr sz="1600" b="0">
                <a:solidFill>
                  <a:srgbClr val="CDD6F4"/>
                </a:solidFill>
                <a:latin typeface="Calibri"/>
              </a:defRPr>
            </a:pPr>
            <a:r>
              <a:t>Average signal,</a:t>
            </a:r>
            <a:br/>
            <a:r>
              <a:t>check the sign</a:t>
            </a:r>
          </a:p>
        </p:txBody>
      </p:sp>
      <p:sp>
        <p:nvSpPr>
          <p:cNvPr id="5" name="TextBox 4"/>
          <p:cNvSpPr txBox="1"/>
          <p:nvPr/>
        </p:nvSpPr>
        <p:spPr>
          <a:xfrm>
            <a:off x="731520" y="3474720"/>
            <a:ext cx="3474720" cy="1371600"/>
          </a:xfrm>
          <a:prstGeom prst="rect">
            <a:avLst/>
          </a:prstGeom>
          <a:noFill/>
        </p:spPr>
        <p:txBody>
          <a:bodyPr wrap="square">
            <a:spAutoFit/>
          </a:bodyPr>
          <a:lstStyle/>
          <a:p>
            <a:pPr algn="ctr">
              <a:defRPr sz="1400" b="0">
                <a:solidFill>
                  <a:srgbClr val="A6ADC8"/>
                </a:solidFill>
                <a:latin typeface="Calibri"/>
              </a:defRPr>
            </a:pPr>
            <a:r>
              <a:t>No model needed</a:t>
            </a:r>
            <a:br/>
            <a:r>
              <a:t>Fast, simple, fragile</a:t>
            </a:r>
          </a:p>
        </p:txBody>
      </p:sp>
      <p:sp>
        <p:nvSpPr>
          <p:cNvPr id="6" name="TextBox 5"/>
          <p:cNvSpPr txBox="1"/>
          <p:nvPr/>
        </p:nvSpPr>
        <p:spPr>
          <a:xfrm>
            <a:off x="4480559" y="1371600"/>
            <a:ext cx="3474720" cy="457200"/>
          </a:xfrm>
          <a:prstGeom prst="rect">
            <a:avLst/>
          </a:prstGeom>
          <a:noFill/>
        </p:spPr>
        <p:txBody>
          <a:bodyPr wrap="square">
            <a:spAutoFit/>
          </a:bodyPr>
          <a:lstStyle/>
          <a:p>
            <a:pPr algn="ctr">
              <a:defRPr sz="2200" b="1">
                <a:solidFill>
                  <a:srgbClr val="A6E3A1"/>
                </a:solidFill>
                <a:latin typeface="Calibri"/>
              </a:defRPr>
            </a:pPr>
            <a:r>
              <a:t>Bayesian Filter</a:t>
            </a:r>
          </a:p>
        </p:txBody>
      </p:sp>
      <p:sp>
        <p:nvSpPr>
          <p:cNvPr id="7" name="TextBox 6"/>
          <p:cNvSpPr txBox="1"/>
          <p:nvPr/>
        </p:nvSpPr>
        <p:spPr>
          <a:xfrm>
            <a:off x="4480559" y="2011680"/>
            <a:ext cx="3474720" cy="1371600"/>
          </a:xfrm>
          <a:prstGeom prst="rect">
            <a:avLst/>
          </a:prstGeom>
          <a:noFill/>
        </p:spPr>
        <p:txBody>
          <a:bodyPr wrap="square">
            <a:spAutoFit/>
          </a:bodyPr>
          <a:lstStyle/>
          <a:p>
            <a:pPr algn="ctr">
              <a:defRPr sz="1600" b="0">
                <a:solidFill>
                  <a:srgbClr val="CDD6F4"/>
                </a:solidFill>
                <a:latin typeface="Calibri"/>
              </a:defRPr>
            </a:pPr>
            <a:r>
              <a:t>Optimal probabilistic</a:t>
            </a:r>
            <a:br/>
            <a:r>
              <a:t>filter (Wonham/HMM)</a:t>
            </a:r>
          </a:p>
        </p:txBody>
      </p:sp>
      <p:sp>
        <p:nvSpPr>
          <p:cNvPr id="8" name="TextBox 7"/>
          <p:cNvSpPr txBox="1"/>
          <p:nvPr/>
        </p:nvSpPr>
        <p:spPr>
          <a:xfrm>
            <a:off x="4480559" y="3474720"/>
            <a:ext cx="3474720" cy="1371600"/>
          </a:xfrm>
          <a:prstGeom prst="rect">
            <a:avLst/>
          </a:prstGeom>
          <a:noFill/>
        </p:spPr>
        <p:txBody>
          <a:bodyPr wrap="square">
            <a:spAutoFit/>
          </a:bodyPr>
          <a:lstStyle/>
          <a:p>
            <a:pPr algn="ctr">
              <a:defRPr sz="1400" b="0">
                <a:solidFill>
                  <a:srgbClr val="A6ADC8"/>
                </a:solidFill>
                <a:latin typeface="Calibri"/>
              </a:defRPr>
            </a:pPr>
            <a:r>
              <a:t>Requires known noise model</a:t>
            </a:r>
            <a:br/>
            <a:r>
              <a:t>Optimal when assumptions hold</a:t>
            </a:r>
          </a:p>
        </p:txBody>
      </p:sp>
      <p:sp>
        <p:nvSpPr>
          <p:cNvPr id="9" name="TextBox 8"/>
          <p:cNvSpPr txBox="1"/>
          <p:nvPr/>
        </p:nvSpPr>
        <p:spPr>
          <a:xfrm>
            <a:off x="8229600" y="1371600"/>
            <a:ext cx="3474720" cy="457200"/>
          </a:xfrm>
          <a:prstGeom prst="rect">
            <a:avLst/>
          </a:prstGeom>
          <a:noFill/>
        </p:spPr>
        <p:txBody>
          <a:bodyPr wrap="square">
            <a:spAutoFit/>
          </a:bodyPr>
          <a:lstStyle/>
          <a:p>
            <a:pPr algn="ctr">
              <a:defRPr sz="2200" b="1">
                <a:solidFill>
                  <a:srgbClr val="89B4FA"/>
                </a:solidFill>
                <a:latin typeface="Calibri"/>
              </a:defRPr>
            </a:pPr>
            <a:r>
              <a:t>GRU Neural Net</a:t>
            </a:r>
          </a:p>
        </p:txBody>
      </p:sp>
      <p:sp>
        <p:nvSpPr>
          <p:cNvPr id="10" name="TextBox 9"/>
          <p:cNvSpPr txBox="1"/>
          <p:nvPr/>
        </p:nvSpPr>
        <p:spPr>
          <a:xfrm>
            <a:off x="8229600" y="2011680"/>
            <a:ext cx="3474720" cy="1371600"/>
          </a:xfrm>
          <a:prstGeom prst="rect">
            <a:avLst/>
          </a:prstGeom>
          <a:noFill/>
        </p:spPr>
        <p:txBody>
          <a:bodyPr wrap="square">
            <a:spAutoFit/>
          </a:bodyPr>
          <a:lstStyle/>
          <a:p>
            <a:pPr algn="ctr">
              <a:defRPr sz="1600" b="0">
                <a:solidFill>
                  <a:srgbClr val="CDD6F4"/>
                </a:solidFill>
                <a:latin typeface="Calibri"/>
              </a:defRPr>
            </a:pPr>
            <a:r>
              <a:t>Recurrent network</a:t>
            </a:r>
            <a:br/>
            <a:r>
              <a:t>that learns from data</a:t>
            </a:r>
          </a:p>
        </p:txBody>
      </p:sp>
      <p:sp>
        <p:nvSpPr>
          <p:cNvPr id="11" name="TextBox 10"/>
          <p:cNvSpPr txBox="1"/>
          <p:nvPr/>
        </p:nvSpPr>
        <p:spPr>
          <a:xfrm>
            <a:off x="8229600" y="3474720"/>
            <a:ext cx="3474720" cy="1371600"/>
          </a:xfrm>
          <a:prstGeom prst="rect">
            <a:avLst/>
          </a:prstGeom>
          <a:noFill/>
        </p:spPr>
        <p:txBody>
          <a:bodyPr wrap="square">
            <a:spAutoFit/>
          </a:bodyPr>
          <a:lstStyle/>
          <a:p>
            <a:pPr algn="ctr">
              <a:defRPr sz="1400" b="0">
                <a:solidFill>
                  <a:srgbClr val="A6ADC8"/>
                </a:solidFill>
                <a:latin typeface="Calibri"/>
              </a:defRPr>
            </a:pPr>
            <a:r>
              <a:t>Learns the model from examples</a:t>
            </a:r>
            <a:br/>
            <a:r>
              <a:t>Robust to model mismatch</a:t>
            </a:r>
          </a:p>
        </p:txBody>
      </p:sp>
      <p:sp>
        <p:nvSpPr>
          <p:cNvPr id="12" name="TextBox 11"/>
          <p:cNvSpPr txBox="1"/>
          <p:nvPr/>
        </p:nvSpPr>
        <p:spPr>
          <a:xfrm>
            <a:off x="731520" y="5029200"/>
            <a:ext cx="10058400" cy="731520"/>
          </a:xfrm>
          <a:prstGeom prst="rect">
            <a:avLst/>
          </a:prstGeom>
          <a:noFill/>
        </p:spPr>
        <p:txBody>
          <a:bodyPr wrap="square">
            <a:spAutoFit/>
          </a:bodyPr>
          <a:lstStyle/>
          <a:p>
            <a:pPr algn="l">
              <a:defRPr sz="1600" b="0">
                <a:solidFill>
                  <a:srgbClr val="A6ADC8"/>
                </a:solidFill>
                <a:latin typeface="Calibri"/>
              </a:defRPr>
            </a:pPr>
            <a:r>
              <a:t>The Bayesian filter is mathematically optimal IF you know the exact noise model.</a:t>
            </a:r>
            <a:br/>
            <a:r>
              <a:t>The GRU doesn't need that assumption — it learns directly from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Phase 1 &amp; 2: GRU Wins Under Dynamics</a:t>
            </a:r>
          </a:p>
        </p:txBody>
      </p:sp>
      <p:sp>
        <p:nvSpPr>
          <p:cNvPr id="3" name="TextBox 2"/>
          <p:cNvSpPr txBox="1"/>
          <p:nvPr/>
        </p:nvSpPr>
        <p:spPr>
          <a:xfrm>
            <a:off x="731520" y="1280160"/>
            <a:ext cx="4572000" cy="457200"/>
          </a:xfrm>
          <a:prstGeom prst="rect">
            <a:avLst/>
          </a:prstGeom>
          <a:noFill/>
        </p:spPr>
        <p:txBody>
          <a:bodyPr wrap="square">
            <a:spAutoFit/>
          </a:bodyPr>
          <a:lstStyle/>
          <a:p>
            <a:pPr algn="l">
              <a:defRPr sz="1800" b="1">
                <a:solidFill>
                  <a:srgbClr val="89B4FA"/>
                </a:solidFill>
                <a:latin typeface="Calibri"/>
              </a:defRPr>
            </a:pPr>
            <a:r>
              <a:t>Phase 1 — Static (ideal)</a:t>
            </a:r>
          </a:p>
        </p:txBody>
      </p:sp>
      <p:graphicFrame>
        <p:nvGraphicFramePr>
          <p:cNvPr id="4" name="Table 3"/>
          <p:cNvGraphicFramePr>
            <a:graphicFrameLocks noGrp="1"/>
          </p:cNvGraphicFramePr>
          <p:nvPr/>
        </p:nvGraphicFramePr>
        <p:xfrm>
          <a:off x="731520" y="1828800"/>
          <a:ext cx="4572000" cy="1371600"/>
        </p:xfrm>
        <a:graphic>
          <a:graphicData uri="http://schemas.openxmlformats.org/drawingml/2006/table">
            <a:tbl>
              <a:tblPr firstRow="1" bandRow="1">
                <a:tableStyleId>{5C22544A-7EE6-4342-B048-85BDC9FD1C3A}</a:tableStyleId>
              </a:tblPr>
              <a:tblGrid>
                <a:gridCol w="2286000"/>
                <a:gridCol w="2286000"/>
              </a:tblGrid>
              <a:tr h="457200">
                <a:tc>
                  <a:txBody>
                    <a:bodyPr/>
                    <a:lstStyle/>
                    <a:p>
                      <a:pPr>
                        <a:defRPr sz="1600" b="1">
                          <a:solidFill>
                            <a:srgbClr val="FFFFFF"/>
                          </a:solidFill>
                          <a:latin typeface="Calibri"/>
                        </a:defRPr>
                      </a:pPr>
                      <a:r>
                        <a:t>Decoder</a:t>
                      </a:r>
                    </a:p>
                  </a:txBody>
                  <a:tcPr>
                    <a:solidFill>
                      <a:srgbClr val="313244"/>
                    </a:solidFill>
                  </a:tcPr>
                </a:tc>
                <a:tc>
                  <a:txBody>
                    <a:bodyPr/>
                    <a:lstStyle/>
                    <a:p>
                      <a:pPr>
                        <a:defRPr sz="1600" b="1">
                          <a:solidFill>
                            <a:srgbClr val="FFFFFF"/>
                          </a:solidFill>
                          <a:latin typeface="Calibri"/>
                        </a:defRPr>
                      </a:pPr>
                      <a:r>
                        <a:t>Accuracy</a:t>
                      </a:r>
                    </a:p>
                  </a:txBody>
                  <a:tcPr>
                    <a:solidFill>
                      <a:srgbClr val="313244"/>
                    </a:solidFill>
                  </a:tcPr>
                </a:tc>
              </a:tr>
              <a:tr h="457200">
                <a:tc>
                  <a:txBody>
                    <a:bodyPr/>
                    <a:lstStyle/>
                    <a:p>
                      <a:pPr>
                        <a:defRPr sz="1600" b="0">
                          <a:solidFill>
                            <a:srgbClr val="CDD6F4"/>
                          </a:solidFill>
                          <a:latin typeface="Calibri"/>
                        </a:defRPr>
                      </a:pPr>
                      <a:r>
                        <a:t>Threshold</a:t>
                      </a:r>
                    </a:p>
                  </a:txBody>
                  <a:tcPr>
                    <a:solidFill>
                      <a:srgbClr val="1E1E2E"/>
                    </a:solidFill>
                  </a:tcPr>
                </a:tc>
                <a:tc>
                  <a:txBody>
                    <a:bodyPr/>
                    <a:lstStyle/>
                    <a:p>
                      <a:pPr>
                        <a:defRPr sz="1600" b="0">
                          <a:solidFill>
                            <a:srgbClr val="CDD6F4"/>
                          </a:solidFill>
                          <a:latin typeface="Calibri"/>
                        </a:defRPr>
                      </a:pPr>
                      <a:r>
                        <a:t>~86%</a:t>
                      </a:r>
                    </a:p>
                  </a:txBody>
                  <a:tcPr>
                    <a:solidFill>
                      <a:srgbClr val="1E1E2E"/>
                    </a:solidFill>
                  </a:tcPr>
                </a:tc>
              </a:tr>
              <a:tr h="457200">
                <a:tc>
                  <a:txBody>
                    <a:bodyPr/>
                    <a:lstStyle/>
                    <a:p>
                      <a:pPr>
                        <a:defRPr sz="1600" b="0">
                          <a:solidFill>
                            <a:srgbClr val="CDD6F4"/>
                          </a:solidFill>
                          <a:latin typeface="Calibri"/>
                        </a:defRPr>
                      </a:pPr>
                      <a:r>
                        <a:t>GRU</a:t>
                      </a:r>
                    </a:p>
                  </a:txBody>
                  <a:tcPr>
                    <a:solidFill>
                      <a:srgbClr val="1E1E2E"/>
                    </a:solidFill>
                  </a:tcPr>
                </a:tc>
                <a:tc>
                  <a:txBody>
                    <a:bodyPr/>
                    <a:lstStyle/>
                    <a:p>
                      <a:pPr>
                        <a:defRPr sz="1600" b="1">
                          <a:solidFill>
                            <a:srgbClr val="CDD6F4"/>
                          </a:solidFill>
                          <a:latin typeface="Calibri"/>
                        </a:defRPr>
                      </a:pPr>
                      <a:r>
                        <a:t>~96%</a:t>
                      </a:r>
                    </a:p>
                  </a:txBody>
                  <a:tcPr>
                    <a:solidFill>
                      <a:srgbClr val="1E1E2E"/>
                    </a:solidFill>
                  </a:tcPr>
                </a:tc>
              </a:tr>
            </a:tbl>
          </a:graphicData>
        </a:graphic>
      </p:graphicFrame>
      <p:sp>
        <p:nvSpPr>
          <p:cNvPr id="5" name="TextBox 4"/>
          <p:cNvSpPr txBox="1"/>
          <p:nvPr/>
        </p:nvSpPr>
        <p:spPr>
          <a:xfrm>
            <a:off x="6217920" y="1280160"/>
            <a:ext cx="5029200" cy="457200"/>
          </a:xfrm>
          <a:prstGeom prst="rect">
            <a:avLst/>
          </a:prstGeom>
          <a:noFill/>
        </p:spPr>
        <p:txBody>
          <a:bodyPr wrap="square">
            <a:spAutoFit/>
          </a:bodyPr>
          <a:lstStyle/>
          <a:p>
            <a:pPr algn="l">
              <a:defRPr sz="1800" b="1">
                <a:solidFill>
                  <a:srgbClr val="89B4FA"/>
                </a:solidFill>
                <a:latin typeface="Calibri"/>
              </a:defRPr>
            </a:pPr>
            <a:r>
              <a:t>Phase 2 — Hamiltonian dynamics</a:t>
            </a:r>
          </a:p>
        </p:txBody>
      </p:sp>
      <p:graphicFrame>
        <p:nvGraphicFramePr>
          <p:cNvPr id="6" name="Table 5"/>
          <p:cNvGraphicFramePr>
            <a:graphicFrameLocks noGrp="1"/>
          </p:cNvGraphicFramePr>
          <p:nvPr/>
        </p:nvGraphicFramePr>
        <p:xfrm>
          <a:off x="6217920" y="1828800"/>
          <a:ext cx="5029200" cy="1828800"/>
        </p:xfrm>
        <a:graphic>
          <a:graphicData uri="http://schemas.openxmlformats.org/drawingml/2006/table">
            <a:tbl>
              <a:tblPr firstRow="1" bandRow="1">
                <a:tableStyleId>{5C22544A-7EE6-4342-B048-85BDC9FD1C3A}</a:tableStyleId>
              </a:tblPr>
              <a:tblGrid>
                <a:gridCol w="2514600"/>
                <a:gridCol w="2514600"/>
              </a:tblGrid>
              <a:tr h="457200">
                <a:tc>
                  <a:txBody>
                    <a:bodyPr/>
                    <a:lstStyle/>
                    <a:p>
                      <a:pPr>
                        <a:defRPr sz="1600" b="1">
                          <a:solidFill>
                            <a:srgbClr val="FFFFFF"/>
                          </a:solidFill>
                          <a:latin typeface="Calibri"/>
                        </a:defRPr>
                      </a:pPr>
                      <a:r>
                        <a:t>Decoder</a:t>
                      </a:r>
                    </a:p>
                  </a:txBody>
                  <a:tcPr>
                    <a:solidFill>
                      <a:srgbClr val="313244"/>
                    </a:solidFill>
                  </a:tcPr>
                </a:tc>
                <a:tc>
                  <a:txBody>
                    <a:bodyPr/>
                    <a:lstStyle/>
                    <a:p>
                      <a:pPr>
                        <a:defRPr sz="1600" b="1">
                          <a:solidFill>
                            <a:srgbClr val="FFFFFF"/>
                          </a:solidFill>
                          <a:latin typeface="Calibri"/>
                        </a:defRPr>
                      </a:pPr>
                      <a:r>
                        <a:t>Accuracy</a:t>
                      </a:r>
                    </a:p>
                  </a:txBody>
                  <a:tcPr>
                    <a:solidFill>
                      <a:srgbClr val="313244"/>
                    </a:solidFill>
                  </a:tcPr>
                </a:tc>
              </a:tr>
              <a:tr h="457200">
                <a:tc>
                  <a:txBody>
                    <a:bodyPr/>
                    <a:lstStyle/>
                    <a:p>
                      <a:pPr>
                        <a:defRPr sz="1600" b="0">
                          <a:solidFill>
                            <a:srgbClr val="CDD6F4"/>
                          </a:solidFill>
                          <a:latin typeface="Calibri"/>
                        </a:defRPr>
                      </a:pPr>
                      <a:r>
                        <a:t>Threshold</a:t>
                      </a:r>
                    </a:p>
                  </a:txBody>
                  <a:tcPr>
                    <a:solidFill>
                      <a:srgbClr val="1E1E2E"/>
                    </a:solidFill>
                  </a:tcPr>
                </a:tc>
                <a:tc>
                  <a:txBody>
                    <a:bodyPr/>
                    <a:lstStyle/>
                    <a:p>
                      <a:pPr>
                        <a:defRPr sz="1600" b="0">
                          <a:solidFill>
                            <a:srgbClr val="CDD6F4"/>
                          </a:solidFill>
                          <a:latin typeface="Calibri"/>
                        </a:defRPr>
                      </a:pPr>
                      <a:r>
                        <a:t>~85%</a:t>
                      </a:r>
                    </a:p>
                  </a:txBody>
                  <a:tcPr>
                    <a:solidFill>
                      <a:srgbClr val="1E1E2E"/>
                    </a:solidFill>
                  </a:tcPr>
                </a:tc>
              </a:tr>
              <a:tr h="457200">
                <a:tc>
                  <a:txBody>
                    <a:bodyPr/>
                    <a:lstStyle/>
                    <a:p>
                      <a:pPr>
                        <a:defRPr sz="1600" b="0">
                          <a:solidFill>
                            <a:srgbClr val="CDD6F4"/>
                          </a:solidFill>
                          <a:latin typeface="Calibri"/>
                        </a:defRPr>
                      </a:pPr>
                      <a:r>
                        <a:t>Bayesian Filter</a:t>
                      </a:r>
                    </a:p>
                  </a:txBody>
                  <a:tcPr>
                    <a:solidFill>
                      <a:srgbClr val="1E1E2E"/>
                    </a:solidFill>
                  </a:tcPr>
                </a:tc>
                <a:tc>
                  <a:txBody>
                    <a:bodyPr/>
                    <a:lstStyle/>
                    <a:p>
                      <a:pPr>
                        <a:defRPr sz="1600" b="0">
                          <a:solidFill>
                            <a:srgbClr val="CDD6F4"/>
                          </a:solidFill>
                          <a:latin typeface="Calibri"/>
                        </a:defRPr>
                      </a:pPr>
                      <a:r>
                        <a:t>~94%</a:t>
                      </a:r>
                    </a:p>
                  </a:txBody>
                  <a:tcPr>
                    <a:solidFill>
                      <a:srgbClr val="1E1E2E"/>
                    </a:solidFill>
                  </a:tcPr>
                </a:tc>
              </a:tr>
              <a:tr h="457200">
                <a:tc>
                  <a:txBody>
                    <a:bodyPr/>
                    <a:lstStyle/>
                    <a:p>
                      <a:pPr>
                        <a:defRPr sz="1600" b="0">
                          <a:solidFill>
                            <a:srgbClr val="CDD6F4"/>
                          </a:solidFill>
                          <a:latin typeface="Calibri"/>
                        </a:defRPr>
                      </a:pPr>
                      <a:r>
                        <a:t>GRU</a:t>
                      </a:r>
                    </a:p>
                  </a:txBody>
                  <a:tcPr>
                    <a:solidFill>
                      <a:srgbClr val="1E1E2E"/>
                    </a:solidFill>
                  </a:tcPr>
                </a:tc>
                <a:tc>
                  <a:txBody>
                    <a:bodyPr/>
                    <a:lstStyle/>
                    <a:p>
                      <a:pPr>
                        <a:defRPr sz="1600" b="1">
                          <a:solidFill>
                            <a:srgbClr val="CDD6F4"/>
                          </a:solidFill>
                          <a:latin typeface="Calibri"/>
                        </a:defRPr>
                      </a:pPr>
                      <a:r>
                        <a:t>~96%</a:t>
                      </a:r>
                    </a:p>
                  </a:txBody>
                  <a:tcPr>
                    <a:solidFill>
                      <a:srgbClr val="1E1E2E"/>
                    </a:solidFill>
                  </a:tcPr>
                </a:tc>
              </a:tr>
            </a:tbl>
          </a:graphicData>
        </a:graphic>
      </p:graphicFrame>
      <p:sp>
        <p:nvSpPr>
          <p:cNvPr id="7" name="TextBox 6"/>
          <p:cNvSpPr txBox="1"/>
          <p:nvPr/>
        </p:nvSpPr>
        <p:spPr>
          <a:xfrm>
            <a:off x="731520" y="4114800"/>
            <a:ext cx="10058400" cy="1097280"/>
          </a:xfrm>
          <a:prstGeom prst="rect">
            <a:avLst/>
          </a:prstGeom>
          <a:noFill/>
        </p:spPr>
        <p:txBody>
          <a:bodyPr wrap="square">
            <a:spAutoFit/>
          </a:bodyPr>
          <a:lstStyle/>
          <a:p>
            <a:pPr algn="l">
              <a:defRPr sz="1800" b="0">
                <a:solidFill>
                  <a:srgbClr val="A6ADC8"/>
                </a:solidFill>
                <a:latin typeface="Calibri"/>
              </a:defRPr>
            </a:pPr>
            <a:r>
              <a:t>When we add coherent drive, calibration drift, and measurement backaction,</a:t>
            </a:r>
            <a:br/>
            <a:r>
              <a:t>the Bayesian filter's assumptions break. The GRU maintains performance</a:t>
            </a:r>
            <a:br/>
            <a:r>
              <a:t>by learning dynamics directly from data.</a:t>
            </a:r>
          </a:p>
        </p:txBody>
      </p:sp>
      <p:pic>
        <p:nvPicPr>
          <p:cNvPr id="8" name="Picture 7" descr="phase2_dynamics_comparison.png"/>
          <p:cNvPicPr>
            <a:picLocks noChangeAspect="1"/>
          </p:cNvPicPr>
          <p:nvPr/>
        </p:nvPicPr>
        <p:blipFill>
          <a:blip r:embed="rId2"/>
          <a:stretch>
            <a:fillRect/>
          </a:stretch>
        </p:blipFill>
        <p:spPr>
          <a:xfrm>
            <a:off x="2743200" y="4754880"/>
            <a:ext cx="640080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Phase 3: Real Hardware Is Worse Than You Think</a:t>
            </a:r>
          </a:p>
        </p:txBody>
      </p:sp>
      <p:sp>
        <p:nvSpPr>
          <p:cNvPr id="3" name="TextBox 2"/>
          <p:cNvSpPr txBox="1"/>
          <p:nvPr/>
        </p:nvSpPr>
        <p:spPr>
          <a:xfrm>
            <a:off x="731520" y="1371600"/>
            <a:ext cx="4572000" cy="3657600"/>
          </a:xfrm>
          <a:prstGeom prst="rect">
            <a:avLst/>
          </a:prstGeom>
          <a:noFill/>
        </p:spPr>
        <p:txBody>
          <a:bodyPr wrap="square">
            <a:spAutoFit/>
          </a:bodyPr>
          <a:lstStyle/>
          <a:p>
            <a:pPr>
              <a:spcAft>
                <a:spcPts val="800"/>
              </a:spcAft>
              <a:defRPr sz="1600">
                <a:solidFill>
                  <a:srgbClr val="CDD6F4"/>
                </a:solidFill>
                <a:latin typeface="Calibri"/>
              </a:defRPr>
            </a:pPr>
            <a:r>
              <a:t>Three non-idealities that break</a:t>
            </a:r>
          </a:p>
          <a:p>
            <a:pPr>
              <a:spcAft>
                <a:spcPts val="800"/>
              </a:spcAft>
              <a:defRPr sz="1600">
                <a:solidFill>
                  <a:srgbClr val="CDD6F4"/>
                </a:solidFill>
                <a:latin typeface="Calibri"/>
              </a:defRPr>
            </a:pPr>
            <a:r>
              <a:t>model-based decoders:</a:t>
            </a:r>
          </a:p>
          <a:p>
            <a:pPr>
              <a:spcAft>
                <a:spcPts val="800"/>
              </a:spcAft>
              <a:defRPr sz="1600">
                <a:solidFill>
                  <a:srgbClr val="CDD6F4"/>
                </a:solidFill>
                <a:latin typeface="Calibri"/>
              </a:defRPr>
            </a:pPr>
          </a:p>
          <a:p>
            <a:pPr>
              <a:spcAft>
                <a:spcPts val="800"/>
              </a:spcAft>
              <a:defRPr sz="1600">
                <a:solidFill>
                  <a:srgbClr val="CDD6F4"/>
                </a:solidFill>
                <a:latin typeface="Calibri"/>
              </a:defRPr>
            </a:pPr>
            <a:r>
              <a:t>1. Colored noise</a:t>
            </a:r>
          </a:p>
          <a:p>
            <a:pPr>
              <a:spcAft>
                <a:spcPts val="800"/>
              </a:spcAft>
              <a:defRPr sz="1600">
                <a:solidFill>
                  <a:srgbClr val="CDD6F4"/>
                </a:solidFill>
                <a:latin typeface="Calibri"/>
              </a:defRPr>
            </a:pPr>
            <a:r>
              <a:t>   Temporally correlated (AR(1)),</a:t>
            </a:r>
          </a:p>
          <a:p>
            <a:pPr>
              <a:spcAft>
                <a:spcPts val="800"/>
              </a:spcAft>
              <a:defRPr sz="1600">
                <a:solidFill>
                  <a:srgbClr val="CDD6F4"/>
                </a:solidFill>
                <a:latin typeface="Calibri"/>
              </a:defRPr>
            </a:pPr>
            <a:r>
              <a:t>   not white Gaussian</a:t>
            </a:r>
          </a:p>
          <a:p>
            <a:pPr>
              <a:spcAft>
                <a:spcPts val="800"/>
              </a:spcAft>
              <a:defRPr sz="1600">
                <a:solidFill>
                  <a:srgbClr val="CDD6F4"/>
                </a:solidFill>
                <a:latin typeface="Calibri"/>
              </a:defRPr>
            </a:pPr>
          </a:p>
          <a:p>
            <a:pPr>
              <a:spcAft>
                <a:spcPts val="800"/>
              </a:spcAft>
              <a:defRPr sz="1600">
                <a:solidFill>
                  <a:srgbClr val="CDD6F4"/>
                </a:solidFill>
                <a:latin typeface="Calibri"/>
              </a:defRPr>
            </a:pPr>
            <a:r>
              <a:t>2. Post-flip transients</a:t>
            </a:r>
          </a:p>
          <a:p>
            <a:pPr>
              <a:spcAft>
                <a:spcPts val="800"/>
              </a:spcAft>
              <a:defRPr sz="1600">
                <a:solidFill>
                  <a:srgbClr val="CDD6F4"/>
                </a:solidFill>
                <a:latin typeface="Calibri"/>
              </a:defRPr>
            </a:pPr>
            <a:r>
              <a:t>   Exponential ring-down after</a:t>
            </a:r>
          </a:p>
          <a:p>
            <a:pPr>
              <a:spcAft>
                <a:spcPts val="800"/>
              </a:spcAft>
              <a:defRPr sz="1600">
                <a:solidFill>
                  <a:srgbClr val="CDD6F4"/>
                </a:solidFill>
                <a:latin typeface="Calibri"/>
              </a:defRPr>
            </a:pPr>
            <a:r>
              <a:t>   each error event</a:t>
            </a:r>
          </a:p>
          <a:p>
            <a:pPr>
              <a:spcAft>
                <a:spcPts val="800"/>
              </a:spcAft>
              <a:defRPr sz="1600">
                <a:solidFill>
                  <a:srgbClr val="CDD6F4"/>
                </a:solidFill>
                <a:latin typeface="Calibri"/>
              </a:defRPr>
            </a:pPr>
          </a:p>
          <a:p>
            <a:pPr>
              <a:spcAft>
                <a:spcPts val="800"/>
              </a:spcAft>
              <a:defRPr sz="1600">
                <a:solidFill>
                  <a:srgbClr val="CDD6F4"/>
                </a:solidFill>
                <a:latin typeface="Calibri"/>
              </a:defRPr>
            </a:pPr>
            <a:r>
              <a:t>3. Random-walk drift</a:t>
            </a:r>
          </a:p>
          <a:p>
            <a:pPr>
              <a:spcAft>
                <a:spcPts val="800"/>
              </a:spcAft>
              <a:defRPr sz="1600">
                <a:solidFill>
                  <a:srgbClr val="CDD6F4"/>
                </a:solidFill>
                <a:latin typeface="Calibri"/>
              </a:defRPr>
            </a:pPr>
            <a:r>
              <a:t>   Measurement calibration wanders</a:t>
            </a:r>
          </a:p>
          <a:p>
            <a:pPr>
              <a:spcAft>
                <a:spcPts val="800"/>
              </a:spcAft>
              <a:defRPr sz="1600">
                <a:solidFill>
                  <a:srgbClr val="CDD6F4"/>
                </a:solidFill>
                <a:latin typeface="Calibri"/>
              </a:defRPr>
            </a:pPr>
            <a:r>
              <a:t>   via Brownian motion</a:t>
            </a:r>
          </a:p>
        </p:txBody>
      </p:sp>
      <p:pic>
        <p:nvPicPr>
          <p:cNvPr id="4" name="Picture 3" descr="phase3_nonideal_effects.png"/>
          <p:cNvPicPr>
            <a:picLocks noChangeAspect="1"/>
          </p:cNvPicPr>
          <p:nvPr/>
        </p:nvPicPr>
        <p:blipFill>
          <a:blip r:embed="rId2"/>
          <a:stretch>
            <a:fillRect/>
          </a:stretch>
        </p:blipFill>
        <p:spPr>
          <a:xfrm>
            <a:off x="5943600" y="109728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Phase 3 Results: Everyone Degrades</a:t>
            </a:r>
          </a:p>
        </p:txBody>
      </p:sp>
      <p:graphicFrame>
        <p:nvGraphicFramePr>
          <p:cNvPr id="3" name="Table 2"/>
          <p:cNvGraphicFramePr>
            <a:graphicFrameLocks noGrp="1"/>
          </p:cNvGraphicFramePr>
          <p:nvPr/>
        </p:nvGraphicFramePr>
        <p:xfrm>
          <a:off x="731520" y="1371600"/>
          <a:ext cx="10058400" cy="2011680"/>
        </p:xfrm>
        <a:graphic>
          <a:graphicData uri="http://schemas.openxmlformats.org/drawingml/2006/table">
            <a:tbl>
              <a:tblPr firstRow="1" bandRow="1">
                <a:tableStyleId>{5C22544A-7EE6-4342-B048-85BDC9FD1C3A}</a:tableStyleId>
              </a:tblPr>
              <a:tblGrid>
                <a:gridCol w="3352800"/>
                <a:gridCol w="3352800"/>
                <a:gridCol w="3352800"/>
              </a:tblGrid>
              <a:tr h="502920">
                <a:tc>
                  <a:txBody>
                    <a:bodyPr/>
                    <a:lstStyle/>
                    <a:p>
                      <a:pPr>
                        <a:defRPr sz="1600" b="1">
                          <a:solidFill>
                            <a:srgbClr val="FFFFFF"/>
                          </a:solidFill>
                          <a:latin typeface="Calibri"/>
                        </a:defRPr>
                      </a:pPr>
                      <a:r>
                        <a:t>Decoder</a:t>
                      </a:r>
                    </a:p>
                  </a:txBody>
                  <a:tcPr>
                    <a:solidFill>
                      <a:srgbClr val="313244"/>
                    </a:solidFill>
                  </a:tcPr>
                </a:tc>
                <a:tc>
                  <a:txBody>
                    <a:bodyPr/>
                    <a:lstStyle/>
                    <a:p>
                      <a:pPr>
                        <a:defRPr sz="1600" b="1">
                          <a:solidFill>
                            <a:srgbClr val="FFFFFF"/>
                          </a:solidFill>
                          <a:latin typeface="Calibri"/>
                        </a:defRPr>
                      </a:pPr>
                      <a:r>
                        <a:t>Accuracy</a:t>
                      </a:r>
                    </a:p>
                  </a:txBody>
                  <a:tcPr>
                    <a:solidFill>
                      <a:srgbClr val="313244"/>
                    </a:solidFill>
                  </a:tcPr>
                </a:tc>
                <a:tc>
                  <a:txBody>
                    <a:bodyPr/>
                    <a:lstStyle/>
                    <a:p>
                      <a:pPr>
                        <a:defRPr sz="1600" b="1">
                          <a:solidFill>
                            <a:srgbClr val="FFFFFF"/>
                          </a:solidFill>
                          <a:latin typeface="Calibri"/>
                        </a:defRPr>
                      </a:pPr>
                      <a:r>
                        <a:t>Notes</a:t>
                      </a:r>
                    </a:p>
                  </a:txBody>
                  <a:tcPr>
                    <a:solidFill>
                      <a:srgbClr val="313244"/>
                    </a:solidFill>
                  </a:tcPr>
                </a:tc>
              </a:tr>
              <a:tr h="502920">
                <a:tc>
                  <a:txBody>
                    <a:bodyPr/>
                    <a:lstStyle/>
                    <a:p>
                      <a:pPr>
                        <a:defRPr sz="1600" b="0">
                          <a:solidFill>
                            <a:srgbClr val="CDD6F4"/>
                          </a:solidFill>
                          <a:latin typeface="Calibri"/>
                        </a:defRPr>
                      </a:pPr>
                      <a:r>
                        <a:t>Threshold</a:t>
                      </a:r>
                    </a:p>
                  </a:txBody>
                  <a:tcPr>
                    <a:solidFill>
                      <a:srgbClr val="1E1E2E"/>
                    </a:solidFill>
                  </a:tcPr>
                </a:tc>
                <a:tc>
                  <a:txBody>
                    <a:bodyPr/>
                    <a:lstStyle/>
                    <a:p>
                      <a:pPr>
                        <a:defRPr sz="1600" b="0">
                          <a:solidFill>
                            <a:srgbClr val="CDD6F4"/>
                          </a:solidFill>
                          <a:latin typeface="Calibri"/>
                        </a:defRPr>
                      </a:pPr>
                      <a:r>
                        <a:t>79.4%</a:t>
                      </a:r>
                    </a:p>
                  </a:txBody>
                  <a:tcPr>
                    <a:solidFill>
                      <a:srgbClr val="1E1E2E"/>
                    </a:solidFill>
                  </a:tcPr>
                </a:tc>
                <a:tc>
                  <a:txBody>
                    <a:bodyPr/>
                    <a:lstStyle/>
                    <a:p>
                      <a:pPr>
                        <a:defRPr sz="1600" b="0">
                          <a:solidFill>
                            <a:srgbClr val="CDD6F4"/>
                          </a:solidFill>
                          <a:latin typeface="Calibri"/>
                        </a:defRPr>
                      </a:pPr>
                      <a:r>
                        <a:t>Simple averaging fails with colored noise</a:t>
                      </a:r>
                    </a:p>
                  </a:txBody>
                  <a:tcPr>
                    <a:solidFill>
                      <a:srgbClr val="1E1E2E"/>
                    </a:solidFill>
                  </a:tcPr>
                </a:tc>
              </a:tr>
              <a:tr h="502920">
                <a:tc>
                  <a:txBody>
                    <a:bodyPr/>
                    <a:lstStyle/>
                    <a:p>
                      <a:pPr>
                        <a:defRPr sz="1600" b="0">
                          <a:solidFill>
                            <a:srgbClr val="CDD6F4"/>
                          </a:solidFill>
                          <a:latin typeface="Calibri"/>
                        </a:defRPr>
                      </a:pPr>
                      <a:r>
                        <a:t>Bayesian Filter</a:t>
                      </a:r>
                    </a:p>
                  </a:txBody>
                  <a:tcPr>
                    <a:solidFill>
                      <a:srgbClr val="1E1E2E"/>
                    </a:solidFill>
                  </a:tcPr>
                </a:tc>
                <a:tc>
                  <a:txBody>
                    <a:bodyPr/>
                    <a:lstStyle/>
                    <a:p>
                      <a:pPr>
                        <a:defRPr sz="1600" b="0">
                          <a:solidFill>
                            <a:srgbClr val="CDD6F4"/>
                          </a:solidFill>
                          <a:latin typeface="Calibri"/>
                        </a:defRPr>
                      </a:pPr>
                      <a:r>
                        <a:t>84.2%</a:t>
                      </a:r>
                    </a:p>
                  </a:txBody>
                  <a:tcPr>
                    <a:solidFill>
                      <a:srgbClr val="1E1E2E"/>
                    </a:solidFill>
                  </a:tcPr>
                </a:tc>
                <a:tc>
                  <a:txBody>
                    <a:bodyPr/>
                    <a:lstStyle/>
                    <a:p>
                      <a:pPr>
                        <a:defRPr sz="1600" b="0">
                          <a:solidFill>
                            <a:srgbClr val="CDD6F4"/>
                          </a:solidFill>
                          <a:latin typeface="Calibri"/>
                        </a:defRPr>
                      </a:pPr>
                      <a:r>
                        <a:t>White noise assumption violated</a:t>
                      </a:r>
                    </a:p>
                  </a:txBody>
                  <a:tcPr>
                    <a:solidFill>
                      <a:srgbClr val="1E1E2E"/>
                    </a:solidFill>
                  </a:tcPr>
                </a:tc>
              </a:tr>
              <a:tr h="502920">
                <a:tc>
                  <a:txBody>
                    <a:bodyPr/>
                    <a:lstStyle/>
                    <a:p>
                      <a:pPr>
                        <a:defRPr sz="1600" b="0">
                          <a:solidFill>
                            <a:srgbClr val="CDD6F4"/>
                          </a:solidFill>
                          <a:latin typeface="Calibri"/>
                        </a:defRPr>
                      </a:pPr>
                      <a:r>
                        <a:t>GRU</a:t>
                      </a:r>
                    </a:p>
                  </a:txBody>
                  <a:tcPr>
                    <a:solidFill>
                      <a:srgbClr val="1E1E2E"/>
                    </a:solidFill>
                  </a:tcPr>
                </a:tc>
                <a:tc>
                  <a:txBody>
                    <a:bodyPr/>
                    <a:lstStyle/>
                    <a:p>
                      <a:pPr>
                        <a:defRPr sz="1600" b="0">
                          <a:solidFill>
                            <a:srgbClr val="CDD6F4"/>
                          </a:solidFill>
                          <a:latin typeface="Calibri"/>
                        </a:defRPr>
                      </a:pPr>
                      <a:r>
                        <a:t>83.1%</a:t>
                      </a:r>
                    </a:p>
                  </a:txBody>
                  <a:tcPr>
                    <a:solidFill>
                      <a:srgbClr val="1E1E2E"/>
                    </a:solidFill>
                  </a:tcPr>
                </a:tc>
                <a:tc>
                  <a:txBody>
                    <a:bodyPr/>
                    <a:lstStyle/>
                    <a:p>
                      <a:pPr>
                        <a:defRPr sz="1600" b="0">
                          <a:solidFill>
                            <a:srgbClr val="CDD6F4"/>
                          </a:solidFill>
                          <a:latin typeface="Calibri"/>
                        </a:defRPr>
                      </a:pPr>
                      <a:r>
                        <a:t>Learns from data, but overfits</a:t>
                      </a:r>
                    </a:p>
                  </a:txBody>
                  <a:tcPr>
                    <a:solidFill>
                      <a:srgbClr val="1E1E2E"/>
                    </a:solidFill>
                  </a:tcPr>
                </a:tc>
              </a:tr>
            </a:tbl>
          </a:graphicData>
        </a:graphic>
      </p:graphicFrame>
      <p:sp>
        <p:nvSpPr>
          <p:cNvPr id="4" name="TextBox 3"/>
          <p:cNvSpPr txBox="1"/>
          <p:nvPr/>
        </p:nvSpPr>
        <p:spPr>
          <a:xfrm>
            <a:off x="731520" y="3657600"/>
            <a:ext cx="10058400" cy="914400"/>
          </a:xfrm>
          <a:prstGeom prst="rect">
            <a:avLst/>
          </a:prstGeom>
          <a:noFill/>
        </p:spPr>
        <p:txBody>
          <a:bodyPr wrap="square">
            <a:spAutoFit/>
          </a:bodyPr>
          <a:lstStyle/>
          <a:p>
            <a:pPr algn="l">
              <a:defRPr sz="1800" b="0">
                <a:solidFill>
                  <a:srgbClr val="A6ADC8"/>
                </a:solidFill>
                <a:latin typeface="Calibri"/>
              </a:defRPr>
            </a:pPr>
            <a:r>
              <a:t>Key insight: The Bayesian filter's advantage disappears when its assumptions are wrong.</a:t>
            </a:r>
            <a:br/>
            <a:r>
              <a:t>The GRU is competitive but needs more data. This motivates our key question...</a:t>
            </a:r>
          </a:p>
        </p:txBody>
      </p:sp>
      <p:pic>
        <p:nvPicPr>
          <p:cNvPr id="5" name="Picture 4" descr="phase3_decoder_comparison.png"/>
          <p:cNvPicPr>
            <a:picLocks noChangeAspect="1"/>
          </p:cNvPicPr>
          <p:nvPr/>
        </p:nvPicPr>
        <p:blipFill>
          <a:blip r:embed="rId2"/>
          <a:stretch>
            <a:fillRect/>
          </a:stretch>
        </p:blipFill>
        <p:spPr>
          <a:xfrm>
            <a:off x="1828800" y="4572000"/>
            <a:ext cx="8229600" cy="20116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Phase 4: Hardware Drifts During Operation</a:t>
            </a:r>
          </a:p>
        </p:txBody>
      </p:sp>
      <p:sp>
        <p:nvSpPr>
          <p:cNvPr id="3" name="TextBox 2"/>
          <p:cNvSpPr txBox="1"/>
          <p:nvPr/>
        </p:nvSpPr>
        <p:spPr>
          <a:xfrm>
            <a:off x="731520" y="1371600"/>
            <a:ext cx="5029200" cy="3657600"/>
          </a:xfrm>
          <a:prstGeom prst="rect">
            <a:avLst/>
          </a:prstGeom>
          <a:noFill/>
        </p:spPr>
        <p:txBody>
          <a:bodyPr wrap="square">
            <a:spAutoFit/>
          </a:bodyPr>
          <a:lstStyle/>
          <a:p>
            <a:pPr>
              <a:spcAft>
                <a:spcPts val="800"/>
              </a:spcAft>
              <a:defRPr sz="1800">
                <a:solidFill>
                  <a:srgbClr val="CDD6F4"/>
                </a:solidFill>
                <a:latin typeface="Calibri"/>
              </a:defRPr>
            </a:pPr>
            <a:r>
              <a:t>• Real quantum hardware drifts continuously:</a:t>
            </a:r>
          </a:p>
          <a:p>
            <a:pPr>
              <a:spcAft>
                <a:spcPts val="800"/>
              </a:spcAft>
              <a:defRPr sz="1800">
                <a:solidFill>
                  <a:srgbClr val="CDD6F4"/>
                </a:solidFill>
                <a:latin typeface="Calibri"/>
              </a:defRPr>
            </a:pPr>
            <a:r>
              <a:t>  temperature, aging, environment</a:t>
            </a:r>
          </a:p>
          <a:p>
            <a:pPr>
              <a:spcAft>
                <a:spcPts val="800"/>
              </a:spcAft>
              <a:defRPr sz="1800">
                <a:solidFill>
                  <a:srgbClr val="CDD6F4"/>
                </a:solidFill>
                <a:latin typeface="Calibri"/>
              </a:defRPr>
            </a:pPr>
          </a:p>
          <a:p>
            <a:pPr>
              <a:spcAft>
                <a:spcPts val="800"/>
              </a:spcAft>
              <a:defRPr sz="1800">
                <a:solidFill>
                  <a:srgbClr val="CDD6F4"/>
                </a:solidFill>
                <a:latin typeface="Calibri"/>
              </a:defRPr>
            </a:pPr>
            <a:r>
              <a:t>• Parameters aren't just non-ideal —</a:t>
            </a:r>
          </a:p>
          <a:p>
            <a:pPr>
              <a:spcAft>
                <a:spcPts val="800"/>
              </a:spcAft>
              <a:defRPr sz="1800">
                <a:solidFill>
                  <a:srgbClr val="CDD6F4"/>
                </a:solidFill>
                <a:latin typeface="Calibri"/>
              </a:defRPr>
            </a:pPr>
            <a:r>
              <a:t>  they're non-stationary</a:t>
            </a:r>
          </a:p>
          <a:p>
            <a:pPr>
              <a:spcAft>
                <a:spcPts val="800"/>
              </a:spcAft>
              <a:defRPr sz="1800">
                <a:solidFill>
                  <a:srgbClr val="CDD6F4"/>
                </a:solidFill>
                <a:latin typeface="Calibri"/>
              </a:defRPr>
            </a:pPr>
          </a:p>
          <a:p>
            <a:pPr>
              <a:spcAft>
                <a:spcPts val="800"/>
              </a:spcAft>
              <a:defRPr sz="1800">
                <a:solidFill>
                  <a:srgbClr val="CDD6F4"/>
                </a:solidFill>
                <a:latin typeface="Calibri"/>
              </a:defRPr>
            </a:pPr>
            <a:r>
              <a:t>• A decoder trained on yesterday's noise</a:t>
            </a:r>
          </a:p>
          <a:p>
            <a:pPr>
              <a:spcAft>
                <a:spcPts val="800"/>
              </a:spcAft>
              <a:defRPr sz="1800">
                <a:solidFill>
                  <a:srgbClr val="CDD6F4"/>
                </a:solidFill>
                <a:latin typeface="Calibri"/>
              </a:defRPr>
            </a:pPr>
            <a:r>
              <a:t>  fails on today's hardware</a:t>
            </a:r>
          </a:p>
          <a:p>
            <a:pPr>
              <a:spcAft>
                <a:spcPts val="800"/>
              </a:spcAft>
              <a:defRPr sz="1800">
                <a:solidFill>
                  <a:srgbClr val="CDD6F4"/>
                </a:solidFill>
                <a:latin typeface="Calibri"/>
              </a:defRPr>
            </a:pPr>
          </a:p>
          <a:p>
            <a:pPr>
              <a:spcAft>
                <a:spcPts val="800"/>
              </a:spcAft>
              <a:defRPr sz="1800">
                <a:solidFill>
                  <a:srgbClr val="CDD6F4"/>
                </a:solidFill>
                <a:latin typeface="Calibri"/>
              </a:defRPr>
            </a:pPr>
            <a:r>
              <a:t>• Current solution: stop computation,</a:t>
            </a:r>
          </a:p>
          <a:p>
            <a:pPr>
              <a:spcAft>
                <a:spcPts val="800"/>
              </a:spcAft>
              <a:defRPr sz="1800">
                <a:solidFill>
                  <a:srgbClr val="CDD6F4"/>
                </a:solidFill>
                <a:latin typeface="Calibri"/>
              </a:defRPr>
            </a:pPr>
            <a:r>
              <a:t>  recalibrate, restart (expensive!)</a:t>
            </a:r>
          </a:p>
        </p:txBody>
      </p:sp>
      <p:pic>
        <p:nvPicPr>
          <p:cNvPr id="4" name="Picture 3" descr="phase4_drift_schedules.png"/>
          <p:cNvPicPr>
            <a:picLocks noChangeAspect="1"/>
          </p:cNvPicPr>
          <p:nvPr/>
        </p:nvPicPr>
        <p:blipFill>
          <a:blip r:embed="rId2"/>
          <a:stretch>
            <a:fillRect/>
          </a:stretch>
        </p:blipFill>
        <p:spPr>
          <a:xfrm>
            <a:off x="6217920" y="1097280"/>
            <a:ext cx="5303520"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Our Solution: A Decoder That Keeps Learning</a:t>
            </a:r>
          </a:p>
        </p:txBody>
      </p:sp>
      <p:sp>
        <p:nvSpPr>
          <p:cNvPr id="3" name="TextBox 2"/>
          <p:cNvSpPr txBox="1"/>
          <p:nvPr/>
        </p:nvSpPr>
        <p:spPr>
          <a:xfrm>
            <a:off x="731520" y="1371600"/>
            <a:ext cx="10058400" cy="1371600"/>
          </a:xfrm>
          <a:prstGeom prst="rect">
            <a:avLst/>
          </a:prstGeom>
          <a:noFill/>
        </p:spPr>
        <p:txBody>
          <a:bodyPr wrap="square">
            <a:spAutoFit/>
          </a:bodyPr>
          <a:lstStyle/>
          <a:p>
            <a:pPr>
              <a:spcAft>
                <a:spcPts val="800"/>
              </a:spcAft>
              <a:defRPr sz="1800">
                <a:solidFill>
                  <a:srgbClr val="CDD6F4"/>
                </a:solidFill>
                <a:latin typeface="Calibri"/>
              </a:defRPr>
            </a:pPr>
            <a:r>
              <a:t>Same GRU architecture, but weights update during inference</a:t>
            </a:r>
          </a:p>
          <a:p>
            <a:pPr>
              <a:spcAft>
                <a:spcPts val="800"/>
              </a:spcAft>
              <a:defRPr sz="1800">
                <a:solidFill>
                  <a:srgbClr val="CDD6F4"/>
                </a:solidFill>
                <a:latin typeface="Calibri"/>
              </a:defRPr>
            </a:pPr>
            <a:r>
              <a:t>EMA-smoothed gradient updates — stable, low-overhead</a:t>
            </a:r>
          </a:p>
          <a:p>
            <a:pPr>
              <a:spcAft>
                <a:spcPts val="800"/>
              </a:spcAft>
              <a:defRPr sz="1800">
                <a:solidFill>
                  <a:srgbClr val="CDD6F4"/>
                </a:solidFill>
                <a:latin typeface="Calibri"/>
              </a:defRPr>
            </a:pPr>
            <a:r>
              <a:t>Three adaptation strategies tested:</a:t>
            </a:r>
          </a:p>
        </p:txBody>
      </p:sp>
      <p:sp>
        <p:nvSpPr>
          <p:cNvPr id="4" name="Rounded Rectangle 3"/>
          <p:cNvSpPr/>
          <p:nvPr/>
        </p:nvSpPr>
        <p:spPr>
          <a:xfrm>
            <a:off x="731520" y="3200400"/>
            <a:ext cx="3474720" cy="2286000"/>
          </a:xfrm>
          <a:prstGeom prst="roundRect">
            <a:avLst/>
          </a:prstGeom>
          <a:solidFill>
            <a:srgbClr val="1E1E2E"/>
          </a:solidFill>
          <a:ln w="38100">
            <a:solidFill>
              <a:srgbClr val="CBA6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CBA6F7"/>
                </a:solidFill>
              </a:defRPr>
            </a:pPr>
            <a:r>
              <a:t>Static GRU</a:t>
            </a:r>
          </a:p>
          <a:p>
            <a:br/>
            <a:pPr algn="ctr">
              <a:defRPr sz="1400">
                <a:solidFill>
                  <a:srgbClr val="A6ADC8"/>
                </a:solidFill>
              </a:defRPr>
            </a:pPr>
            <a:r>
              <a:t>Trained once, frozen</a:t>
            </a:r>
            <a:br/>
            <a:r>
              <a:t>(baseline)</a:t>
            </a:r>
          </a:p>
        </p:txBody>
      </p:sp>
      <p:sp>
        <p:nvSpPr>
          <p:cNvPr id="5" name="Rounded Rectangle 4"/>
          <p:cNvSpPr/>
          <p:nvPr/>
        </p:nvSpPr>
        <p:spPr>
          <a:xfrm>
            <a:off x="4480559" y="3200400"/>
            <a:ext cx="3474720" cy="2286000"/>
          </a:xfrm>
          <a:prstGeom prst="roundRect">
            <a:avLst/>
          </a:prstGeom>
          <a:solidFill>
            <a:srgbClr val="1E1E2E"/>
          </a:solidFill>
          <a:ln w="38100">
            <a:solidFill>
              <a:srgbClr val="FAB38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AB387"/>
                </a:solidFill>
              </a:defRPr>
            </a:pPr>
            <a:r>
              <a:t>Pseudo-label</a:t>
            </a:r>
          </a:p>
          <a:p>
            <a:br/>
            <a:pPr algn="ctr">
              <a:defRPr sz="1400">
                <a:solidFill>
                  <a:srgbClr val="A6ADC8"/>
                </a:solidFill>
              </a:defRPr>
            </a:pPr>
            <a:r>
              <a:t>Self-training with confident</a:t>
            </a:r>
            <a:br/>
            <a:r>
              <a:t>predictions → fails under drift</a:t>
            </a:r>
          </a:p>
        </p:txBody>
      </p:sp>
      <p:sp>
        <p:nvSpPr>
          <p:cNvPr id="6" name="Rounded Rectangle 5"/>
          <p:cNvSpPr/>
          <p:nvPr/>
        </p:nvSpPr>
        <p:spPr>
          <a:xfrm>
            <a:off x="8229600" y="3200400"/>
            <a:ext cx="3474720" cy="2286000"/>
          </a:xfrm>
          <a:prstGeom prst="roundRect">
            <a:avLst/>
          </a:prstGeom>
          <a:solidFill>
            <a:srgbClr val="1E1E2E"/>
          </a:solidFill>
          <a:ln w="38100">
            <a:solidFill>
              <a:srgbClr val="A6E3A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A6E3A1"/>
                </a:solidFill>
              </a:defRPr>
            </a:pPr>
            <a:r>
              <a:t>Hybrid</a:t>
            </a:r>
          </a:p>
          <a:p>
            <a:br/>
            <a:pPr algn="ctr">
              <a:defRPr sz="1400">
                <a:solidFill>
                  <a:srgbClr val="A6ADC8"/>
                </a:solidFill>
              </a:defRPr>
            </a:pPr>
            <a:r>
              <a:t>Periodic true labels +</a:t>
            </a:r>
            <a:br/>
            <a:r>
              <a:t>pseudo-labels → prevents</a:t>
            </a:r>
            <a:br/>
            <a:r>
              <a:t>pseudo-label collapse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Phase 4 Results: Five-Way Decoder Comparison</a:t>
            </a:r>
          </a:p>
        </p:txBody>
      </p:sp>
      <p:sp>
        <p:nvSpPr>
          <p:cNvPr id="3" name="TextBox 2"/>
          <p:cNvSpPr txBox="1"/>
          <p:nvPr/>
        </p:nvSpPr>
        <p:spPr>
          <a:xfrm>
            <a:off x="731520" y="1097280"/>
            <a:ext cx="4572000" cy="457200"/>
          </a:xfrm>
          <a:prstGeom prst="rect">
            <a:avLst/>
          </a:prstGeom>
          <a:noFill/>
        </p:spPr>
        <p:txBody>
          <a:bodyPr wrap="square">
            <a:spAutoFit/>
          </a:bodyPr>
          <a:lstStyle/>
          <a:p>
            <a:pPr algn="l">
              <a:defRPr sz="1400" b="0">
                <a:solidFill>
                  <a:srgbClr val="A6ADC8"/>
                </a:solidFill>
                <a:latin typeface="Calibri"/>
              </a:defRPr>
            </a:pPr>
            <a:r>
              <a:t>Overall accuracy under drifting non-idealities (N=100, T=400)</a:t>
            </a:r>
          </a:p>
        </p:txBody>
      </p:sp>
      <p:graphicFrame>
        <p:nvGraphicFramePr>
          <p:cNvPr id="4" name="Table 3"/>
          <p:cNvGraphicFramePr>
            <a:graphicFrameLocks noGrp="1"/>
          </p:cNvGraphicFramePr>
          <p:nvPr/>
        </p:nvGraphicFramePr>
        <p:xfrm>
          <a:off x="731520" y="1645920"/>
          <a:ext cx="5029200" cy="3200400"/>
        </p:xfrm>
        <a:graphic>
          <a:graphicData uri="http://schemas.openxmlformats.org/drawingml/2006/table">
            <a:tbl>
              <a:tblPr firstRow="1" bandRow="1">
                <a:tableStyleId>{5C22544A-7EE6-4342-B048-85BDC9FD1C3A}</a:tableStyleId>
              </a:tblPr>
              <a:tblGrid>
                <a:gridCol w="2514600"/>
                <a:gridCol w="2514600"/>
              </a:tblGrid>
              <a:tr h="533400">
                <a:tc>
                  <a:txBody>
                    <a:bodyPr/>
                    <a:lstStyle/>
                    <a:p>
                      <a:pPr>
                        <a:defRPr sz="1800" b="1">
                          <a:solidFill>
                            <a:srgbClr val="FFFFFF"/>
                          </a:solidFill>
                          <a:latin typeface="Calibri"/>
                        </a:defRPr>
                      </a:pPr>
                      <a:r>
                        <a:t>Decoder</a:t>
                      </a:r>
                    </a:p>
                  </a:txBody>
                  <a:tcPr>
                    <a:solidFill>
                      <a:srgbClr val="313244"/>
                    </a:solidFill>
                  </a:tcPr>
                </a:tc>
                <a:tc>
                  <a:txBody>
                    <a:bodyPr/>
                    <a:lstStyle/>
                    <a:p>
                      <a:pPr>
                        <a:defRPr sz="1800" b="1">
                          <a:solidFill>
                            <a:srgbClr val="FFFFFF"/>
                          </a:solidFill>
                          <a:latin typeface="Calibri"/>
                        </a:defRPr>
                      </a:pPr>
                      <a:r>
                        <a:t>Accuracy</a:t>
                      </a:r>
                    </a:p>
                  </a:txBody>
                  <a:tcPr>
                    <a:solidFill>
                      <a:srgbClr val="313244"/>
                    </a:solidFill>
                  </a:tcPr>
                </a:tc>
              </a:tr>
              <a:tr h="533400">
                <a:tc>
                  <a:txBody>
                    <a:bodyPr/>
                    <a:lstStyle/>
                    <a:p>
                      <a:pPr>
                        <a:defRPr sz="1800" b="0">
                          <a:solidFill>
                            <a:srgbClr val="CDD6F4"/>
                          </a:solidFill>
                          <a:latin typeface="Calibri"/>
                        </a:defRPr>
                      </a:pPr>
                      <a:r>
                        <a:t>Threshold</a:t>
                      </a:r>
                    </a:p>
                  </a:txBody>
                  <a:tcPr>
                    <a:solidFill>
                      <a:srgbClr val="1E1E2E"/>
                    </a:solidFill>
                  </a:tcPr>
                </a:tc>
                <a:tc>
                  <a:txBody>
                    <a:bodyPr/>
                    <a:lstStyle/>
                    <a:p>
                      <a:pPr>
                        <a:defRPr sz="1800" b="0">
                          <a:solidFill>
                            <a:srgbClr val="CDD6F4"/>
                          </a:solidFill>
                          <a:latin typeface="Calibri"/>
                        </a:defRPr>
                      </a:pPr>
                      <a:r>
                        <a:t>70.0%</a:t>
                      </a:r>
                    </a:p>
                  </a:txBody>
                  <a:tcPr>
                    <a:solidFill>
                      <a:srgbClr val="1E1E2E"/>
                    </a:solidFill>
                  </a:tcPr>
                </a:tc>
              </a:tr>
              <a:tr h="533400">
                <a:tc>
                  <a:txBody>
                    <a:bodyPr/>
                    <a:lstStyle/>
                    <a:p>
                      <a:pPr>
                        <a:defRPr sz="1800" b="0">
                          <a:solidFill>
                            <a:srgbClr val="CDD6F4"/>
                          </a:solidFill>
                          <a:latin typeface="Calibri"/>
                        </a:defRPr>
                      </a:pPr>
                      <a:r>
                        <a:t>Bayesian Filter</a:t>
                      </a:r>
                    </a:p>
                  </a:txBody>
                  <a:tcPr>
                    <a:solidFill>
                      <a:srgbClr val="1E1E2E"/>
                    </a:solidFill>
                  </a:tcPr>
                </a:tc>
                <a:tc>
                  <a:txBody>
                    <a:bodyPr/>
                    <a:lstStyle/>
                    <a:p>
                      <a:pPr>
                        <a:defRPr sz="1800" b="0">
                          <a:solidFill>
                            <a:srgbClr val="CDD6F4"/>
                          </a:solidFill>
                          <a:latin typeface="Calibri"/>
                        </a:defRPr>
                      </a:pPr>
                      <a:r>
                        <a:t>76.5%</a:t>
                      </a:r>
                    </a:p>
                  </a:txBody>
                  <a:tcPr>
                    <a:solidFill>
                      <a:srgbClr val="1E1E2E"/>
                    </a:solidFill>
                  </a:tcPr>
                </a:tc>
              </a:tr>
              <a:tr h="533400">
                <a:tc>
                  <a:txBody>
                    <a:bodyPr/>
                    <a:lstStyle/>
                    <a:p>
                      <a:pPr>
                        <a:defRPr sz="1800" b="0">
                          <a:solidFill>
                            <a:srgbClr val="CDD6F4"/>
                          </a:solidFill>
                          <a:latin typeface="Calibri"/>
                        </a:defRPr>
                      </a:pPr>
                      <a:r>
                        <a:t>Static GRU</a:t>
                      </a:r>
                    </a:p>
                  </a:txBody>
                  <a:tcPr>
                    <a:solidFill>
                      <a:srgbClr val="1E1E2E"/>
                    </a:solidFill>
                  </a:tcPr>
                </a:tc>
                <a:tc>
                  <a:txBody>
                    <a:bodyPr/>
                    <a:lstStyle/>
                    <a:p>
                      <a:pPr>
                        <a:defRPr sz="1800" b="0">
                          <a:solidFill>
                            <a:srgbClr val="CDD6F4"/>
                          </a:solidFill>
                          <a:latin typeface="Calibri"/>
                        </a:defRPr>
                      </a:pPr>
                      <a:r>
                        <a:t>86.1%</a:t>
                      </a:r>
                    </a:p>
                  </a:txBody>
                  <a:tcPr>
                    <a:solidFill>
                      <a:srgbClr val="1E1E2E"/>
                    </a:solidFill>
                  </a:tcPr>
                </a:tc>
              </a:tr>
              <a:tr h="533400">
                <a:tc>
                  <a:txBody>
                    <a:bodyPr/>
                    <a:lstStyle/>
                    <a:p>
                      <a:pPr>
                        <a:defRPr sz="1800" b="0">
                          <a:solidFill>
                            <a:srgbClr val="CDD6F4"/>
                          </a:solidFill>
                          <a:latin typeface="Calibri"/>
                        </a:defRPr>
                      </a:pPr>
                      <a:r>
                        <a:t>Adaptive (pseudo-labels)</a:t>
                      </a:r>
                    </a:p>
                  </a:txBody>
                  <a:tcPr>
                    <a:solidFill>
                      <a:srgbClr val="1E1E2E"/>
                    </a:solidFill>
                  </a:tcPr>
                </a:tc>
                <a:tc>
                  <a:txBody>
                    <a:bodyPr/>
                    <a:lstStyle/>
                    <a:p>
                      <a:pPr>
                        <a:defRPr sz="1800" b="0">
                          <a:solidFill>
                            <a:srgbClr val="CDD6F4"/>
                          </a:solidFill>
                          <a:latin typeface="Calibri"/>
                        </a:defRPr>
                      </a:pPr>
                      <a:r>
                        <a:t>78.4%</a:t>
                      </a:r>
                    </a:p>
                  </a:txBody>
                  <a:tcPr>
                    <a:solidFill>
                      <a:srgbClr val="1E1E2E"/>
                    </a:solidFill>
                  </a:tcPr>
                </a:tc>
              </a:tr>
              <a:tr h="533400">
                <a:tc>
                  <a:txBody>
                    <a:bodyPr/>
                    <a:lstStyle/>
                    <a:p>
                      <a:pPr>
                        <a:defRPr sz="1800" b="1">
                          <a:solidFill>
                            <a:srgbClr val="A6E3A1"/>
                          </a:solidFill>
                          <a:latin typeface="Calibri"/>
                        </a:defRPr>
                      </a:pPr>
                      <a:r>
                        <a:t>Adaptive (hybrid, every 20)</a:t>
                      </a:r>
                    </a:p>
                  </a:txBody>
                  <a:tcPr>
                    <a:solidFill>
                      <a:srgbClr val="1E1E2E"/>
                    </a:solidFill>
                  </a:tcPr>
                </a:tc>
                <a:tc>
                  <a:txBody>
                    <a:bodyPr/>
                    <a:lstStyle/>
                    <a:p>
                      <a:pPr>
                        <a:defRPr sz="1800" b="1">
                          <a:solidFill>
                            <a:srgbClr val="A6E3A1"/>
                          </a:solidFill>
                          <a:latin typeface="Calibri"/>
                        </a:defRPr>
                      </a:pPr>
                      <a:r>
                        <a:t>85.7%</a:t>
                      </a:r>
                    </a:p>
                  </a:txBody>
                  <a:tcPr>
                    <a:solidFill>
                      <a:srgbClr val="1E1E2E"/>
                    </a:solidFill>
                  </a:tcPr>
                </a:tc>
              </a:tr>
            </a:tbl>
          </a:graphicData>
        </a:graphic>
      </p:graphicFrame>
      <p:pic>
        <p:nvPicPr>
          <p:cNvPr id="5" name="Picture 4" descr="phase4_decoder_comparison.png"/>
          <p:cNvPicPr>
            <a:picLocks noChangeAspect="1"/>
          </p:cNvPicPr>
          <p:nvPr/>
        </p:nvPicPr>
        <p:blipFill>
          <a:blip r:embed="rId2"/>
          <a:stretch>
            <a:fillRect/>
          </a:stretch>
        </p:blipFill>
        <p:spPr>
          <a:xfrm>
            <a:off x="6400800" y="1097280"/>
            <a:ext cx="5029200"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182880"/>
            <a:ext cx="10058400" cy="731520"/>
          </a:xfrm>
          <a:prstGeom prst="rect">
            <a:avLst/>
          </a:prstGeom>
          <a:noFill/>
        </p:spPr>
        <p:txBody>
          <a:bodyPr wrap="square">
            <a:spAutoFit/>
          </a:bodyPr>
          <a:lstStyle/>
          <a:p>
            <a:pPr algn="l">
              <a:defRPr sz="3000" b="1">
                <a:solidFill>
                  <a:srgbClr val="FFFFFF"/>
                </a:solidFill>
                <a:latin typeface="Calibri"/>
              </a:defRPr>
            </a:pPr>
            <a:r>
              <a:t>⭐ As Hardware Drifts, Static Decoders Fail — Adaptive Survives</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200" b="0">
                <a:solidFill>
                  <a:srgbClr val="A6ADC8"/>
                </a:solidFill>
                <a:latin typeface="Calibri"/>
              </a:defRPr>
            </a:pPr>
            <a:r>
              <a:t>Static drop 13.2pp · Hybrid drop 14.7pp · Pseudo-label collapses to 12–46% across all segments</a:t>
            </a:r>
          </a:p>
        </p:txBody>
      </p:sp>
      <p:graphicFrame>
        <p:nvGraphicFramePr>
          <p:cNvPr id="4" name="Table 3"/>
          <p:cNvGraphicFramePr>
            <a:graphicFrameLocks noGrp="1"/>
          </p:cNvGraphicFramePr>
          <p:nvPr/>
        </p:nvGraphicFramePr>
        <p:xfrm>
          <a:off x="274320" y="1371600"/>
          <a:ext cx="11430000" cy="25603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426720">
                <a:tc>
                  <a:txBody>
                    <a:bodyPr/>
                    <a:lstStyle/>
                    <a:p>
                      <a:pPr algn="ctr">
                        <a:defRPr sz="1300" b="1">
                          <a:solidFill>
                            <a:srgbClr val="FFFFFF"/>
                          </a:solidFill>
                          <a:latin typeface="Calibri"/>
                        </a:defRPr>
                      </a:pPr>
                      <a:r>
                        <a:t>Segment</a:t>
                      </a:r>
                    </a:p>
                  </a:txBody>
                  <a:tcPr>
                    <a:solidFill>
                      <a:srgbClr val="313244"/>
                    </a:solidFill>
                  </a:tcPr>
                </a:tc>
                <a:tc>
                  <a:txBody>
                    <a:bodyPr/>
                    <a:lstStyle/>
                    <a:p>
                      <a:pPr algn="ctr">
                        <a:defRPr sz="1300" b="1">
                          <a:solidFill>
                            <a:srgbClr val="FFFFFF"/>
                          </a:solidFill>
                          <a:latin typeface="Calibri"/>
                        </a:defRPr>
                      </a:pPr>
                      <a:r>
                        <a:t>Threshold</a:t>
                      </a:r>
                    </a:p>
                  </a:txBody>
                  <a:tcPr>
                    <a:solidFill>
                      <a:srgbClr val="313244"/>
                    </a:solidFill>
                  </a:tcPr>
                </a:tc>
                <a:tc>
                  <a:txBody>
                    <a:bodyPr/>
                    <a:lstStyle/>
                    <a:p>
                      <a:pPr algn="ctr">
                        <a:defRPr sz="1300" b="1">
                          <a:solidFill>
                            <a:srgbClr val="FFFFFF"/>
                          </a:solidFill>
                          <a:latin typeface="Calibri"/>
                        </a:defRPr>
                      </a:pPr>
                      <a:r>
                        <a:t>Bayesian</a:t>
                      </a:r>
                    </a:p>
                  </a:txBody>
                  <a:tcPr>
                    <a:solidFill>
                      <a:srgbClr val="313244"/>
                    </a:solidFill>
                  </a:tcPr>
                </a:tc>
                <a:tc>
                  <a:txBody>
                    <a:bodyPr/>
                    <a:lstStyle/>
                    <a:p>
                      <a:pPr algn="ctr">
                        <a:defRPr sz="1300" b="1">
                          <a:solidFill>
                            <a:srgbClr val="FFFFFF"/>
                          </a:solidFill>
                          <a:latin typeface="Calibri"/>
                        </a:defRPr>
                      </a:pPr>
                      <a:r>
                        <a:t>Static GRU</a:t>
                      </a:r>
                    </a:p>
                  </a:txBody>
                  <a:tcPr>
                    <a:solidFill>
                      <a:srgbClr val="313244"/>
                    </a:solidFill>
                  </a:tcPr>
                </a:tc>
                <a:tc>
                  <a:txBody>
                    <a:bodyPr/>
                    <a:lstStyle/>
                    <a:p>
                      <a:pPr algn="ctr">
                        <a:defRPr sz="1300" b="1">
                          <a:solidFill>
                            <a:srgbClr val="FFFFFF"/>
                          </a:solidFill>
                          <a:latin typeface="Calibri"/>
                        </a:defRPr>
                      </a:pPr>
                      <a:r>
                        <a:t>Pseudo-label</a:t>
                      </a:r>
                    </a:p>
                  </a:txBody>
                  <a:tcPr>
                    <a:solidFill>
                      <a:srgbClr val="313244"/>
                    </a:solidFill>
                  </a:tcPr>
                </a:tc>
                <a:tc>
                  <a:txBody>
                    <a:bodyPr/>
                    <a:lstStyle/>
                    <a:p>
                      <a:pPr algn="ctr">
                        <a:defRPr sz="1300" b="1">
                          <a:solidFill>
                            <a:srgbClr val="FFFFFF"/>
                          </a:solidFill>
                          <a:latin typeface="Calibri"/>
                        </a:defRPr>
                      </a:pPr>
                      <a:r>
                        <a:t>Hybrid</a:t>
                      </a:r>
                    </a:p>
                  </a:txBody>
                  <a:tcPr>
                    <a:solidFill>
                      <a:srgbClr val="313244"/>
                    </a:solidFill>
                  </a:tcPr>
                </a:tc>
              </a:tr>
              <a:tr h="426720">
                <a:tc>
                  <a:txBody>
                    <a:bodyPr/>
                    <a:lstStyle/>
                    <a:p>
                      <a:pPr algn="ctr">
                        <a:defRPr sz="1300">
                          <a:solidFill>
                            <a:srgbClr val="CDD6F4"/>
                          </a:solidFill>
                          <a:latin typeface="Calibri"/>
                        </a:defRPr>
                      </a:pPr>
                      <a:r>
                        <a:t>1 (early)</a:t>
                      </a:r>
                    </a:p>
                  </a:txBody>
                  <a:tcPr>
                    <a:solidFill>
                      <a:srgbClr val="1E1E2E"/>
                    </a:solidFill>
                  </a:tcPr>
                </a:tc>
                <a:tc>
                  <a:txBody>
                    <a:bodyPr/>
                    <a:lstStyle/>
                    <a:p>
                      <a:pPr algn="ctr">
                        <a:defRPr sz="1300">
                          <a:solidFill>
                            <a:srgbClr val="CDD6F4"/>
                          </a:solidFill>
                          <a:latin typeface="Calibri"/>
                        </a:defRPr>
                      </a:pPr>
                      <a:r>
                        <a:t>76.0%</a:t>
                      </a:r>
                    </a:p>
                  </a:txBody>
                  <a:tcPr>
                    <a:solidFill>
                      <a:srgbClr val="1E1E2E"/>
                    </a:solidFill>
                  </a:tcPr>
                </a:tc>
                <a:tc>
                  <a:txBody>
                    <a:bodyPr/>
                    <a:lstStyle/>
                    <a:p>
                      <a:pPr algn="ctr">
                        <a:defRPr sz="1300">
                          <a:solidFill>
                            <a:srgbClr val="CDD6F4"/>
                          </a:solidFill>
                          <a:latin typeface="Calibri"/>
                        </a:defRPr>
                      </a:pPr>
                      <a:r>
                        <a:t>90.1%</a:t>
                      </a:r>
                    </a:p>
                  </a:txBody>
                  <a:tcPr>
                    <a:solidFill>
                      <a:srgbClr val="1E1E2E"/>
                    </a:solidFill>
                  </a:tcPr>
                </a:tc>
                <a:tc>
                  <a:txBody>
                    <a:bodyPr/>
                    <a:lstStyle/>
                    <a:p>
                      <a:pPr algn="ctr">
                        <a:defRPr sz="1300">
                          <a:solidFill>
                            <a:srgbClr val="CDD6F4"/>
                          </a:solidFill>
                          <a:latin typeface="Calibri"/>
                        </a:defRPr>
                      </a:pPr>
                      <a:r>
                        <a:t>89.2%</a:t>
                      </a:r>
                    </a:p>
                  </a:txBody>
                  <a:tcPr>
                    <a:solidFill>
                      <a:srgbClr val="1E1E2E"/>
                    </a:solidFill>
                  </a:tcPr>
                </a:tc>
                <a:tc>
                  <a:txBody>
                    <a:bodyPr/>
                    <a:lstStyle/>
                    <a:p>
                      <a:pPr algn="ctr">
                        <a:defRPr sz="1300">
                          <a:solidFill>
                            <a:srgbClr val="CDD6F4"/>
                          </a:solidFill>
                          <a:latin typeface="Calibri"/>
                        </a:defRPr>
                      </a:pPr>
                      <a:r>
                        <a:t>45.8%</a:t>
                      </a:r>
                    </a:p>
                  </a:txBody>
                  <a:tcPr>
                    <a:solidFill>
                      <a:srgbClr val="1E1E2E"/>
                    </a:solidFill>
                  </a:tcPr>
                </a:tc>
                <a:tc>
                  <a:txBody>
                    <a:bodyPr/>
                    <a:lstStyle/>
                    <a:p>
                      <a:pPr algn="ctr">
                        <a:defRPr sz="1300" b="1">
                          <a:solidFill>
                            <a:srgbClr val="A6E3A1"/>
                          </a:solidFill>
                          <a:latin typeface="Calibri"/>
                        </a:defRPr>
                      </a:pPr>
                      <a:r>
                        <a:t>88.2%</a:t>
                      </a:r>
                    </a:p>
                  </a:txBody>
                  <a:tcPr>
                    <a:solidFill>
                      <a:srgbClr val="1E1E2E"/>
                    </a:solidFill>
                  </a:tcPr>
                </a:tc>
              </a:tr>
              <a:tr h="426720">
                <a:tc>
                  <a:txBody>
                    <a:bodyPr/>
                    <a:lstStyle/>
                    <a:p>
                      <a:pPr algn="ctr">
                        <a:defRPr sz="1300">
                          <a:solidFill>
                            <a:srgbClr val="CDD6F4"/>
                          </a:solidFill>
                          <a:latin typeface="Calibri"/>
                        </a:defRPr>
                      </a:pPr>
                      <a:r>
                        <a:t>2</a:t>
                      </a:r>
                    </a:p>
                  </a:txBody>
                  <a:tcPr>
                    <a:solidFill>
                      <a:srgbClr val="1E1E2E"/>
                    </a:solidFill>
                  </a:tcPr>
                </a:tc>
                <a:tc>
                  <a:txBody>
                    <a:bodyPr/>
                    <a:lstStyle/>
                    <a:p>
                      <a:pPr algn="ctr">
                        <a:defRPr sz="1300">
                          <a:solidFill>
                            <a:srgbClr val="CDD6F4"/>
                          </a:solidFill>
                          <a:latin typeface="Calibri"/>
                        </a:defRPr>
                      </a:pPr>
                      <a:r>
                        <a:t>80.5%</a:t>
                      </a:r>
                    </a:p>
                  </a:txBody>
                  <a:tcPr>
                    <a:solidFill>
                      <a:srgbClr val="1E1E2E"/>
                    </a:solidFill>
                  </a:tcPr>
                </a:tc>
                <a:tc>
                  <a:txBody>
                    <a:bodyPr/>
                    <a:lstStyle/>
                    <a:p>
                      <a:pPr algn="ctr">
                        <a:defRPr sz="1300">
                          <a:solidFill>
                            <a:srgbClr val="CDD6F4"/>
                          </a:solidFill>
                          <a:latin typeface="Calibri"/>
                        </a:defRPr>
                      </a:pPr>
                      <a:r>
                        <a:t>85.9%</a:t>
                      </a:r>
                    </a:p>
                  </a:txBody>
                  <a:tcPr>
                    <a:solidFill>
                      <a:srgbClr val="1E1E2E"/>
                    </a:solidFill>
                  </a:tcPr>
                </a:tc>
                <a:tc>
                  <a:txBody>
                    <a:bodyPr/>
                    <a:lstStyle/>
                    <a:p>
                      <a:pPr algn="ctr">
                        <a:defRPr sz="1300">
                          <a:solidFill>
                            <a:srgbClr val="CDD6F4"/>
                          </a:solidFill>
                          <a:latin typeface="Calibri"/>
                        </a:defRPr>
                      </a:pPr>
                      <a:r>
                        <a:t>92.4%</a:t>
                      </a:r>
                    </a:p>
                  </a:txBody>
                  <a:tcPr>
                    <a:solidFill>
                      <a:srgbClr val="1E1E2E"/>
                    </a:solidFill>
                  </a:tcPr>
                </a:tc>
                <a:tc>
                  <a:txBody>
                    <a:bodyPr/>
                    <a:lstStyle/>
                    <a:p>
                      <a:pPr algn="ctr">
                        <a:defRPr sz="1300">
                          <a:solidFill>
                            <a:srgbClr val="CDD6F4"/>
                          </a:solidFill>
                          <a:latin typeface="Calibri"/>
                        </a:defRPr>
                      </a:pPr>
                      <a:r>
                        <a:t>20.9%</a:t>
                      </a:r>
                    </a:p>
                  </a:txBody>
                  <a:tcPr>
                    <a:solidFill>
                      <a:srgbClr val="1E1E2E"/>
                    </a:solidFill>
                  </a:tcPr>
                </a:tc>
                <a:tc>
                  <a:txBody>
                    <a:bodyPr/>
                    <a:lstStyle/>
                    <a:p>
                      <a:pPr algn="ctr">
                        <a:defRPr sz="1300" b="1">
                          <a:solidFill>
                            <a:srgbClr val="A6E3A1"/>
                          </a:solidFill>
                          <a:latin typeface="Calibri"/>
                        </a:defRPr>
                      </a:pPr>
                      <a:r>
                        <a:t>93.4%</a:t>
                      </a:r>
                    </a:p>
                  </a:txBody>
                  <a:tcPr>
                    <a:solidFill>
                      <a:srgbClr val="1E1E2E"/>
                    </a:solidFill>
                  </a:tcPr>
                </a:tc>
              </a:tr>
              <a:tr h="426720">
                <a:tc>
                  <a:txBody>
                    <a:bodyPr/>
                    <a:lstStyle/>
                    <a:p>
                      <a:pPr algn="ctr">
                        <a:defRPr sz="1300">
                          <a:solidFill>
                            <a:srgbClr val="CDD6F4"/>
                          </a:solidFill>
                          <a:latin typeface="Calibri"/>
                        </a:defRPr>
                      </a:pPr>
                      <a:r>
                        <a:t>3 (mid)</a:t>
                      </a:r>
                    </a:p>
                  </a:txBody>
                  <a:tcPr>
                    <a:solidFill>
                      <a:srgbClr val="1E1E2E"/>
                    </a:solidFill>
                  </a:tcPr>
                </a:tc>
                <a:tc>
                  <a:txBody>
                    <a:bodyPr/>
                    <a:lstStyle/>
                    <a:p>
                      <a:pPr algn="ctr">
                        <a:defRPr sz="1300">
                          <a:solidFill>
                            <a:srgbClr val="CDD6F4"/>
                          </a:solidFill>
                          <a:latin typeface="Calibri"/>
                        </a:defRPr>
                      </a:pPr>
                      <a:r>
                        <a:t>75.8%</a:t>
                      </a:r>
                    </a:p>
                  </a:txBody>
                  <a:tcPr>
                    <a:solidFill>
                      <a:srgbClr val="1E1E2E"/>
                    </a:solidFill>
                  </a:tcPr>
                </a:tc>
                <a:tc>
                  <a:txBody>
                    <a:bodyPr/>
                    <a:lstStyle/>
                    <a:p>
                      <a:pPr algn="ctr">
                        <a:defRPr sz="1300">
                          <a:solidFill>
                            <a:srgbClr val="CDD6F4"/>
                          </a:solidFill>
                          <a:latin typeface="Calibri"/>
                        </a:defRPr>
                      </a:pPr>
                      <a:r>
                        <a:t>75.1%</a:t>
                      </a:r>
                    </a:p>
                  </a:txBody>
                  <a:tcPr>
                    <a:solidFill>
                      <a:srgbClr val="1E1E2E"/>
                    </a:solidFill>
                  </a:tcPr>
                </a:tc>
                <a:tc>
                  <a:txBody>
                    <a:bodyPr/>
                    <a:lstStyle/>
                    <a:p>
                      <a:pPr algn="ctr">
                        <a:defRPr sz="1300">
                          <a:solidFill>
                            <a:srgbClr val="CDD6F4"/>
                          </a:solidFill>
                          <a:latin typeface="Calibri"/>
                        </a:defRPr>
                      </a:pPr>
                      <a:r>
                        <a:t>90.8%</a:t>
                      </a:r>
                    </a:p>
                  </a:txBody>
                  <a:tcPr>
                    <a:solidFill>
                      <a:srgbClr val="1E1E2E"/>
                    </a:solidFill>
                  </a:tcPr>
                </a:tc>
                <a:tc>
                  <a:txBody>
                    <a:bodyPr/>
                    <a:lstStyle/>
                    <a:p>
                      <a:pPr algn="ctr">
                        <a:defRPr sz="1300">
                          <a:solidFill>
                            <a:srgbClr val="CDD6F4"/>
                          </a:solidFill>
                          <a:latin typeface="Calibri"/>
                        </a:defRPr>
                      </a:pPr>
                      <a:r>
                        <a:t>12.2%</a:t>
                      </a:r>
                    </a:p>
                  </a:txBody>
                  <a:tcPr>
                    <a:solidFill>
                      <a:srgbClr val="1E1E2E"/>
                    </a:solidFill>
                  </a:tcPr>
                </a:tc>
                <a:tc>
                  <a:txBody>
                    <a:bodyPr/>
                    <a:lstStyle/>
                    <a:p>
                      <a:pPr algn="ctr">
                        <a:defRPr sz="1300" b="1">
                          <a:solidFill>
                            <a:srgbClr val="A6E3A1"/>
                          </a:solidFill>
                          <a:latin typeface="Calibri"/>
                        </a:defRPr>
                      </a:pPr>
                      <a:r>
                        <a:t>89.9%</a:t>
                      </a:r>
                    </a:p>
                  </a:txBody>
                  <a:tcPr>
                    <a:solidFill>
                      <a:srgbClr val="1E1E2E"/>
                    </a:solidFill>
                  </a:tcPr>
                </a:tc>
              </a:tr>
              <a:tr h="426720">
                <a:tc>
                  <a:txBody>
                    <a:bodyPr/>
                    <a:lstStyle/>
                    <a:p>
                      <a:pPr algn="ctr">
                        <a:defRPr sz="1300">
                          <a:solidFill>
                            <a:srgbClr val="CDD6F4"/>
                          </a:solidFill>
                          <a:latin typeface="Calibri"/>
                        </a:defRPr>
                      </a:pPr>
                      <a:r>
                        <a:t>4</a:t>
                      </a:r>
                    </a:p>
                  </a:txBody>
                  <a:tcPr>
                    <a:solidFill>
                      <a:srgbClr val="1E1E2E"/>
                    </a:solidFill>
                  </a:tcPr>
                </a:tc>
                <a:tc>
                  <a:txBody>
                    <a:bodyPr/>
                    <a:lstStyle/>
                    <a:p>
                      <a:pPr algn="ctr">
                        <a:defRPr sz="1300">
                          <a:solidFill>
                            <a:srgbClr val="CDD6F4"/>
                          </a:solidFill>
                          <a:latin typeface="Calibri"/>
                        </a:defRPr>
                      </a:pPr>
                      <a:r>
                        <a:t>57.6%</a:t>
                      </a:r>
                    </a:p>
                  </a:txBody>
                  <a:tcPr>
                    <a:solidFill>
                      <a:srgbClr val="1E1E2E"/>
                    </a:solidFill>
                  </a:tcPr>
                </a:tc>
                <a:tc>
                  <a:txBody>
                    <a:bodyPr/>
                    <a:lstStyle/>
                    <a:p>
                      <a:pPr algn="ctr">
                        <a:defRPr sz="1300">
                          <a:solidFill>
                            <a:srgbClr val="CDD6F4"/>
                          </a:solidFill>
                          <a:latin typeface="Calibri"/>
                        </a:defRPr>
                      </a:pPr>
                      <a:r>
                        <a:t>66.1%</a:t>
                      </a:r>
                    </a:p>
                  </a:txBody>
                  <a:tcPr>
                    <a:solidFill>
                      <a:srgbClr val="1E1E2E"/>
                    </a:solidFill>
                  </a:tcPr>
                </a:tc>
                <a:tc>
                  <a:txBody>
                    <a:bodyPr/>
                    <a:lstStyle/>
                    <a:p>
                      <a:pPr algn="ctr">
                        <a:defRPr sz="1300">
                          <a:solidFill>
                            <a:srgbClr val="CDD6F4"/>
                          </a:solidFill>
                          <a:latin typeface="Calibri"/>
                        </a:defRPr>
                      </a:pPr>
                      <a:r>
                        <a:t>81.8%</a:t>
                      </a:r>
                    </a:p>
                  </a:txBody>
                  <a:tcPr>
                    <a:solidFill>
                      <a:srgbClr val="1E1E2E"/>
                    </a:solidFill>
                  </a:tcPr>
                </a:tc>
                <a:tc>
                  <a:txBody>
                    <a:bodyPr/>
                    <a:lstStyle/>
                    <a:p>
                      <a:pPr algn="ctr">
                        <a:defRPr sz="1300">
                          <a:solidFill>
                            <a:srgbClr val="CDD6F4"/>
                          </a:solidFill>
                          <a:latin typeface="Calibri"/>
                        </a:defRPr>
                      </a:pPr>
                      <a:r>
                        <a:t>19.7%</a:t>
                      </a:r>
                    </a:p>
                  </a:txBody>
                  <a:tcPr>
                    <a:solidFill>
                      <a:srgbClr val="1E1E2E"/>
                    </a:solidFill>
                  </a:tcPr>
                </a:tc>
                <a:tc>
                  <a:txBody>
                    <a:bodyPr/>
                    <a:lstStyle/>
                    <a:p>
                      <a:pPr algn="ctr">
                        <a:defRPr sz="1300" b="1">
                          <a:solidFill>
                            <a:srgbClr val="A6E3A1"/>
                          </a:solidFill>
                          <a:latin typeface="Calibri"/>
                        </a:defRPr>
                      </a:pPr>
                      <a:r>
                        <a:t>82.6%</a:t>
                      </a:r>
                    </a:p>
                  </a:txBody>
                  <a:tcPr>
                    <a:solidFill>
                      <a:srgbClr val="1E1E2E"/>
                    </a:solidFill>
                  </a:tcPr>
                </a:tc>
              </a:tr>
              <a:tr h="426720">
                <a:tc>
                  <a:txBody>
                    <a:bodyPr/>
                    <a:lstStyle/>
                    <a:p>
                      <a:pPr algn="ctr">
                        <a:defRPr sz="1300">
                          <a:solidFill>
                            <a:srgbClr val="CDD6F4"/>
                          </a:solidFill>
                          <a:latin typeface="Calibri"/>
                        </a:defRPr>
                      </a:pPr>
                      <a:r>
                        <a:t>5 (late)</a:t>
                      </a:r>
                    </a:p>
                  </a:txBody>
                  <a:tcPr>
                    <a:solidFill>
                      <a:srgbClr val="1E1E2E"/>
                    </a:solidFill>
                  </a:tcPr>
                </a:tc>
                <a:tc>
                  <a:txBody>
                    <a:bodyPr/>
                    <a:lstStyle/>
                    <a:p>
                      <a:pPr algn="ctr">
                        <a:defRPr sz="1300">
                          <a:solidFill>
                            <a:srgbClr val="CDD6F4"/>
                          </a:solidFill>
                          <a:latin typeface="Calibri"/>
                        </a:defRPr>
                      </a:pPr>
                      <a:r>
                        <a:t>60.0%</a:t>
                      </a:r>
                    </a:p>
                  </a:txBody>
                  <a:tcPr>
                    <a:solidFill>
                      <a:srgbClr val="1E1E2E"/>
                    </a:solidFill>
                  </a:tcPr>
                </a:tc>
                <a:tc>
                  <a:txBody>
                    <a:bodyPr/>
                    <a:lstStyle/>
                    <a:p>
                      <a:pPr algn="ctr">
                        <a:defRPr sz="1300">
                          <a:solidFill>
                            <a:srgbClr val="CDD6F4"/>
                          </a:solidFill>
                          <a:latin typeface="Calibri"/>
                        </a:defRPr>
                      </a:pPr>
                      <a:r>
                        <a:t>65.0%</a:t>
                      </a:r>
                    </a:p>
                  </a:txBody>
                  <a:tcPr>
                    <a:solidFill>
                      <a:srgbClr val="1E1E2E"/>
                    </a:solidFill>
                  </a:tcPr>
                </a:tc>
                <a:tc>
                  <a:txBody>
                    <a:bodyPr/>
                    <a:lstStyle/>
                    <a:p>
                      <a:pPr algn="ctr">
                        <a:defRPr sz="1300">
                          <a:solidFill>
                            <a:srgbClr val="CDD6F4"/>
                          </a:solidFill>
                          <a:latin typeface="Calibri"/>
                        </a:defRPr>
                      </a:pPr>
                      <a:r>
                        <a:t>76.0%</a:t>
                      </a:r>
                    </a:p>
                  </a:txBody>
                  <a:tcPr>
                    <a:solidFill>
                      <a:srgbClr val="1E1E2E"/>
                    </a:solidFill>
                  </a:tcPr>
                </a:tc>
                <a:tc>
                  <a:txBody>
                    <a:bodyPr/>
                    <a:lstStyle/>
                    <a:p>
                      <a:pPr algn="ctr">
                        <a:defRPr sz="1300">
                          <a:solidFill>
                            <a:srgbClr val="CDD6F4"/>
                          </a:solidFill>
                          <a:latin typeface="Calibri"/>
                        </a:defRPr>
                      </a:pPr>
                      <a:r>
                        <a:t>26.4%</a:t>
                      </a:r>
                    </a:p>
                  </a:txBody>
                  <a:tcPr>
                    <a:solidFill>
                      <a:srgbClr val="1E1E2E"/>
                    </a:solidFill>
                  </a:tcPr>
                </a:tc>
                <a:tc>
                  <a:txBody>
                    <a:bodyPr/>
                    <a:lstStyle/>
                    <a:p>
                      <a:pPr algn="ctr">
                        <a:defRPr sz="1300" b="1">
                          <a:solidFill>
                            <a:srgbClr val="A6E3A1"/>
                          </a:solidFill>
                          <a:latin typeface="Calibri"/>
                        </a:defRPr>
                      </a:pPr>
                      <a:r>
                        <a:t>73.5%</a:t>
                      </a:r>
                    </a:p>
                  </a:txBody>
                  <a:tcPr>
                    <a:solidFill>
                      <a:srgbClr val="1E1E2E"/>
                    </a:solidFill>
                  </a:tcPr>
                </a:tc>
              </a:tr>
            </a:tbl>
          </a:graphicData>
        </a:graphic>
      </p:graphicFrame>
      <p:pic>
        <p:nvPicPr>
          <p:cNvPr id="5" name="Picture 4" descr="phase4_accuracy_over_time.png"/>
          <p:cNvPicPr>
            <a:picLocks noChangeAspect="1"/>
          </p:cNvPicPr>
          <p:nvPr/>
        </p:nvPicPr>
        <p:blipFill>
          <a:blip r:embed="rId2"/>
          <a:stretch>
            <a:fillRect/>
          </a:stretch>
        </p:blipFill>
        <p:spPr>
          <a:xfrm>
            <a:off x="914400" y="4114800"/>
            <a:ext cx="10058400" cy="2560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Why Pure Self-Training Fails: The Pseudo-Label Trap</a:t>
            </a:r>
          </a:p>
        </p:txBody>
      </p:sp>
      <p:sp>
        <p:nvSpPr>
          <p:cNvPr id="3" name="TextBox 2"/>
          <p:cNvSpPr txBox="1"/>
          <p:nvPr/>
        </p:nvSpPr>
        <p:spPr>
          <a:xfrm>
            <a:off x="731520" y="1371600"/>
            <a:ext cx="5486400" cy="2743200"/>
          </a:xfrm>
          <a:prstGeom prst="rect">
            <a:avLst/>
          </a:prstGeom>
          <a:noFill/>
        </p:spPr>
        <p:txBody>
          <a:bodyPr wrap="square">
            <a:spAutoFit/>
          </a:bodyPr>
          <a:lstStyle/>
          <a:p>
            <a:pPr>
              <a:spcAft>
                <a:spcPts val="800"/>
              </a:spcAft>
              <a:defRPr sz="2000">
                <a:solidFill>
                  <a:srgbClr val="CDD6F4"/>
                </a:solidFill>
                <a:latin typeface="Calibri"/>
              </a:defRPr>
            </a:pPr>
            <a:r>
              <a:t>• Model stays ~99.9% confident on average</a:t>
            </a:r>
          </a:p>
          <a:p>
            <a:pPr>
              <a:spcAft>
                <a:spcPts val="800"/>
              </a:spcAft>
              <a:defRPr sz="2000">
                <a:solidFill>
                  <a:srgbClr val="CDD6F4"/>
                </a:solidFill>
                <a:latin typeface="Calibri"/>
              </a:defRPr>
            </a:pPr>
            <a:r>
              <a:t>• But accuracy collapses to 26.4% at segment 5</a:t>
            </a:r>
          </a:p>
          <a:p>
            <a:pPr>
              <a:spcAft>
                <a:spcPts val="800"/>
              </a:spcAft>
              <a:defRPr sz="2000">
                <a:solidFill>
                  <a:srgbClr val="CDD6F4"/>
                </a:solidFill>
                <a:latin typeface="Calibri"/>
              </a:defRPr>
            </a:pPr>
            <a:r>
              <a:t>• High confidence + wrong answer = poisoned labels</a:t>
            </a:r>
          </a:p>
          <a:p>
            <a:pPr>
              <a:spcAft>
                <a:spcPts val="800"/>
              </a:spcAft>
              <a:defRPr sz="2000">
                <a:solidFill>
                  <a:srgbClr val="CDD6F4"/>
                </a:solidFill>
                <a:latin typeface="Calibri"/>
              </a:defRPr>
            </a:pPr>
            <a:r>
              <a:t>• The model reinforces its own mistakes</a:t>
            </a:r>
          </a:p>
          <a:p>
            <a:pPr>
              <a:spcAft>
                <a:spcPts val="800"/>
              </a:spcAft>
              <a:defRPr sz="2000">
                <a:solidFill>
                  <a:srgbClr val="CDD6F4"/>
                </a:solidFill>
                <a:latin typeface="Calibri"/>
              </a:defRPr>
            </a:pPr>
            <a:r>
              <a:t>• Accuracy stays below 50% across every segment</a:t>
            </a:r>
          </a:p>
        </p:txBody>
      </p:sp>
      <p:sp>
        <p:nvSpPr>
          <p:cNvPr id="4" name="Rounded Rectangle 3"/>
          <p:cNvSpPr/>
          <p:nvPr/>
        </p:nvSpPr>
        <p:spPr>
          <a:xfrm>
            <a:off x="6858000" y="1371600"/>
            <a:ext cx="2103120" cy="1645920"/>
          </a:xfrm>
          <a:prstGeom prst="roundRect">
            <a:avLst/>
          </a:prstGeom>
          <a:solidFill>
            <a:srgbClr val="1E1E2E"/>
          </a:solidFill>
          <a:ln w="25400">
            <a:solidFill>
              <a:srgbClr val="A6E3A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A6E3A1"/>
                </a:solidFill>
              </a:defRPr>
            </a:pPr>
            <a:r>
              <a:t>Correct +</a:t>
            </a:r>
            <a:br/>
            <a:r>
              <a:t>High Conf</a:t>
            </a:r>
          </a:p>
          <a:p>
            <a:pPr algn="ctr">
              <a:defRPr sz="1600">
                <a:solidFill>
                  <a:srgbClr val="A6E3A1"/>
                </a:solidFill>
              </a:defRPr>
            </a:pPr>
            <a:r>
              <a:t>✅ Good</a:t>
            </a:r>
          </a:p>
        </p:txBody>
      </p:sp>
      <p:sp>
        <p:nvSpPr>
          <p:cNvPr id="5" name="Rounded Rectangle 4"/>
          <p:cNvSpPr/>
          <p:nvPr/>
        </p:nvSpPr>
        <p:spPr>
          <a:xfrm>
            <a:off x="9144000" y="1371600"/>
            <a:ext cx="2103120" cy="1645920"/>
          </a:xfrm>
          <a:prstGeom prst="roundRect">
            <a:avLst/>
          </a:prstGeom>
          <a:solidFill>
            <a:srgbClr val="1E1E2E"/>
          </a:solidFill>
          <a:ln w="25400">
            <a:solidFill>
              <a:srgbClr val="F38B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38BA8"/>
                </a:solidFill>
              </a:defRPr>
            </a:pPr>
            <a:r>
              <a:t>Wrong +</a:t>
            </a:r>
            <a:br/>
            <a:r>
              <a:t>High Conf</a:t>
            </a:r>
          </a:p>
          <a:p>
            <a:pPr algn="ctr">
              <a:defRPr sz="1600">
                <a:solidFill>
                  <a:srgbClr val="F38BA8"/>
                </a:solidFill>
              </a:defRPr>
            </a:pPr>
            <a:r>
              <a:t>❌ Poison!</a:t>
            </a:r>
          </a:p>
        </p:txBody>
      </p:sp>
      <p:sp>
        <p:nvSpPr>
          <p:cNvPr id="6" name="Rounded Rectangle 5"/>
          <p:cNvSpPr/>
          <p:nvPr/>
        </p:nvSpPr>
        <p:spPr>
          <a:xfrm>
            <a:off x="6858000" y="3383280"/>
            <a:ext cx="2103120" cy="1645920"/>
          </a:xfrm>
          <a:prstGeom prst="roundRect">
            <a:avLst/>
          </a:prstGeom>
          <a:solidFill>
            <a:srgbClr val="1E1E2E"/>
          </a:solidFill>
          <a:ln w="25400">
            <a:solidFill>
              <a:srgbClr val="89B4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89B4FA"/>
                </a:solidFill>
              </a:defRPr>
            </a:pPr>
            <a:r>
              <a:t>Correct +</a:t>
            </a:r>
            <a:br/>
            <a:r>
              <a:t>Low Conf</a:t>
            </a:r>
          </a:p>
          <a:p>
            <a:pPr algn="ctr">
              <a:defRPr sz="1600">
                <a:solidFill>
                  <a:srgbClr val="89B4FA"/>
                </a:solidFill>
              </a:defRPr>
            </a:pPr>
            <a:r>
              <a:t>⚠️ Skip</a:t>
            </a:r>
          </a:p>
        </p:txBody>
      </p:sp>
      <p:sp>
        <p:nvSpPr>
          <p:cNvPr id="7" name="Rounded Rectangle 6"/>
          <p:cNvSpPr/>
          <p:nvPr/>
        </p:nvSpPr>
        <p:spPr>
          <a:xfrm>
            <a:off x="9144000" y="3383280"/>
            <a:ext cx="2103120" cy="1645920"/>
          </a:xfrm>
          <a:prstGeom prst="roundRect">
            <a:avLst/>
          </a:prstGeom>
          <a:solidFill>
            <a:srgbClr val="1E1E2E"/>
          </a:solidFill>
          <a:ln w="25400">
            <a:solidFill>
              <a:srgbClr val="A6AD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A6ADC8"/>
                </a:solidFill>
              </a:defRPr>
            </a:pPr>
            <a:r>
              <a:t>Wrong +</a:t>
            </a:r>
            <a:br/>
            <a:r>
              <a:t>Low Conf</a:t>
            </a:r>
          </a:p>
          <a:p>
            <a:pPr algn="ctr">
              <a:defRPr sz="1600">
                <a:solidFill>
                  <a:srgbClr val="A6ADC8"/>
                </a:solidFill>
              </a:defRPr>
            </a:pPr>
            <a:r>
              <a:t>⚠️ Skip</a:t>
            </a:r>
          </a:p>
        </p:txBody>
      </p:sp>
      <p:sp>
        <p:nvSpPr>
          <p:cNvPr id="8" name="TextBox 7"/>
          <p:cNvSpPr txBox="1"/>
          <p:nvPr/>
        </p:nvSpPr>
        <p:spPr>
          <a:xfrm>
            <a:off x="731520" y="5029200"/>
            <a:ext cx="10058400" cy="914400"/>
          </a:xfrm>
          <a:prstGeom prst="rect">
            <a:avLst/>
          </a:prstGeom>
          <a:noFill/>
        </p:spPr>
        <p:txBody>
          <a:bodyPr wrap="square">
            <a:spAutoFit/>
          </a:bodyPr>
          <a:lstStyle/>
          <a:p>
            <a:pPr algn="l">
              <a:defRPr sz="1800" b="0">
                <a:solidFill>
                  <a:srgbClr val="A6ADC8"/>
                </a:solidFill>
                <a:latin typeface="Calibri"/>
              </a:defRPr>
            </a:pPr>
            <a:r>
              <a:t>The confidence threshold can't save you when the distribution shifts.</a:t>
            </a:r>
            <a:br/>
            <a:r>
              <a:t>You need ground truth to anchor the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How Often Do You Need True Labels?</a:t>
            </a:r>
          </a:p>
        </p:txBody>
      </p:sp>
      <p:sp>
        <p:nvSpPr>
          <p:cNvPr id="3" name="TextBox 2"/>
          <p:cNvSpPr txBox="1"/>
          <p:nvPr/>
        </p:nvSpPr>
        <p:spPr>
          <a:xfrm>
            <a:off x="731520" y="1097280"/>
            <a:ext cx="5486400" cy="365760"/>
          </a:xfrm>
          <a:prstGeom prst="rect">
            <a:avLst/>
          </a:prstGeom>
          <a:noFill/>
        </p:spPr>
        <p:txBody>
          <a:bodyPr wrap="square">
            <a:spAutoFit/>
          </a:bodyPr>
          <a:lstStyle/>
          <a:p>
            <a:pPr algn="l">
              <a:defRPr sz="1400" b="0">
                <a:solidFill>
                  <a:srgbClr val="A6ADC8"/>
                </a:solidFill>
                <a:latin typeface="Calibri"/>
              </a:defRPr>
            </a:pPr>
            <a:r>
              <a:t>Even 1–2% true-label rate holds accuracy within ~6pp of static</a:t>
            </a:r>
          </a:p>
        </p:txBody>
      </p:sp>
      <p:graphicFrame>
        <p:nvGraphicFramePr>
          <p:cNvPr id="4" name="Table 3"/>
          <p:cNvGraphicFramePr>
            <a:graphicFrameLocks noGrp="1"/>
          </p:cNvGraphicFramePr>
          <p:nvPr/>
        </p:nvGraphicFramePr>
        <p:xfrm>
          <a:off x="731520" y="1554480"/>
          <a:ext cx="5029200" cy="4114800"/>
        </p:xfrm>
        <a:graphic>
          <a:graphicData uri="http://schemas.openxmlformats.org/drawingml/2006/table">
            <a:tbl>
              <a:tblPr firstRow="1" bandRow="1">
                <a:tableStyleId>{5C22544A-7EE6-4342-B048-85BDC9FD1C3A}</a:tableStyleId>
              </a:tblPr>
              <a:tblGrid>
                <a:gridCol w="1676400"/>
                <a:gridCol w="1676400"/>
                <a:gridCol w="1676400"/>
              </a:tblGrid>
              <a:tr h="514350">
                <a:tc>
                  <a:txBody>
                    <a:bodyPr/>
                    <a:lstStyle/>
                    <a:p>
                      <a:pPr algn="ctr">
                        <a:defRPr sz="1400" b="1">
                          <a:solidFill>
                            <a:srgbClr val="FFFFFF"/>
                          </a:solidFill>
                          <a:latin typeface="Calibri"/>
                        </a:defRPr>
                      </a:pPr>
                      <a:r>
                        <a:t>Supervision Rate</a:t>
                      </a:r>
                    </a:p>
                  </a:txBody>
                  <a:tcPr>
                    <a:solidFill>
                      <a:srgbClr val="313244"/>
                    </a:solidFill>
                  </a:tcPr>
                </a:tc>
                <a:tc>
                  <a:txBody>
                    <a:bodyPr/>
                    <a:lstStyle/>
                    <a:p>
                      <a:pPr algn="ctr">
                        <a:defRPr sz="1400" b="1">
                          <a:solidFill>
                            <a:srgbClr val="FFFFFF"/>
                          </a:solidFill>
                          <a:latin typeface="Calibri"/>
                        </a:defRPr>
                      </a:pPr>
                      <a:r>
                        <a:t>% Supervised</a:t>
                      </a:r>
                    </a:p>
                  </a:txBody>
                  <a:tcPr>
                    <a:solidFill>
                      <a:srgbClr val="313244"/>
                    </a:solidFill>
                  </a:tcPr>
                </a:tc>
                <a:tc>
                  <a:txBody>
                    <a:bodyPr/>
                    <a:lstStyle/>
                    <a:p>
                      <a:pPr algn="ctr">
                        <a:defRPr sz="1400" b="1">
                          <a:solidFill>
                            <a:srgbClr val="FFFFFF"/>
                          </a:solidFill>
                          <a:latin typeface="Calibri"/>
                        </a:defRPr>
                      </a:pPr>
                      <a:r>
                        <a:t>Accuracy</a:t>
                      </a:r>
                    </a:p>
                  </a:txBody>
                  <a:tcPr>
                    <a:solidFill>
                      <a:srgbClr val="313244"/>
                    </a:solidFill>
                  </a:tcPr>
                </a:tc>
              </a:tr>
              <a:tr h="514350">
                <a:tc>
                  <a:txBody>
                    <a:bodyPr/>
                    <a:lstStyle/>
                    <a:p>
                      <a:pPr algn="ctr">
                        <a:defRPr sz="1400" b="0">
                          <a:solidFill>
                            <a:srgbClr val="CDD6F4"/>
                          </a:solidFill>
                          <a:latin typeface="Calibri"/>
                        </a:defRPr>
                      </a:pPr>
                      <a:r>
                        <a:t>Every 10</a:t>
                      </a:r>
                    </a:p>
                  </a:txBody>
                  <a:tcPr>
                    <a:solidFill>
                      <a:srgbClr val="1E1E2E"/>
                    </a:solidFill>
                  </a:tcPr>
                </a:tc>
                <a:tc>
                  <a:txBody>
                    <a:bodyPr/>
                    <a:lstStyle/>
                    <a:p>
                      <a:pPr algn="ctr">
                        <a:defRPr sz="1400" b="0">
                          <a:solidFill>
                            <a:srgbClr val="CDD6F4"/>
                          </a:solidFill>
                          <a:latin typeface="Calibri"/>
                        </a:defRPr>
                      </a:pPr>
                      <a:r>
                        <a:t>10%</a:t>
                      </a:r>
                    </a:p>
                  </a:txBody>
                  <a:tcPr>
                    <a:solidFill>
                      <a:srgbClr val="1E1E2E"/>
                    </a:solidFill>
                  </a:tcPr>
                </a:tc>
                <a:tc>
                  <a:txBody>
                    <a:bodyPr/>
                    <a:lstStyle/>
                    <a:p>
                      <a:pPr algn="ctr">
                        <a:defRPr sz="1400" b="0">
                          <a:solidFill>
                            <a:srgbClr val="CDD6F4"/>
                          </a:solidFill>
                          <a:latin typeface="Calibri"/>
                        </a:defRPr>
                      </a:pPr>
                      <a:r>
                        <a:t>86.4%</a:t>
                      </a:r>
                    </a:p>
                  </a:txBody>
                  <a:tcPr>
                    <a:solidFill>
                      <a:srgbClr val="1E1E2E"/>
                    </a:solidFill>
                  </a:tcPr>
                </a:tc>
              </a:tr>
              <a:tr h="514350">
                <a:tc>
                  <a:txBody>
                    <a:bodyPr/>
                    <a:lstStyle/>
                    <a:p>
                      <a:pPr algn="ctr">
                        <a:defRPr sz="1400" b="0">
                          <a:solidFill>
                            <a:srgbClr val="CDD6F4"/>
                          </a:solidFill>
                          <a:latin typeface="Calibri"/>
                        </a:defRPr>
                      </a:pPr>
                      <a:r>
                        <a:t>Every 20</a:t>
                      </a:r>
                    </a:p>
                  </a:txBody>
                  <a:tcPr>
                    <a:solidFill>
                      <a:srgbClr val="1E1E2E"/>
                    </a:solidFill>
                  </a:tcPr>
                </a:tc>
                <a:tc>
                  <a:txBody>
                    <a:bodyPr/>
                    <a:lstStyle/>
                    <a:p>
                      <a:pPr algn="ctr">
                        <a:defRPr sz="1400" b="0">
                          <a:solidFill>
                            <a:srgbClr val="CDD6F4"/>
                          </a:solidFill>
                          <a:latin typeface="Calibri"/>
                        </a:defRPr>
                      </a:pPr>
                      <a:r>
                        <a:t>5%</a:t>
                      </a:r>
                    </a:p>
                  </a:txBody>
                  <a:tcPr>
                    <a:solidFill>
                      <a:srgbClr val="1E1E2E"/>
                    </a:solidFill>
                  </a:tcPr>
                </a:tc>
                <a:tc>
                  <a:txBody>
                    <a:bodyPr/>
                    <a:lstStyle/>
                    <a:p>
                      <a:pPr algn="ctr">
                        <a:defRPr sz="1400" b="0">
                          <a:solidFill>
                            <a:srgbClr val="CDD6F4"/>
                          </a:solidFill>
                          <a:latin typeface="Calibri"/>
                        </a:defRPr>
                      </a:pPr>
                      <a:r>
                        <a:t>84.2%</a:t>
                      </a:r>
                    </a:p>
                  </a:txBody>
                  <a:tcPr>
                    <a:solidFill>
                      <a:srgbClr val="1E1E2E"/>
                    </a:solidFill>
                  </a:tcPr>
                </a:tc>
              </a:tr>
              <a:tr h="514350">
                <a:tc>
                  <a:txBody>
                    <a:bodyPr/>
                    <a:lstStyle/>
                    <a:p>
                      <a:pPr algn="ctr">
                        <a:defRPr sz="1400" b="0">
                          <a:solidFill>
                            <a:srgbClr val="CDD6F4"/>
                          </a:solidFill>
                          <a:latin typeface="Calibri"/>
                        </a:defRPr>
                      </a:pPr>
                      <a:r>
                        <a:t>Every 50</a:t>
                      </a:r>
                    </a:p>
                  </a:txBody>
                  <a:tcPr>
                    <a:solidFill>
                      <a:srgbClr val="1E1E2E"/>
                    </a:solidFill>
                  </a:tcPr>
                </a:tc>
                <a:tc>
                  <a:txBody>
                    <a:bodyPr/>
                    <a:lstStyle/>
                    <a:p>
                      <a:pPr algn="ctr">
                        <a:defRPr sz="1400" b="0">
                          <a:solidFill>
                            <a:srgbClr val="CDD6F4"/>
                          </a:solidFill>
                          <a:latin typeface="Calibri"/>
                        </a:defRPr>
                      </a:pPr>
                      <a:r>
                        <a:t>2%</a:t>
                      </a:r>
                    </a:p>
                  </a:txBody>
                  <a:tcPr>
                    <a:solidFill>
                      <a:srgbClr val="1E1E2E"/>
                    </a:solidFill>
                  </a:tcPr>
                </a:tc>
                <a:tc>
                  <a:txBody>
                    <a:bodyPr/>
                    <a:lstStyle/>
                    <a:p>
                      <a:pPr algn="ctr">
                        <a:defRPr sz="1400" b="0">
                          <a:solidFill>
                            <a:srgbClr val="CDD6F4"/>
                          </a:solidFill>
                          <a:latin typeface="Calibri"/>
                        </a:defRPr>
                      </a:pPr>
                      <a:r>
                        <a:t>80.7%</a:t>
                      </a:r>
                    </a:p>
                  </a:txBody>
                  <a:tcPr>
                    <a:solidFill>
                      <a:srgbClr val="1E1E2E"/>
                    </a:solidFill>
                  </a:tcPr>
                </a:tc>
              </a:tr>
              <a:tr h="514350">
                <a:tc>
                  <a:txBody>
                    <a:bodyPr/>
                    <a:lstStyle/>
                    <a:p>
                      <a:pPr algn="ctr">
                        <a:defRPr sz="1400" b="0">
                          <a:solidFill>
                            <a:srgbClr val="CDD6F4"/>
                          </a:solidFill>
                          <a:latin typeface="Calibri"/>
                        </a:defRPr>
                      </a:pPr>
                      <a:r>
                        <a:t>Every 100</a:t>
                      </a:r>
                    </a:p>
                  </a:txBody>
                  <a:tcPr>
                    <a:solidFill>
                      <a:srgbClr val="1E1E2E"/>
                    </a:solidFill>
                  </a:tcPr>
                </a:tc>
                <a:tc>
                  <a:txBody>
                    <a:bodyPr/>
                    <a:lstStyle/>
                    <a:p>
                      <a:pPr algn="ctr">
                        <a:defRPr sz="1400" b="0">
                          <a:solidFill>
                            <a:srgbClr val="CDD6F4"/>
                          </a:solidFill>
                          <a:latin typeface="Calibri"/>
                        </a:defRPr>
                      </a:pPr>
                      <a:r>
                        <a:t>1%</a:t>
                      </a:r>
                    </a:p>
                  </a:txBody>
                  <a:tcPr>
                    <a:solidFill>
                      <a:srgbClr val="1E1E2E"/>
                    </a:solidFill>
                  </a:tcPr>
                </a:tc>
                <a:tc>
                  <a:txBody>
                    <a:bodyPr/>
                    <a:lstStyle/>
                    <a:p>
                      <a:pPr algn="ctr">
                        <a:defRPr sz="1400" b="0">
                          <a:solidFill>
                            <a:srgbClr val="CDD6F4"/>
                          </a:solidFill>
                          <a:latin typeface="Calibri"/>
                        </a:defRPr>
                      </a:pPr>
                      <a:r>
                        <a:t>73.6%</a:t>
                      </a:r>
                    </a:p>
                  </a:txBody>
                  <a:tcPr>
                    <a:solidFill>
                      <a:srgbClr val="1E1E2E"/>
                    </a:solidFill>
                  </a:tcPr>
                </a:tc>
              </a:tr>
              <a:tr h="514350">
                <a:tc>
                  <a:txBody>
                    <a:bodyPr/>
                    <a:lstStyle/>
                    <a:p>
                      <a:pPr algn="ctr">
                        <a:defRPr sz="1400" b="0">
                          <a:solidFill>
                            <a:srgbClr val="CDD6F4"/>
                          </a:solidFill>
                          <a:latin typeface="Calibri"/>
                        </a:defRPr>
                      </a:pPr>
                      <a:r>
                        <a:t>Every 200</a:t>
                      </a:r>
                    </a:p>
                  </a:txBody>
                  <a:tcPr>
                    <a:solidFill>
                      <a:srgbClr val="1E1E2E"/>
                    </a:solidFill>
                  </a:tcPr>
                </a:tc>
                <a:tc>
                  <a:txBody>
                    <a:bodyPr/>
                    <a:lstStyle/>
                    <a:p>
                      <a:pPr algn="ctr">
                        <a:defRPr sz="1400" b="0">
                          <a:solidFill>
                            <a:srgbClr val="CDD6F4"/>
                          </a:solidFill>
                          <a:latin typeface="Calibri"/>
                        </a:defRPr>
                      </a:pPr>
                      <a:r>
                        <a:t>0.5%</a:t>
                      </a:r>
                    </a:p>
                  </a:txBody>
                  <a:tcPr>
                    <a:solidFill>
                      <a:srgbClr val="1E1E2E"/>
                    </a:solidFill>
                  </a:tcPr>
                </a:tc>
                <a:tc>
                  <a:txBody>
                    <a:bodyPr/>
                    <a:lstStyle/>
                    <a:p>
                      <a:pPr algn="ctr">
                        <a:defRPr sz="1400" b="0">
                          <a:solidFill>
                            <a:srgbClr val="CDD6F4"/>
                          </a:solidFill>
                          <a:latin typeface="Calibri"/>
                        </a:defRPr>
                      </a:pPr>
                      <a:r>
                        <a:t>80.9%</a:t>
                      </a:r>
                    </a:p>
                  </a:txBody>
                  <a:tcPr>
                    <a:solidFill>
                      <a:srgbClr val="1E1E2E"/>
                    </a:solidFill>
                  </a:tcPr>
                </a:tc>
              </a:tr>
              <a:tr h="514350">
                <a:tc>
                  <a:txBody>
                    <a:bodyPr/>
                    <a:lstStyle/>
                    <a:p>
                      <a:pPr algn="ctr">
                        <a:defRPr sz="1400" b="0">
                          <a:solidFill>
                            <a:srgbClr val="CDD6F4"/>
                          </a:solidFill>
                          <a:latin typeface="Calibri"/>
                        </a:defRPr>
                      </a:pPr>
                      <a:r>
                        <a:t>Every 500</a:t>
                      </a:r>
                    </a:p>
                  </a:txBody>
                  <a:tcPr>
                    <a:solidFill>
                      <a:srgbClr val="1E1E2E"/>
                    </a:solidFill>
                  </a:tcPr>
                </a:tc>
                <a:tc>
                  <a:txBody>
                    <a:bodyPr/>
                    <a:lstStyle/>
                    <a:p>
                      <a:pPr algn="ctr">
                        <a:defRPr sz="1400" b="0">
                          <a:solidFill>
                            <a:srgbClr val="CDD6F4"/>
                          </a:solidFill>
                          <a:latin typeface="Calibri"/>
                        </a:defRPr>
                      </a:pPr>
                      <a:r>
                        <a:t>0.2%</a:t>
                      </a:r>
                    </a:p>
                  </a:txBody>
                  <a:tcPr>
                    <a:solidFill>
                      <a:srgbClr val="1E1E2E"/>
                    </a:solidFill>
                  </a:tcPr>
                </a:tc>
                <a:tc>
                  <a:txBody>
                    <a:bodyPr/>
                    <a:lstStyle/>
                    <a:p>
                      <a:pPr algn="ctr">
                        <a:defRPr sz="1400" b="0">
                          <a:solidFill>
                            <a:srgbClr val="CDD6F4"/>
                          </a:solidFill>
                          <a:latin typeface="Calibri"/>
                        </a:defRPr>
                      </a:pPr>
                      <a:r>
                        <a:t>58.3%</a:t>
                      </a:r>
                    </a:p>
                  </a:txBody>
                  <a:tcPr>
                    <a:solidFill>
                      <a:srgbClr val="1E1E2E"/>
                    </a:solidFill>
                  </a:tcPr>
                </a:tc>
              </a:tr>
              <a:tr h="514350">
                <a:tc>
                  <a:txBody>
                    <a:bodyPr/>
                    <a:lstStyle/>
                    <a:p>
                      <a:pPr algn="ctr">
                        <a:defRPr sz="1400" b="0">
                          <a:solidFill>
                            <a:srgbClr val="CDD6F4"/>
                          </a:solidFill>
                          <a:latin typeface="Calibri"/>
                        </a:defRPr>
                      </a:pPr>
                      <a:r>
                        <a:t>Static (none)</a:t>
                      </a:r>
                    </a:p>
                  </a:txBody>
                  <a:tcPr>
                    <a:solidFill>
                      <a:srgbClr val="1E1E2E"/>
                    </a:solidFill>
                  </a:tcPr>
                </a:tc>
                <a:tc>
                  <a:txBody>
                    <a:bodyPr/>
                    <a:lstStyle/>
                    <a:p>
                      <a:pPr algn="ctr">
                        <a:defRPr sz="1400" b="0">
                          <a:solidFill>
                            <a:srgbClr val="CDD6F4"/>
                          </a:solidFill>
                          <a:latin typeface="Calibri"/>
                        </a:defRPr>
                      </a:pPr>
                      <a:r>
                        <a:t>0%</a:t>
                      </a:r>
                    </a:p>
                  </a:txBody>
                  <a:tcPr>
                    <a:solidFill>
                      <a:srgbClr val="1E1E2E"/>
                    </a:solidFill>
                  </a:tcPr>
                </a:tc>
                <a:tc>
                  <a:txBody>
                    <a:bodyPr/>
                    <a:lstStyle/>
                    <a:p>
                      <a:pPr algn="ctr">
                        <a:defRPr sz="1400" b="0">
                          <a:solidFill>
                            <a:srgbClr val="CDD6F4"/>
                          </a:solidFill>
                          <a:latin typeface="Calibri"/>
                        </a:defRPr>
                      </a:pPr>
                      <a:r>
                        <a:t>86.1%</a:t>
                      </a:r>
                    </a:p>
                  </a:txBody>
                  <a:tcPr>
                    <a:solidFill>
                      <a:srgbClr val="1E1E2E"/>
                    </a:solidFill>
                  </a:tcPr>
                </a:tc>
              </a:tr>
            </a:tbl>
          </a:graphicData>
        </a:graphic>
      </p:graphicFrame>
      <p:pic>
        <p:nvPicPr>
          <p:cNvPr id="5" name="Picture 4" descr="phase4_robustness_drift.png"/>
          <p:cNvPicPr>
            <a:picLocks noChangeAspect="1"/>
          </p:cNvPicPr>
          <p:nvPr/>
        </p:nvPicPr>
        <p:blipFill>
          <a:blip r:embed="rId2"/>
          <a:stretch>
            <a:fillRect/>
          </a:stretch>
        </p:blipFill>
        <p:spPr>
          <a:xfrm>
            <a:off x="6400800" y="1097280"/>
            <a:ext cx="5029200" cy="4572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The Journey: Four Phases of Increasing Realism</a:t>
            </a:r>
          </a:p>
        </p:txBody>
      </p:sp>
      <p:sp>
        <p:nvSpPr>
          <p:cNvPr id="3" name="Rounded Rectangle 2"/>
          <p:cNvSpPr/>
          <p:nvPr/>
        </p:nvSpPr>
        <p:spPr>
          <a:xfrm>
            <a:off x="457200" y="1371600"/>
            <a:ext cx="2651760" cy="4114800"/>
          </a:xfrm>
          <a:prstGeom prst="roundRect">
            <a:avLst/>
          </a:prstGeom>
          <a:solidFill>
            <a:srgbClr val="1E1E2E"/>
          </a:solidFill>
          <a:ln w="38100">
            <a:solidFill>
              <a:srgbClr val="89B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2468880" cy="457200"/>
          </a:xfrm>
          <a:prstGeom prst="rect">
            <a:avLst/>
          </a:prstGeom>
          <a:noFill/>
        </p:spPr>
        <p:txBody>
          <a:bodyPr wrap="square">
            <a:spAutoFit/>
          </a:bodyPr>
          <a:lstStyle/>
          <a:p>
            <a:pPr algn="ctr">
              <a:defRPr sz="2200" b="1">
                <a:solidFill>
                  <a:srgbClr val="89B4FA"/>
                </a:solidFill>
                <a:latin typeface="Calibri"/>
              </a:defRPr>
            </a:pPr>
            <a:r>
              <a:t>Phase 1</a:t>
            </a:r>
          </a:p>
        </p:txBody>
      </p:sp>
      <p:sp>
        <p:nvSpPr>
          <p:cNvPr id="5" name="TextBox 4"/>
          <p:cNvSpPr txBox="1"/>
          <p:nvPr/>
        </p:nvSpPr>
        <p:spPr>
          <a:xfrm>
            <a:off x="548640" y="2011680"/>
            <a:ext cx="2468880" cy="914400"/>
          </a:xfrm>
          <a:prstGeom prst="rect">
            <a:avLst/>
          </a:prstGeom>
          <a:noFill/>
        </p:spPr>
        <p:txBody>
          <a:bodyPr wrap="square">
            <a:spAutoFit/>
          </a:bodyPr>
          <a:lstStyle/>
          <a:p>
            <a:pPr algn="ctr">
              <a:defRPr sz="1600" b="0">
                <a:solidFill>
                  <a:srgbClr val="CDD6F4"/>
                </a:solidFill>
                <a:latin typeface="Calibri"/>
              </a:defRPr>
            </a:pPr>
            <a:r>
              <a:t>Static</a:t>
            </a:r>
            <a:br/>
            <a:r>
              <a:t>Syndromes</a:t>
            </a:r>
          </a:p>
        </p:txBody>
      </p:sp>
      <p:sp>
        <p:nvSpPr>
          <p:cNvPr id="6" name="TextBox 5"/>
          <p:cNvSpPr txBox="1"/>
          <p:nvPr/>
        </p:nvSpPr>
        <p:spPr>
          <a:xfrm>
            <a:off x="548640" y="3017520"/>
            <a:ext cx="2468880" cy="914400"/>
          </a:xfrm>
          <a:prstGeom prst="rect">
            <a:avLst/>
          </a:prstGeom>
          <a:noFill/>
        </p:spPr>
        <p:txBody>
          <a:bodyPr wrap="square">
            <a:spAutoFit/>
          </a:bodyPr>
          <a:lstStyle/>
          <a:p>
            <a:pPr algn="ctr">
              <a:defRPr sz="1500" b="1">
                <a:solidFill>
                  <a:srgbClr val="FFFFFF"/>
                </a:solidFill>
                <a:latin typeface="Calibri"/>
              </a:defRPr>
            </a:pPr>
            <a:r>
              <a:t>GRU: ~96%</a:t>
            </a:r>
          </a:p>
        </p:txBody>
      </p:sp>
      <p:sp>
        <p:nvSpPr>
          <p:cNvPr id="7" name="TextBox 6"/>
          <p:cNvSpPr txBox="1"/>
          <p:nvPr/>
        </p:nvSpPr>
        <p:spPr>
          <a:xfrm>
            <a:off x="548640" y="4389120"/>
            <a:ext cx="2468880" cy="731520"/>
          </a:xfrm>
          <a:prstGeom prst="rect">
            <a:avLst/>
          </a:prstGeom>
          <a:noFill/>
        </p:spPr>
        <p:txBody>
          <a:bodyPr wrap="square">
            <a:spAutoFit/>
          </a:bodyPr>
          <a:lstStyle/>
          <a:p>
            <a:pPr algn="ctr">
              <a:defRPr sz="1200" b="0">
                <a:solidFill>
                  <a:srgbClr val="A6ADC8"/>
                </a:solidFill>
                <a:latin typeface="Calibri"/>
              </a:defRPr>
            </a:pPr>
            <a:r>
              <a:t>Ideal world</a:t>
            </a:r>
          </a:p>
        </p:txBody>
      </p:sp>
      <p:sp>
        <p:nvSpPr>
          <p:cNvPr id="8" name="TextBox 7"/>
          <p:cNvSpPr txBox="1"/>
          <p:nvPr/>
        </p:nvSpPr>
        <p:spPr>
          <a:xfrm>
            <a:off x="3108960" y="2743200"/>
            <a:ext cx="365760" cy="457200"/>
          </a:xfrm>
          <a:prstGeom prst="rect">
            <a:avLst/>
          </a:prstGeom>
          <a:noFill/>
        </p:spPr>
        <p:txBody>
          <a:bodyPr wrap="square">
            <a:spAutoFit/>
          </a:bodyPr>
          <a:lstStyle/>
          <a:p>
            <a:pPr algn="ctr">
              <a:defRPr sz="2800" b="0">
                <a:solidFill>
                  <a:srgbClr val="A6ADC8"/>
                </a:solidFill>
                <a:latin typeface="Calibri"/>
              </a:defRPr>
            </a:pPr>
            <a:r>
              <a:t>→</a:t>
            </a:r>
          </a:p>
        </p:txBody>
      </p:sp>
      <p:sp>
        <p:nvSpPr>
          <p:cNvPr id="9" name="Rounded Rectangle 8"/>
          <p:cNvSpPr/>
          <p:nvPr/>
        </p:nvSpPr>
        <p:spPr>
          <a:xfrm>
            <a:off x="3383280" y="1371600"/>
            <a:ext cx="2651760" cy="4114800"/>
          </a:xfrm>
          <a:prstGeom prst="roundRect">
            <a:avLst/>
          </a:prstGeom>
          <a:solidFill>
            <a:srgbClr val="1E1E2E"/>
          </a:solidFill>
          <a:ln w="38100">
            <a:solidFill>
              <a:srgbClr val="CBA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463040"/>
            <a:ext cx="2468880" cy="457200"/>
          </a:xfrm>
          <a:prstGeom prst="rect">
            <a:avLst/>
          </a:prstGeom>
          <a:noFill/>
        </p:spPr>
        <p:txBody>
          <a:bodyPr wrap="square">
            <a:spAutoFit/>
          </a:bodyPr>
          <a:lstStyle/>
          <a:p>
            <a:pPr algn="ctr">
              <a:defRPr sz="2200" b="1">
                <a:solidFill>
                  <a:srgbClr val="CBA6F7"/>
                </a:solidFill>
                <a:latin typeface="Calibri"/>
              </a:defRPr>
            </a:pPr>
            <a:r>
              <a:t>Phase 2</a:t>
            </a:r>
          </a:p>
        </p:txBody>
      </p:sp>
      <p:sp>
        <p:nvSpPr>
          <p:cNvPr id="11" name="TextBox 10"/>
          <p:cNvSpPr txBox="1"/>
          <p:nvPr/>
        </p:nvSpPr>
        <p:spPr>
          <a:xfrm>
            <a:off x="3474720" y="2011680"/>
            <a:ext cx="2468880" cy="914400"/>
          </a:xfrm>
          <a:prstGeom prst="rect">
            <a:avLst/>
          </a:prstGeom>
          <a:noFill/>
        </p:spPr>
        <p:txBody>
          <a:bodyPr wrap="square">
            <a:spAutoFit/>
          </a:bodyPr>
          <a:lstStyle/>
          <a:p>
            <a:pPr algn="ctr">
              <a:defRPr sz="1600" b="0">
                <a:solidFill>
                  <a:srgbClr val="CDD6F4"/>
                </a:solidFill>
                <a:latin typeface="Calibri"/>
              </a:defRPr>
            </a:pPr>
            <a:r>
              <a:t>Hamiltonian</a:t>
            </a:r>
            <a:br/>
            <a:r>
              <a:t>Dynamics</a:t>
            </a:r>
          </a:p>
        </p:txBody>
      </p:sp>
      <p:sp>
        <p:nvSpPr>
          <p:cNvPr id="12" name="TextBox 11"/>
          <p:cNvSpPr txBox="1"/>
          <p:nvPr/>
        </p:nvSpPr>
        <p:spPr>
          <a:xfrm>
            <a:off x="3474720" y="3017520"/>
            <a:ext cx="2468880" cy="914400"/>
          </a:xfrm>
          <a:prstGeom prst="rect">
            <a:avLst/>
          </a:prstGeom>
          <a:noFill/>
        </p:spPr>
        <p:txBody>
          <a:bodyPr wrap="square">
            <a:spAutoFit/>
          </a:bodyPr>
          <a:lstStyle/>
          <a:p>
            <a:pPr algn="ctr">
              <a:defRPr sz="1500" b="1">
                <a:solidFill>
                  <a:srgbClr val="FFFFFF"/>
                </a:solidFill>
                <a:latin typeface="Calibri"/>
              </a:defRPr>
            </a:pPr>
            <a:r>
              <a:t>GRU: ~96%</a:t>
            </a:r>
            <a:br/>
            <a:r>
              <a:t>Bayes: ~94%</a:t>
            </a:r>
          </a:p>
        </p:txBody>
      </p:sp>
      <p:sp>
        <p:nvSpPr>
          <p:cNvPr id="13" name="TextBox 12"/>
          <p:cNvSpPr txBox="1"/>
          <p:nvPr/>
        </p:nvSpPr>
        <p:spPr>
          <a:xfrm>
            <a:off x="3474720" y="4389120"/>
            <a:ext cx="2468880" cy="731520"/>
          </a:xfrm>
          <a:prstGeom prst="rect">
            <a:avLst/>
          </a:prstGeom>
          <a:noFill/>
        </p:spPr>
        <p:txBody>
          <a:bodyPr wrap="square">
            <a:spAutoFit/>
          </a:bodyPr>
          <a:lstStyle/>
          <a:p>
            <a:pPr algn="ctr">
              <a:defRPr sz="1200" b="0">
                <a:solidFill>
                  <a:srgbClr val="A6ADC8"/>
                </a:solidFill>
                <a:latin typeface="Calibri"/>
              </a:defRPr>
            </a:pPr>
            <a:r>
              <a:t>Add physics</a:t>
            </a:r>
          </a:p>
        </p:txBody>
      </p:sp>
      <p:sp>
        <p:nvSpPr>
          <p:cNvPr id="14" name="TextBox 13"/>
          <p:cNvSpPr txBox="1"/>
          <p:nvPr/>
        </p:nvSpPr>
        <p:spPr>
          <a:xfrm>
            <a:off x="6035040" y="2743200"/>
            <a:ext cx="365760" cy="457200"/>
          </a:xfrm>
          <a:prstGeom prst="rect">
            <a:avLst/>
          </a:prstGeom>
          <a:noFill/>
        </p:spPr>
        <p:txBody>
          <a:bodyPr wrap="square">
            <a:spAutoFit/>
          </a:bodyPr>
          <a:lstStyle/>
          <a:p>
            <a:pPr algn="ctr">
              <a:defRPr sz="2800" b="0">
                <a:solidFill>
                  <a:srgbClr val="A6ADC8"/>
                </a:solidFill>
                <a:latin typeface="Calibri"/>
              </a:defRPr>
            </a:pPr>
            <a:r>
              <a:t>→</a:t>
            </a:r>
          </a:p>
        </p:txBody>
      </p:sp>
      <p:sp>
        <p:nvSpPr>
          <p:cNvPr id="15" name="Rounded Rectangle 14"/>
          <p:cNvSpPr/>
          <p:nvPr/>
        </p:nvSpPr>
        <p:spPr>
          <a:xfrm>
            <a:off x="6309360" y="1371600"/>
            <a:ext cx="2651760" cy="4114800"/>
          </a:xfrm>
          <a:prstGeom prst="roundRect">
            <a:avLst/>
          </a:prstGeom>
          <a:solidFill>
            <a:srgbClr val="1E1E2E"/>
          </a:solidFill>
          <a:ln w="38100">
            <a:solidFill>
              <a:srgbClr val="FAB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463040"/>
            <a:ext cx="2468880" cy="457200"/>
          </a:xfrm>
          <a:prstGeom prst="rect">
            <a:avLst/>
          </a:prstGeom>
          <a:noFill/>
        </p:spPr>
        <p:txBody>
          <a:bodyPr wrap="square">
            <a:spAutoFit/>
          </a:bodyPr>
          <a:lstStyle/>
          <a:p>
            <a:pPr algn="ctr">
              <a:defRPr sz="2200" b="1">
                <a:solidFill>
                  <a:srgbClr val="FAB387"/>
                </a:solidFill>
                <a:latin typeface="Calibri"/>
              </a:defRPr>
            </a:pPr>
            <a:r>
              <a:t>Phase 3</a:t>
            </a:r>
          </a:p>
        </p:txBody>
      </p:sp>
      <p:sp>
        <p:nvSpPr>
          <p:cNvPr id="17" name="TextBox 16"/>
          <p:cNvSpPr txBox="1"/>
          <p:nvPr/>
        </p:nvSpPr>
        <p:spPr>
          <a:xfrm>
            <a:off x="6400800" y="2011680"/>
            <a:ext cx="2468880" cy="914400"/>
          </a:xfrm>
          <a:prstGeom prst="rect">
            <a:avLst/>
          </a:prstGeom>
          <a:noFill/>
        </p:spPr>
        <p:txBody>
          <a:bodyPr wrap="square">
            <a:spAutoFit/>
          </a:bodyPr>
          <a:lstStyle/>
          <a:p>
            <a:pPr algn="ctr">
              <a:defRPr sz="1600" b="0">
                <a:solidFill>
                  <a:srgbClr val="CDD6F4"/>
                </a:solidFill>
                <a:latin typeface="Calibri"/>
              </a:defRPr>
            </a:pPr>
            <a:r>
              <a:t>Non-Ideal</a:t>
            </a:r>
            <a:br/>
            <a:r>
              <a:t>Effects</a:t>
            </a:r>
          </a:p>
        </p:txBody>
      </p:sp>
      <p:sp>
        <p:nvSpPr>
          <p:cNvPr id="18" name="TextBox 17"/>
          <p:cNvSpPr txBox="1"/>
          <p:nvPr/>
        </p:nvSpPr>
        <p:spPr>
          <a:xfrm>
            <a:off x="6400800" y="3017520"/>
            <a:ext cx="2468880" cy="914400"/>
          </a:xfrm>
          <a:prstGeom prst="rect">
            <a:avLst/>
          </a:prstGeom>
          <a:noFill/>
        </p:spPr>
        <p:txBody>
          <a:bodyPr wrap="square">
            <a:spAutoFit/>
          </a:bodyPr>
          <a:lstStyle/>
          <a:p>
            <a:pPr algn="ctr">
              <a:defRPr sz="1500" b="1">
                <a:solidFill>
                  <a:srgbClr val="FFFFFF"/>
                </a:solidFill>
                <a:latin typeface="Calibri"/>
              </a:defRPr>
            </a:pPr>
            <a:r>
              <a:t>GRU: ~83%</a:t>
            </a:r>
            <a:br/>
            <a:r>
              <a:t>Bayes: ~84%</a:t>
            </a:r>
          </a:p>
        </p:txBody>
      </p:sp>
      <p:sp>
        <p:nvSpPr>
          <p:cNvPr id="19" name="TextBox 18"/>
          <p:cNvSpPr txBox="1"/>
          <p:nvPr/>
        </p:nvSpPr>
        <p:spPr>
          <a:xfrm>
            <a:off x="6400800" y="4389120"/>
            <a:ext cx="2468880" cy="731520"/>
          </a:xfrm>
          <a:prstGeom prst="rect">
            <a:avLst/>
          </a:prstGeom>
          <a:noFill/>
        </p:spPr>
        <p:txBody>
          <a:bodyPr wrap="square">
            <a:spAutoFit/>
          </a:bodyPr>
          <a:lstStyle/>
          <a:p>
            <a:pPr algn="ctr">
              <a:defRPr sz="1200" b="0">
                <a:solidFill>
                  <a:srgbClr val="A6ADC8"/>
                </a:solidFill>
                <a:latin typeface="Calibri"/>
              </a:defRPr>
            </a:pPr>
            <a:r>
              <a:t>Add hardware</a:t>
            </a:r>
            <a:br/>
            <a:r>
              <a:t>imperfections</a:t>
            </a:r>
          </a:p>
        </p:txBody>
      </p:sp>
      <p:sp>
        <p:nvSpPr>
          <p:cNvPr id="20" name="TextBox 19"/>
          <p:cNvSpPr txBox="1"/>
          <p:nvPr/>
        </p:nvSpPr>
        <p:spPr>
          <a:xfrm>
            <a:off x="8961120" y="2743200"/>
            <a:ext cx="365760" cy="457200"/>
          </a:xfrm>
          <a:prstGeom prst="rect">
            <a:avLst/>
          </a:prstGeom>
          <a:noFill/>
        </p:spPr>
        <p:txBody>
          <a:bodyPr wrap="square">
            <a:spAutoFit/>
          </a:bodyPr>
          <a:lstStyle/>
          <a:p>
            <a:pPr algn="ctr">
              <a:defRPr sz="2800" b="0">
                <a:solidFill>
                  <a:srgbClr val="A6ADC8"/>
                </a:solidFill>
                <a:latin typeface="Calibri"/>
              </a:defRPr>
            </a:pPr>
            <a:r>
              <a:t>→</a:t>
            </a:r>
          </a:p>
        </p:txBody>
      </p:sp>
      <p:sp>
        <p:nvSpPr>
          <p:cNvPr id="21" name="Rounded Rectangle 20"/>
          <p:cNvSpPr/>
          <p:nvPr/>
        </p:nvSpPr>
        <p:spPr>
          <a:xfrm>
            <a:off x="9235440" y="1371600"/>
            <a:ext cx="2651760" cy="4114800"/>
          </a:xfrm>
          <a:prstGeom prst="roundRect">
            <a:avLst/>
          </a:prstGeom>
          <a:solidFill>
            <a:srgbClr val="1E1E2E"/>
          </a:solidFill>
          <a:ln w="38100">
            <a:solidFill>
              <a:srgbClr val="A6E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1463040"/>
            <a:ext cx="2468880" cy="457200"/>
          </a:xfrm>
          <a:prstGeom prst="rect">
            <a:avLst/>
          </a:prstGeom>
          <a:noFill/>
        </p:spPr>
        <p:txBody>
          <a:bodyPr wrap="square">
            <a:spAutoFit/>
          </a:bodyPr>
          <a:lstStyle/>
          <a:p>
            <a:pPr algn="ctr">
              <a:defRPr sz="2200" b="1">
                <a:solidFill>
                  <a:srgbClr val="A6E3A1"/>
                </a:solidFill>
                <a:latin typeface="Calibri"/>
              </a:defRPr>
            </a:pPr>
            <a:r>
              <a:t>Phase 4</a:t>
            </a:r>
          </a:p>
        </p:txBody>
      </p:sp>
      <p:sp>
        <p:nvSpPr>
          <p:cNvPr id="23" name="TextBox 22"/>
          <p:cNvSpPr txBox="1"/>
          <p:nvPr/>
        </p:nvSpPr>
        <p:spPr>
          <a:xfrm>
            <a:off x="9326880" y="2011680"/>
            <a:ext cx="2468880" cy="914400"/>
          </a:xfrm>
          <a:prstGeom prst="rect">
            <a:avLst/>
          </a:prstGeom>
          <a:noFill/>
        </p:spPr>
        <p:txBody>
          <a:bodyPr wrap="square">
            <a:spAutoFit/>
          </a:bodyPr>
          <a:lstStyle/>
          <a:p>
            <a:pPr algn="ctr">
              <a:defRPr sz="1600" b="0">
                <a:solidFill>
                  <a:srgbClr val="CDD6F4"/>
                </a:solidFill>
                <a:latin typeface="Calibri"/>
              </a:defRPr>
            </a:pPr>
            <a:r>
              <a:t>Drifting</a:t>
            </a:r>
            <a:br/>
            <a:r>
              <a:t>Parameters</a:t>
            </a:r>
          </a:p>
        </p:txBody>
      </p:sp>
      <p:sp>
        <p:nvSpPr>
          <p:cNvPr id="24" name="TextBox 23"/>
          <p:cNvSpPr txBox="1"/>
          <p:nvPr/>
        </p:nvSpPr>
        <p:spPr>
          <a:xfrm>
            <a:off x="9326880" y="3017520"/>
            <a:ext cx="2468880" cy="914400"/>
          </a:xfrm>
          <a:prstGeom prst="rect">
            <a:avLst/>
          </a:prstGeom>
          <a:noFill/>
        </p:spPr>
        <p:txBody>
          <a:bodyPr wrap="square">
            <a:spAutoFit/>
          </a:bodyPr>
          <a:lstStyle/>
          <a:p>
            <a:pPr algn="ctr">
              <a:defRPr sz="1500" b="1">
                <a:solidFill>
                  <a:srgbClr val="FFFFFF"/>
                </a:solidFill>
                <a:latin typeface="Calibri"/>
              </a:defRPr>
            </a:pPr>
            <a:r>
              <a:t>Hybrid: 85.7%</a:t>
            </a:r>
            <a:br/>
            <a:r>
              <a:t>Static: 86.1%</a:t>
            </a:r>
          </a:p>
        </p:txBody>
      </p:sp>
      <p:sp>
        <p:nvSpPr>
          <p:cNvPr id="25" name="TextBox 24"/>
          <p:cNvSpPr txBox="1"/>
          <p:nvPr/>
        </p:nvSpPr>
        <p:spPr>
          <a:xfrm>
            <a:off x="9326880" y="4389120"/>
            <a:ext cx="2468880" cy="731520"/>
          </a:xfrm>
          <a:prstGeom prst="rect">
            <a:avLst/>
          </a:prstGeom>
          <a:noFill/>
        </p:spPr>
        <p:txBody>
          <a:bodyPr wrap="square">
            <a:spAutoFit/>
          </a:bodyPr>
          <a:lstStyle/>
          <a:p>
            <a:pPr algn="ctr">
              <a:defRPr sz="1200" b="0">
                <a:solidFill>
                  <a:srgbClr val="A6ADC8"/>
                </a:solidFill>
                <a:latin typeface="Calibri"/>
              </a:defRPr>
            </a:pPr>
            <a:r>
              <a:t>Hardware changes</a:t>
            </a:r>
            <a:br/>
            <a:r>
              <a:t>during operation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What's Novel Here</a:t>
            </a:r>
          </a:p>
        </p:txBody>
      </p:sp>
      <p:sp>
        <p:nvSpPr>
          <p:cNvPr id="3" name="TextBox 2"/>
          <p:cNvSpPr txBox="1"/>
          <p:nvPr/>
        </p:nvSpPr>
        <p:spPr>
          <a:xfrm>
            <a:off x="731520" y="1371600"/>
            <a:ext cx="548640" cy="457200"/>
          </a:xfrm>
          <a:prstGeom prst="rect">
            <a:avLst/>
          </a:prstGeom>
          <a:noFill/>
        </p:spPr>
        <p:txBody>
          <a:bodyPr wrap="square">
            <a:spAutoFit/>
          </a:bodyPr>
          <a:lstStyle/>
          <a:p>
            <a:pPr algn="l">
              <a:defRPr sz="2800" b="1">
                <a:solidFill>
                  <a:srgbClr val="A6E3A1"/>
                </a:solidFill>
                <a:latin typeface="Calibri"/>
              </a:defRPr>
            </a:pPr>
            <a:r>
              <a:t>1</a:t>
            </a:r>
          </a:p>
        </p:txBody>
      </p:sp>
      <p:sp>
        <p:nvSpPr>
          <p:cNvPr id="4" name="TextBox 3"/>
          <p:cNvSpPr txBox="1"/>
          <p:nvPr/>
        </p:nvSpPr>
        <p:spPr>
          <a:xfrm>
            <a:off x="1371600" y="1371600"/>
            <a:ext cx="9144000" cy="457200"/>
          </a:xfrm>
          <a:prstGeom prst="rect">
            <a:avLst/>
          </a:prstGeom>
          <a:noFill/>
        </p:spPr>
        <p:txBody>
          <a:bodyPr wrap="square">
            <a:spAutoFit/>
          </a:bodyPr>
          <a:lstStyle/>
          <a:p>
            <a:pPr algn="l">
              <a:defRPr sz="2000" b="1">
                <a:solidFill>
                  <a:srgbClr val="FFFFFF"/>
                </a:solidFill>
                <a:latin typeface="Calibri"/>
              </a:defRPr>
            </a:pPr>
            <a:r>
              <a:t>First adaptive ML decoder for QEC</a:t>
            </a:r>
          </a:p>
        </p:txBody>
      </p:sp>
      <p:sp>
        <p:nvSpPr>
          <p:cNvPr id="5" name="TextBox 4"/>
          <p:cNvSpPr txBox="1"/>
          <p:nvPr/>
        </p:nvSpPr>
        <p:spPr>
          <a:xfrm>
            <a:off x="1371600" y="1783080"/>
            <a:ext cx="9144000" cy="457200"/>
          </a:xfrm>
          <a:prstGeom prst="rect">
            <a:avLst/>
          </a:prstGeom>
          <a:noFill/>
        </p:spPr>
        <p:txBody>
          <a:bodyPr wrap="square">
            <a:spAutoFit/>
          </a:bodyPr>
          <a:lstStyle/>
          <a:p>
            <a:pPr algn="l">
              <a:defRPr sz="1500" b="0">
                <a:solidFill>
                  <a:srgbClr val="A6ADC8"/>
                </a:solidFill>
                <a:latin typeface="Calibri"/>
              </a:defRPr>
            </a:pPr>
            <a:r>
              <a:t>Online learning during inference — nobody has done this</a:t>
            </a:r>
          </a:p>
        </p:txBody>
      </p:sp>
      <p:sp>
        <p:nvSpPr>
          <p:cNvPr id="6" name="TextBox 5"/>
          <p:cNvSpPr txBox="1"/>
          <p:nvPr/>
        </p:nvSpPr>
        <p:spPr>
          <a:xfrm>
            <a:off x="731520" y="2560320"/>
            <a:ext cx="548640" cy="457200"/>
          </a:xfrm>
          <a:prstGeom prst="rect">
            <a:avLst/>
          </a:prstGeom>
          <a:noFill/>
        </p:spPr>
        <p:txBody>
          <a:bodyPr wrap="square">
            <a:spAutoFit/>
          </a:bodyPr>
          <a:lstStyle/>
          <a:p>
            <a:pPr algn="l">
              <a:defRPr sz="2800" b="1">
                <a:solidFill>
                  <a:srgbClr val="89B4FA"/>
                </a:solidFill>
                <a:latin typeface="Calibri"/>
              </a:defRPr>
            </a:pPr>
            <a:r>
              <a:t>2</a:t>
            </a:r>
          </a:p>
        </p:txBody>
      </p:sp>
      <p:sp>
        <p:nvSpPr>
          <p:cNvPr id="7" name="TextBox 6"/>
          <p:cNvSpPr txBox="1"/>
          <p:nvPr/>
        </p:nvSpPr>
        <p:spPr>
          <a:xfrm>
            <a:off x="1371600" y="2560320"/>
            <a:ext cx="9144000" cy="457200"/>
          </a:xfrm>
          <a:prstGeom prst="rect">
            <a:avLst/>
          </a:prstGeom>
          <a:noFill/>
        </p:spPr>
        <p:txBody>
          <a:bodyPr wrap="square">
            <a:spAutoFit/>
          </a:bodyPr>
          <a:lstStyle/>
          <a:p>
            <a:pPr algn="l">
              <a:defRPr sz="2000" b="1">
                <a:solidFill>
                  <a:srgbClr val="FFFFFF"/>
                </a:solidFill>
                <a:latin typeface="Calibri"/>
              </a:defRPr>
            </a:pPr>
            <a:r>
              <a:t>Time-varying non-ideality simulator</a:t>
            </a:r>
          </a:p>
        </p:txBody>
      </p:sp>
      <p:sp>
        <p:nvSpPr>
          <p:cNvPr id="8" name="TextBox 7"/>
          <p:cNvSpPr txBox="1"/>
          <p:nvPr/>
        </p:nvSpPr>
        <p:spPr>
          <a:xfrm>
            <a:off x="1371600" y="2971800"/>
            <a:ext cx="9144000" cy="457200"/>
          </a:xfrm>
          <a:prstGeom prst="rect">
            <a:avLst/>
          </a:prstGeom>
          <a:noFill/>
        </p:spPr>
        <p:txBody>
          <a:bodyPr wrap="square">
            <a:spAutoFit/>
          </a:bodyPr>
          <a:lstStyle/>
          <a:p>
            <a:pPr algn="l">
              <a:defRPr sz="1500" b="0">
                <a:solidFill>
                  <a:srgbClr val="A6ADC8"/>
                </a:solidFill>
                <a:latin typeface="Calibri"/>
              </a:defRPr>
            </a:pPr>
            <a:r>
              <a:t>Parameters drift within trajectories, not just between them</a:t>
            </a:r>
          </a:p>
        </p:txBody>
      </p:sp>
      <p:sp>
        <p:nvSpPr>
          <p:cNvPr id="9" name="TextBox 8"/>
          <p:cNvSpPr txBox="1"/>
          <p:nvPr/>
        </p:nvSpPr>
        <p:spPr>
          <a:xfrm>
            <a:off x="731520" y="3749039"/>
            <a:ext cx="548640" cy="457200"/>
          </a:xfrm>
          <a:prstGeom prst="rect">
            <a:avLst/>
          </a:prstGeom>
          <a:noFill/>
        </p:spPr>
        <p:txBody>
          <a:bodyPr wrap="square">
            <a:spAutoFit/>
          </a:bodyPr>
          <a:lstStyle/>
          <a:p>
            <a:pPr algn="l">
              <a:defRPr sz="2800" b="1">
                <a:solidFill>
                  <a:srgbClr val="FAB387"/>
                </a:solidFill>
                <a:latin typeface="Calibri"/>
              </a:defRPr>
            </a:pPr>
            <a:r>
              <a:t>3</a:t>
            </a:r>
          </a:p>
        </p:txBody>
      </p:sp>
      <p:sp>
        <p:nvSpPr>
          <p:cNvPr id="10" name="TextBox 9"/>
          <p:cNvSpPr txBox="1"/>
          <p:nvPr/>
        </p:nvSpPr>
        <p:spPr>
          <a:xfrm>
            <a:off x="1371600" y="3749039"/>
            <a:ext cx="9144000" cy="457200"/>
          </a:xfrm>
          <a:prstGeom prst="rect">
            <a:avLst/>
          </a:prstGeom>
          <a:noFill/>
        </p:spPr>
        <p:txBody>
          <a:bodyPr wrap="square">
            <a:spAutoFit/>
          </a:bodyPr>
          <a:lstStyle/>
          <a:p>
            <a:pPr algn="l">
              <a:defRPr sz="2000" b="1">
                <a:solidFill>
                  <a:srgbClr val="FFFFFF"/>
                </a:solidFill>
                <a:latin typeface="Calibri"/>
              </a:defRPr>
            </a:pPr>
            <a:r>
              <a:t>Hybrid supervision strategy</a:t>
            </a:r>
          </a:p>
        </p:txBody>
      </p:sp>
      <p:sp>
        <p:nvSpPr>
          <p:cNvPr id="11" name="TextBox 10"/>
          <p:cNvSpPr txBox="1"/>
          <p:nvPr/>
        </p:nvSpPr>
        <p:spPr>
          <a:xfrm>
            <a:off x="1371600" y="4160520"/>
            <a:ext cx="9144000" cy="457200"/>
          </a:xfrm>
          <a:prstGeom prst="rect">
            <a:avLst/>
          </a:prstGeom>
          <a:noFill/>
        </p:spPr>
        <p:txBody>
          <a:bodyPr wrap="square">
            <a:spAutoFit/>
          </a:bodyPr>
          <a:lstStyle/>
          <a:p>
            <a:pPr algn="l">
              <a:defRPr sz="1500" b="0">
                <a:solidFill>
                  <a:srgbClr val="A6ADC8"/>
                </a:solidFill>
                <a:latin typeface="Calibri"/>
              </a:defRPr>
            </a:pPr>
            <a:r>
              <a:t>Periodic recalibration prevents pseudo-label collapse while static decoders cannot adapt at all</a:t>
            </a:r>
          </a:p>
        </p:txBody>
      </p:sp>
      <p:sp>
        <p:nvSpPr>
          <p:cNvPr id="12" name="TextBox 11"/>
          <p:cNvSpPr txBox="1"/>
          <p:nvPr/>
        </p:nvSpPr>
        <p:spPr>
          <a:xfrm>
            <a:off x="731520" y="4937760"/>
            <a:ext cx="548640" cy="457200"/>
          </a:xfrm>
          <a:prstGeom prst="rect">
            <a:avLst/>
          </a:prstGeom>
          <a:noFill/>
        </p:spPr>
        <p:txBody>
          <a:bodyPr wrap="square">
            <a:spAutoFit/>
          </a:bodyPr>
          <a:lstStyle/>
          <a:p>
            <a:pPr algn="l">
              <a:defRPr sz="2800" b="1">
                <a:solidFill>
                  <a:srgbClr val="CBA6F7"/>
                </a:solidFill>
                <a:latin typeface="Calibri"/>
              </a:defRPr>
            </a:pPr>
            <a:r>
              <a:t>4</a:t>
            </a:r>
          </a:p>
        </p:txBody>
      </p:sp>
      <p:sp>
        <p:nvSpPr>
          <p:cNvPr id="13" name="TextBox 12"/>
          <p:cNvSpPr txBox="1"/>
          <p:nvPr/>
        </p:nvSpPr>
        <p:spPr>
          <a:xfrm>
            <a:off x="1371600" y="4937760"/>
            <a:ext cx="9144000" cy="457200"/>
          </a:xfrm>
          <a:prstGeom prst="rect">
            <a:avLst/>
          </a:prstGeom>
          <a:noFill/>
        </p:spPr>
        <p:txBody>
          <a:bodyPr wrap="square">
            <a:spAutoFit/>
          </a:bodyPr>
          <a:lstStyle/>
          <a:p>
            <a:pPr algn="l">
              <a:defRPr sz="2000" b="1">
                <a:solidFill>
                  <a:srgbClr val="FFFFFF"/>
                </a:solidFill>
                <a:latin typeface="Calibri"/>
              </a:defRPr>
            </a:pPr>
            <a:r>
              <a:t>Comprehensive benchmark</a:t>
            </a:r>
          </a:p>
        </p:txBody>
      </p:sp>
      <p:sp>
        <p:nvSpPr>
          <p:cNvPr id="14" name="TextBox 13"/>
          <p:cNvSpPr txBox="1"/>
          <p:nvPr/>
        </p:nvSpPr>
        <p:spPr>
          <a:xfrm>
            <a:off x="1371600" y="5349240"/>
            <a:ext cx="9144000" cy="457200"/>
          </a:xfrm>
          <a:prstGeom prst="rect">
            <a:avLst/>
          </a:prstGeom>
          <a:noFill/>
        </p:spPr>
        <p:txBody>
          <a:bodyPr wrap="square">
            <a:spAutoFit/>
          </a:bodyPr>
          <a:lstStyle/>
          <a:p>
            <a:pPr algn="l">
              <a:defRPr sz="1500" b="0">
                <a:solidFill>
                  <a:srgbClr val="A6ADC8"/>
                </a:solidFill>
                <a:latin typeface="Calibri"/>
              </a:defRPr>
            </a:pPr>
            <a:r>
              <a:t>5 decoders × 4 phases of realism, 248 unit tests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200" b="1">
                <a:solidFill>
                  <a:srgbClr val="FFFFFF"/>
                </a:solidFill>
                <a:latin typeface="Calibri"/>
              </a:defRPr>
            </a:pPr>
            <a:r>
              <a:t>Future Work &amp; Path to Impact</a:t>
            </a:r>
          </a:p>
        </p:txBody>
      </p:sp>
      <p:sp>
        <p:nvSpPr>
          <p:cNvPr id="3" name="TextBox 2"/>
          <p:cNvSpPr txBox="1"/>
          <p:nvPr/>
        </p:nvSpPr>
        <p:spPr>
          <a:xfrm>
            <a:off x="1097280" y="1371600"/>
            <a:ext cx="3200400" cy="457200"/>
          </a:xfrm>
          <a:prstGeom prst="rect">
            <a:avLst/>
          </a:prstGeom>
          <a:noFill/>
        </p:spPr>
        <p:txBody>
          <a:bodyPr wrap="square">
            <a:spAutoFit/>
          </a:bodyPr>
          <a:lstStyle/>
          <a:p>
            <a:pPr algn="l">
              <a:defRPr sz="1800" b="1">
                <a:solidFill>
                  <a:srgbClr val="89B4FA"/>
                </a:solidFill>
                <a:latin typeface="Calibri"/>
              </a:defRPr>
            </a:pPr>
            <a:r>
              <a:t>→  Larger codes</a:t>
            </a:r>
          </a:p>
        </p:txBody>
      </p:sp>
      <p:sp>
        <p:nvSpPr>
          <p:cNvPr id="4" name="TextBox 3"/>
          <p:cNvSpPr txBox="1"/>
          <p:nvPr/>
        </p:nvSpPr>
        <p:spPr>
          <a:xfrm>
            <a:off x="4389120" y="1371600"/>
            <a:ext cx="7315200" cy="457200"/>
          </a:xfrm>
          <a:prstGeom prst="rect">
            <a:avLst/>
          </a:prstGeom>
          <a:noFill/>
        </p:spPr>
        <p:txBody>
          <a:bodyPr wrap="square">
            <a:spAutoFit/>
          </a:bodyPr>
          <a:lstStyle/>
          <a:p>
            <a:pPr algn="l">
              <a:defRPr sz="1600" b="0">
                <a:solidFill>
                  <a:srgbClr val="CDD6F4"/>
                </a:solidFill>
                <a:latin typeface="Calibri"/>
              </a:defRPr>
            </a:pPr>
            <a:r>
              <a:t>Scale from 3-qubit to surface codes (the industry standard)</a:t>
            </a:r>
          </a:p>
        </p:txBody>
      </p:sp>
      <p:sp>
        <p:nvSpPr>
          <p:cNvPr id="5" name="TextBox 4"/>
          <p:cNvSpPr txBox="1"/>
          <p:nvPr/>
        </p:nvSpPr>
        <p:spPr>
          <a:xfrm>
            <a:off x="1097280" y="2377440"/>
            <a:ext cx="3200400" cy="457200"/>
          </a:xfrm>
          <a:prstGeom prst="rect">
            <a:avLst/>
          </a:prstGeom>
          <a:noFill/>
        </p:spPr>
        <p:txBody>
          <a:bodyPr wrap="square">
            <a:spAutoFit/>
          </a:bodyPr>
          <a:lstStyle/>
          <a:p>
            <a:pPr algn="l">
              <a:defRPr sz="1800" b="1">
                <a:solidFill>
                  <a:srgbClr val="89B4FA"/>
                </a:solidFill>
                <a:latin typeface="Calibri"/>
              </a:defRPr>
            </a:pPr>
            <a:r>
              <a:t>→  Real hardware</a:t>
            </a:r>
          </a:p>
        </p:txBody>
      </p:sp>
      <p:sp>
        <p:nvSpPr>
          <p:cNvPr id="6" name="TextBox 5"/>
          <p:cNvSpPr txBox="1"/>
          <p:nvPr/>
        </p:nvSpPr>
        <p:spPr>
          <a:xfrm>
            <a:off x="4389120" y="2377440"/>
            <a:ext cx="7315200" cy="457200"/>
          </a:xfrm>
          <a:prstGeom prst="rect">
            <a:avLst/>
          </a:prstGeom>
          <a:noFill/>
        </p:spPr>
        <p:txBody>
          <a:bodyPr wrap="square">
            <a:spAutoFit/>
          </a:bodyPr>
          <a:lstStyle/>
          <a:p>
            <a:pPr algn="l">
              <a:defRPr sz="1600" b="0">
                <a:solidFill>
                  <a:srgbClr val="CDD6F4"/>
                </a:solidFill>
                <a:latin typeface="Calibri"/>
              </a:defRPr>
            </a:pPr>
            <a:r>
              <a:t>Validate on IBM / Google superconducting qubits</a:t>
            </a:r>
          </a:p>
        </p:txBody>
      </p:sp>
      <p:sp>
        <p:nvSpPr>
          <p:cNvPr id="7" name="TextBox 6"/>
          <p:cNvSpPr txBox="1"/>
          <p:nvPr/>
        </p:nvSpPr>
        <p:spPr>
          <a:xfrm>
            <a:off x="1097280" y="3383280"/>
            <a:ext cx="3200400" cy="457200"/>
          </a:xfrm>
          <a:prstGeom prst="rect">
            <a:avLst/>
          </a:prstGeom>
          <a:noFill/>
        </p:spPr>
        <p:txBody>
          <a:bodyPr wrap="square">
            <a:spAutoFit/>
          </a:bodyPr>
          <a:lstStyle/>
          <a:p>
            <a:pPr algn="l">
              <a:defRPr sz="1800" b="1">
                <a:solidFill>
                  <a:srgbClr val="89B4FA"/>
                </a:solidFill>
                <a:latin typeface="Calibri"/>
              </a:defRPr>
            </a:pPr>
            <a:r>
              <a:t>→  Smarter adaptation</a:t>
            </a:r>
          </a:p>
        </p:txBody>
      </p:sp>
      <p:sp>
        <p:nvSpPr>
          <p:cNvPr id="8" name="TextBox 7"/>
          <p:cNvSpPr txBox="1"/>
          <p:nvPr/>
        </p:nvSpPr>
        <p:spPr>
          <a:xfrm>
            <a:off x="4389120" y="3383280"/>
            <a:ext cx="7315200" cy="457200"/>
          </a:xfrm>
          <a:prstGeom prst="rect">
            <a:avLst/>
          </a:prstGeom>
          <a:noFill/>
        </p:spPr>
        <p:txBody>
          <a:bodyPr wrap="square">
            <a:spAutoFit/>
          </a:bodyPr>
          <a:lstStyle/>
          <a:p>
            <a:pPr algn="l">
              <a:defRPr sz="1600" b="0">
                <a:solidFill>
                  <a:srgbClr val="CDD6F4"/>
                </a:solidFill>
                <a:latin typeface="Calibri"/>
              </a:defRPr>
            </a:pPr>
            <a:r>
              <a:t>Meta-learning to adapt faster, ensemble methods</a:t>
            </a:r>
          </a:p>
        </p:txBody>
      </p:sp>
      <p:sp>
        <p:nvSpPr>
          <p:cNvPr id="9" name="TextBox 8"/>
          <p:cNvSpPr txBox="1"/>
          <p:nvPr/>
        </p:nvSpPr>
        <p:spPr>
          <a:xfrm>
            <a:off x="1097280" y="4389120"/>
            <a:ext cx="3200400" cy="457200"/>
          </a:xfrm>
          <a:prstGeom prst="rect">
            <a:avLst/>
          </a:prstGeom>
          <a:noFill/>
        </p:spPr>
        <p:txBody>
          <a:bodyPr wrap="square">
            <a:spAutoFit/>
          </a:bodyPr>
          <a:lstStyle/>
          <a:p>
            <a:pPr algn="l">
              <a:defRPr sz="1800" b="1">
                <a:solidFill>
                  <a:srgbClr val="89B4FA"/>
                </a:solidFill>
                <a:latin typeface="Calibri"/>
              </a:defRPr>
            </a:pPr>
            <a:r>
              <a:t>→  Multi-task learning</a:t>
            </a:r>
          </a:p>
        </p:txBody>
      </p:sp>
      <p:sp>
        <p:nvSpPr>
          <p:cNvPr id="10" name="TextBox 9"/>
          <p:cNvSpPr txBox="1"/>
          <p:nvPr/>
        </p:nvSpPr>
        <p:spPr>
          <a:xfrm>
            <a:off x="4389120" y="4389120"/>
            <a:ext cx="7315200" cy="457200"/>
          </a:xfrm>
          <a:prstGeom prst="rect">
            <a:avLst/>
          </a:prstGeom>
          <a:noFill/>
        </p:spPr>
        <p:txBody>
          <a:bodyPr wrap="square">
            <a:spAutoFit/>
          </a:bodyPr>
          <a:lstStyle/>
          <a:p>
            <a:pPr algn="l">
              <a:defRPr sz="1600" b="0">
                <a:solidFill>
                  <a:srgbClr val="CDD6F4"/>
                </a:solidFill>
                <a:latin typeface="Calibri"/>
              </a:defRPr>
            </a:pPr>
            <a:r>
              <a:t>Simultaneously decode errors AND estimate drifting parameters</a:t>
            </a:r>
          </a:p>
        </p:txBody>
      </p:sp>
      <p:sp>
        <p:nvSpPr>
          <p:cNvPr id="11" name="TextBox 10"/>
          <p:cNvSpPr txBox="1"/>
          <p:nvPr/>
        </p:nvSpPr>
        <p:spPr>
          <a:xfrm>
            <a:off x="1097280" y="5394960"/>
            <a:ext cx="3200400" cy="457200"/>
          </a:xfrm>
          <a:prstGeom prst="rect">
            <a:avLst/>
          </a:prstGeom>
          <a:noFill/>
        </p:spPr>
        <p:txBody>
          <a:bodyPr wrap="square">
            <a:spAutoFit/>
          </a:bodyPr>
          <a:lstStyle/>
          <a:p>
            <a:pPr algn="l">
              <a:defRPr sz="1800" b="1">
                <a:solidFill>
                  <a:srgbClr val="89B4FA"/>
                </a:solidFill>
                <a:latin typeface="Calibri"/>
              </a:defRPr>
            </a:pPr>
            <a:r>
              <a:t>→  Publication</a:t>
            </a:r>
          </a:p>
        </p:txBody>
      </p:sp>
      <p:sp>
        <p:nvSpPr>
          <p:cNvPr id="12" name="TextBox 11"/>
          <p:cNvSpPr txBox="1"/>
          <p:nvPr/>
        </p:nvSpPr>
        <p:spPr>
          <a:xfrm>
            <a:off x="4389120" y="5394960"/>
            <a:ext cx="7315200" cy="457200"/>
          </a:xfrm>
          <a:prstGeom prst="rect">
            <a:avLst/>
          </a:prstGeom>
          <a:noFill/>
        </p:spPr>
        <p:txBody>
          <a:bodyPr wrap="square">
            <a:spAutoFit/>
          </a:bodyPr>
          <a:lstStyle/>
          <a:p>
            <a:pPr algn="l">
              <a:defRPr sz="1600" b="0">
                <a:solidFill>
                  <a:srgbClr val="CDD6F4"/>
                </a:solidFill>
                <a:latin typeface="Calibri"/>
              </a:defRPr>
            </a:pPr>
            <a:r>
              <a:t>Quantum ML workshops (NeurIPS, ICML) or journals (PRX 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914400" y="914400"/>
            <a:ext cx="10058400" cy="1097280"/>
          </a:xfrm>
          <a:prstGeom prst="rect">
            <a:avLst/>
          </a:prstGeom>
          <a:noFill/>
        </p:spPr>
        <p:txBody>
          <a:bodyPr wrap="square">
            <a:spAutoFit/>
          </a:bodyPr>
          <a:lstStyle/>
          <a:p>
            <a:pPr algn="ctr">
              <a:defRPr sz="3600" b="1">
                <a:solidFill>
                  <a:srgbClr val="FFFFFF"/>
                </a:solidFill>
                <a:latin typeface="Calibri"/>
              </a:defRPr>
            </a:pPr>
            <a:r>
              <a:t>Quantum Computers Break.</a:t>
            </a:r>
            <a:br/>
            <a:r>
              <a:t>We Taught a Neural Network to Keep Up.</a:t>
            </a:r>
          </a:p>
        </p:txBody>
      </p:sp>
      <p:sp>
        <p:nvSpPr>
          <p:cNvPr id="3" name="TextBox 2"/>
          <p:cNvSpPr txBox="1"/>
          <p:nvPr/>
        </p:nvSpPr>
        <p:spPr>
          <a:xfrm>
            <a:off x="1371600" y="2743200"/>
            <a:ext cx="9144000" cy="640080"/>
          </a:xfrm>
          <a:prstGeom prst="rect">
            <a:avLst/>
          </a:prstGeom>
          <a:noFill/>
        </p:spPr>
        <p:txBody>
          <a:bodyPr wrap="square">
            <a:spAutoFit/>
          </a:bodyPr>
          <a:lstStyle/>
          <a:p>
            <a:pPr algn="ctr">
              <a:defRPr sz="2200" b="0">
                <a:solidFill>
                  <a:srgbClr val="F38BA8"/>
                </a:solidFill>
                <a:latin typeface="Calibri"/>
              </a:defRPr>
            </a:pPr>
            <a:r>
              <a:t>1.  Model-based decoders fail when hardware doesn't match the model</a:t>
            </a:r>
          </a:p>
        </p:txBody>
      </p:sp>
      <p:sp>
        <p:nvSpPr>
          <p:cNvPr id="4" name="TextBox 3"/>
          <p:cNvSpPr txBox="1"/>
          <p:nvPr/>
        </p:nvSpPr>
        <p:spPr>
          <a:xfrm>
            <a:off x="1371600" y="3566160"/>
            <a:ext cx="9144000" cy="640080"/>
          </a:xfrm>
          <a:prstGeom prst="rect">
            <a:avLst/>
          </a:prstGeom>
          <a:noFill/>
        </p:spPr>
        <p:txBody>
          <a:bodyPr wrap="square">
            <a:spAutoFit/>
          </a:bodyPr>
          <a:lstStyle/>
          <a:p>
            <a:pPr algn="ctr">
              <a:defRPr sz="2200" b="0">
                <a:solidFill>
                  <a:srgbClr val="FAB387"/>
                </a:solidFill>
                <a:latin typeface="Calibri"/>
              </a:defRPr>
            </a:pPr>
            <a:r>
              <a:t>2.  Static ML decoders fail when hardware drifts over time</a:t>
            </a:r>
          </a:p>
        </p:txBody>
      </p:sp>
      <p:sp>
        <p:nvSpPr>
          <p:cNvPr id="5" name="TextBox 4"/>
          <p:cNvSpPr txBox="1"/>
          <p:nvPr/>
        </p:nvSpPr>
        <p:spPr>
          <a:xfrm>
            <a:off x="1371600" y="4389120"/>
            <a:ext cx="9144000" cy="640080"/>
          </a:xfrm>
          <a:prstGeom prst="rect">
            <a:avLst/>
          </a:prstGeom>
          <a:noFill/>
        </p:spPr>
        <p:txBody>
          <a:bodyPr wrap="square">
            <a:spAutoFit/>
          </a:bodyPr>
          <a:lstStyle/>
          <a:p>
            <a:pPr algn="ctr">
              <a:defRPr sz="2200" b="0">
                <a:solidFill>
                  <a:srgbClr val="A6E3A1"/>
                </a:solidFill>
                <a:latin typeface="Calibri"/>
              </a:defRPr>
            </a:pPr>
            <a:r>
              <a:t>3.  Adaptive decoders with periodic recalibration maintain accuracy</a:t>
            </a:r>
          </a:p>
        </p:txBody>
      </p:sp>
      <p:sp>
        <p:nvSpPr>
          <p:cNvPr id="6" name="TextBox 5"/>
          <p:cNvSpPr txBox="1"/>
          <p:nvPr/>
        </p:nvSpPr>
        <p:spPr>
          <a:xfrm>
            <a:off x="914400" y="5486400"/>
            <a:ext cx="10058400" cy="731520"/>
          </a:xfrm>
          <a:prstGeom prst="rect">
            <a:avLst/>
          </a:prstGeom>
          <a:noFill/>
        </p:spPr>
        <p:txBody>
          <a:bodyPr wrap="square">
            <a:spAutoFit/>
          </a:bodyPr>
          <a:lstStyle/>
          <a:p>
            <a:pPr algn="ctr">
              <a:defRPr sz="2000" b="0">
                <a:solidFill>
                  <a:srgbClr val="A6ADC8"/>
                </a:solidFill>
                <a:latin typeface="Calibri"/>
              </a:defRPr>
            </a:pPr>
            <a:r>
              <a:t>Self-calibrating quantum error correction is possible. This is the first step.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A6ADC8"/>
                </a:solidFill>
                <a:latin typeface="Calibri"/>
              </a:defRPr>
            </a:pPr>
            <a:r>
              <a:t>Backup: GRU Architecture Detail</a:t>
            </a:r>
          </a:p>
        </p:txBody>
      </p:sp>
      <p:sp>
        <p:nvSpPr>
          <p:cNvPr id="3" name="TextBox 2"/>
          <p:cNvSpPr txBox="1"/>
          <p:nvPr/>
        </p:nvSpPr>
        <p:spPr>
          <a:xfrm>
            <a:off x="731520" y="1371600"/>
            <a:ext cx="10058400" cy="4572000"/>
          </a:xfrm>
          <a:prstGeom prst="rect">
            <a:avLst/>
          </a:prstGeom>
          <a:noFill/>
        </p:spPr>
        <p:txBody>
          <a:bodyPr wrap="square">
            <a:spAutoFit/>
          </a:bodyPr>
          <a:lstStyle/>
          <a:p>
            <a:pPr>
              <a:spcAft>
                <a:spcPts val="800"/>
              </a:spcAft>
              <a:defRPr sz="1600">
                <a:solidFill>
                  <a:srgbClr val="CDD6F4"/>
                </a:solidFill>
                <a:latin typeface="Calibri"/>
              </a:defRPr>
            </a:pPr>
            <a:r>
              <a:t>Input: (window_size, 2) — measurement windows of r₁(t), r₂(t)</a:t>
            </a:r>
          </a:p>
          <a:p>
            <a:pPr>
              <a:spcAft>
                <a:spcPts val="800"/>
              </a:spcAft>
              <a:defRPr sz="1600">
                <a:solidFill>
                  <a:srgbClr val="CDD6F4"/>
                </a:solidFill>
                <a:latin typeface="Calibri"/>
              </a:defRPr>
            </a:pPr>
            <a:r>
              <a:t>GRU: 64 hidden units, 1 layer, batch_first=True</a:t>
            </a:r>
          </a:p>
          <a:p>
            <a:pPr>
              <a:spcAft>
                <a:spcPts val="800"/>
              </a:spcAft>
              <a:defRPr sz="1600">
                <a:solidFill>
                  <a:srgbClr val="CDD6F4"/>
                </a:solidFill>
                <a:latin typeface="Calibri"/>
              </a:defRPr>
            </a:pPr>
            <a:r>
              <a:t>Classifier: Linear(64→32) → ReLU → Dropout(0.1) → Linear(32→4)</a:t>
            </a:r>
          </a:p>
          <a:p>
            <a:pPr>
              <a:spcAft>
                <a:spcPts val="800"/>
              </a:spcAft>
              <a:defRPr sz="1600">
                <a:solidFill>
                  <a:srgbClr val="CDD6F4"/>
                </a:solidFill>
                <a:latin typeface="Calibri"/>
              </a:defRPr>
            </a:pPr>
            <a:r>
              <a:t>Training: Adam optimizer, lr=0.001, 50 epochs, batch_size=256</a:t>
            </a:r>
          </a:p>
          <a:p>
            <a:pPr>
              <a:spcAft>
                <a:spcPts val="800"/>
              </a:spcAft>
              <a:defRPr sz="1600">
                <a:solidFill>
                  <a:srgbClr val="CDD6F4"/>
                </a:solidFill>
                <a:latin typeface="Calibri"/>
              </a:defRPr>
            </a:pPr>
          </a:p>
          <a:p>
            <a:pPr>
              <a:spcAft>
                <a:spcPts val="800"/>
              </a:spcAft>
              <a:defRPr sz="1600">
                <a:solidFill>
                  <a:srgbClr val="CDD6F4"/>
                </a:solidFill>
                <a:latin typeface="Calibri"/>
              </a:defRPr>
            </a:pPr>
            <a:r>
              <a:t>Adaptive additions:</a:t>
            </a:r>
          </a:p>
          <a:p>
            <a:pPr>
              <a:spcAft>
                <a:spcPts val="800"/>
              </a:spcAft>
              <a:defRPr sz="1600">
                <a:solidFill>
                  <a:srgbClr val="CDD6F4"/>
                </a:solidFill>
                <a:latin typeface="Calibri"/>
              </a:defRPr>
            </a:pPr>
            <a:r>
              <a:t>  • EMA gradient buffers (decay=0.7)</a:t>
            </a:r>
          </a:p>
          <a:p>
            <a:pPr>
              <a:spcAft>
                <a:spcPts val="800"/>
              </a:spcAft>
              <a:defRPr sz="1600">
                <a:solidFill>
                  <a:srgbClr val="CDD6F4"/>
                </a:solidFill>
                <a:latin typeface="Calibri"/>
              </a:defRPr>
            </a:pPr>
            <a:r>
              <a:t>  • Online weight updates (adapt_lr=0.001)</a:t>
            </a:r>
          </a:p>
          <a:p>
            <a:pPr>
              <a:spcAft>
                <a:spcPts val="800"/>
              </a:spcAft>
              <a:defRPr sz="1600">
                <a:solidFill>
                  <a:srgbClr val="CDD6F4"/>
                </a:solidFill>
                <a:latin typeface="Calibri"/>
              </a:defRPr>
            </a:pPr>
            <a:r>
              <a:t>  • Confidence threshold for pseudo-labels (0.8)</a:t>
            </a:r>
          </a:p>
          <a:p>
            <a:pPr>
              <a:spcAft>
                <a:spcPts val="800"/>
              </a:spcAft>
              <a:defRPr sz="1600">
                <a:solidFill>
                  <a:srgbClr val="CDD6F4"/>
                </a:solidFill>
                <a:latin typeface="Calibri"/>
              </a:defRPr>
            </a:pPr>
            <a:r>
              <a:t>  • supervised_every parameter for hybrid mode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A6ADC8"/>
                </a:solidFill>
                <a:latin typeface="Calibri"/>
              </a:defRPr>
            </a:pPr>
            <a:r>
              <a:t>Backup: Confusion Matrices</a:t>
            </a:r>
          </a:p>
        </p:txBody>
      </p:sp>
      <p:pic>
        <p:nvPicPr>
          <p:cNvPr id="3" name="Picture 2" descr="phase4_confusion_matrices.png"/>
          <p:cNvPicPr>
            <a:picLocks noChangeAspect="1"/>
          </p:cNvPicPr>
          <p:nvPr/>
        </p:nvPicPr>
        <p:blipFill>
          <a:blip r:embed="rId2"/>
          <a:stretch>
            <a:fillRect/>
          </a:stretch>
        </p:blipFill>
        <p:spPr>
          <a:xfrm>
            <a:off x="457200" y="1371600"/>
            <a:ext cx="10972800" cy="457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A6ADC8"/>
                </a:solidFill>
                <a:latin typeface="Calibri"/>
              </a:defRPr>
            </a:pPr>
            <a:r>
              <a:t>Backup: Training Curves</a:t>
            </a:r>
          </a:p>
        </p:txBody>
      </p:sp>
      <p:sp>
        <p:nvSpPr>
          <p:cNvPr id="3" name="TextBox 2"/>
          <p:cNvSpPr txBox="1"/>
          <p:nvPr/>
        </p:nvSpPr>
        <p:spPr>
          <a:xfrm>
            <a:off x="731520" y="1097280"/>
            <a:ext cx="10058400" cy="457200"/>
          </a:xfrm>
          <a:prstGeom prst="rect">
            <a:avLst/>
          </a:prstGeom>
          <a:noFill/>
        </p:spPr>
        <p:txBody>
          <a:bodyPr wrap="square">
            <a:spAutoFit/>
          </a:bodyPr>
          <a:lstStyle/>
          <a:p>
            <a:pPr algn="l">
              <a:defRPr sz="1600" b="0">
                <a:solidFill>
                  <a:srgbClr val="A6ADC8"/>
                </a:solidFill>
                <a:latin typeface="Calibri"/>
              </a:defRPr>
            </a:pPr>
            <a:r>
              <a:t>Static and adaptive GRU have identical training curves — difference is at inference only</a:t>
            </a:r>
          </a:p>
        </p:txBody>
      </p:sp>
      <p:pic>
        <p:nvPicPr>
          <p:cNvPr id="4" name="Picture 3" descr="phase4_training_curves.png"/>
          <p:cNvPicPr>
            <a:picLocks noChangeAspect="1"/>
          </p:cNvPicPr>
          <p:nvPr/>
        </p:nvPicPr>
        <p:blipFill>
          <a:blip r:embed="rId2"/>
          <a:stretch>
            <a:fillRect/>
          </a:stretch>
        </p:blipFill>
        <p:spPr>
          <a:xfrm>
            <a:off x="1371600" y="1828800"/>
            <a:ext cx="9144000" cy="41148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11B"/>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A6ADC8"/>
                </a:solidFill>
                <a:latin typeface="Calibri"/>
              </a:defRPr>
            </a:pPr>
            <a:r>
              <a:t>Backup: Test Suite &amp; Reproducibility</a:t>
            </a:r>
          </a:p>
        </p:txBody>
      </p:sp>
      <p:sp>
        <p:nvSpPr>
          <p:cNvPr id="3" name="TextBox 2"/>
          <p:cNvSpPr txBox="1"/>
          <p:nvPr/>
        </p:nvSpPr>
        <p:spPr>
          <a:xfrm>
            <a:off x="731520" y="1371600"/>
            <a:ext cx="10058400" cy="4572000"/>
          </a:xfrm>
          <a:prstGeom prst="rect">
            <a:avLst/>
          </a:prstGeom>
          <a:noFill/>
        </p:spPr>
        <p:txBody>
          <a:bodyPr wrap="square">
            <a:spAutoFit/>
          </a:bodyPr>
          <a:lstStyle/>
          <a:p>
            <a:pPr>
              <a:spcAft>
                <a:spcPts val="800"/>
              </a:spcAft>
              <a:defRPr sz="1600">
                <a:solidFill>
                  <a:srgbClr val="CDD6F4"/>
                </a:solidFill>
                <a:latin typeface="Calibri"/>
              </a:defRPr>
            </a:pPr>
            <a:r>
              <a:t>248 unit tests across all phases:</a:t>
            </a:r>
          </a:p>
          <a:p>
            <a:pPr>
              <a:spcAft>
                <a:spcPts val="800"/>
              </a:spcAft>
              <a:defRPr sz="1600">
                <a:solidFill>
                  <a:srgbClr val="CDD6F4"/>
                </a:solidFill>
                <a:latin typeface="Calibri"/>
              </a:defRPr>
            </a:pPr>
            <a:r>
              <a:t>  • 44 tests — quantum operator math</a:t>
            </a:r>
          </a:p>
          <a:p>
            <a:pPr>
              <a:spcAft>
                <a:spcPts val="800"/>
              </a:spcAft>
              <a:defRPr sz="1600">
                <a:solidFill>
                  <a:srgbClr val="CDD6F4"/>
                </a:solidFill>
                <a:latin typeface="Calibri"/>
              </a:defRPr>
            </a:pPr>
            <a:r>
              <a:t>  • 58 tests — Phase 2 Hamiltonian simulator</a:t>
            </a:r>
          </a:p>
          <a:p>
            <a:pPr>
              <a:spcAft>
                <a:spcPts val="800"/>
              </a:spcAft>
              <a:defRPr sz="1600">
                <a:solidFill>
                  <a:srgbClr val="CDD6F4"/>
                </a:solidFill>
                <a:latin typeface="Calibri"/>
              </a:defRPr>
            </a:pPr>
            <a:r>
              <a:t>  • 22 tests — Bayesian filter</a:t>
            </a:r>
          </a:p>
          <a:p>
            <a:pPr>
              <a:spcAft>
                <a:spcPts val="800"/>
              </a:spcAft>
              <a:defRPr sz="1600">
                <a:solidFill>
                  <a:srgbClr val="CDD6F4"/>
                </a:solidFill>
                <a:latin typeface="Calibri"/>
              </a:defRPr>
            </a:pPr>
            <a:r>
              <a:t>  • 99 tests — Phase 3 non-ideal effects</a:t>
            </a:r>
          </a:p>
          <a:p>
            <a:pPr>
              <a:spcAft>
                <a:spcPts val="800"/>
              </a:spcAft>
              <a:defRPr sz="1600">
                <a:solidFill>
                  <a:srgbClr val="CDD6F4"/>
                </a:solidFill>
                <a:latin typeface="Calibri"/>
              </a:defRPr>
            </a:pPr>
            <a:r>
              <a:t>  • 25 tests — Phase 4 adaptive decoder (incl. hybrid supervision)</a:t>
            </a:r>
          </a:p>
          <a:p>
            <a:pPr>
              <a:spcAft>
                <a:spcPts val="800"/>
              </a:spcAft>
              <a:defRPr sz="1600">
                <a:solidFill>
                  <a:srgbClr val="CDD6F4"/>
                </a:solidFill>
                <a:latin typeface="Calibri"/>
              </a:defRPr>
            </a:pPr>
          </a:p>
          <a:p>
            <a:pPr>
              <a:spcAft>
                <a:spcPts val="800"/>
              </a:spcAft>
              <a:defRPr sz="1600">
                <a:solidFill>
                  <a:srgbClr val="CDD6F4"/>
                </a:solidFill>
                <a:latin typeface="Calibri"/>
              </a:defRPr>
            </a:pPr>
            <a:r>
              <a:t>Backward compatibility verified:</a:t>
            </a:r>
          </a:p>
          <a:p>
            <a:pPr>
              <a:spcAft>
                <a:spcPts val="800"/>
              </a:spcAft>
              <a:defRPr sz="1600">
                <a:solidFill>
                  <a:srgbClr val="CDD6F4"/>
                </a:solidFill>
                <a:latin typeface="Calibri"/>
              </a:defRPr>
            </a:pPr>
            <a:r>
              <a:t>  Phase 4 (no drift) == Phase 3 == Phase 2 == Phase 1</a:t>
            </a:r>
          </a:p>
          <a:p>
            <a:pPr>
              <a:spcAft>
                <a:spcPts val="800"/>
              </a:spcAft>
              <a:defRPr sz="1600">
                <a:solidFill>
                  <a:srgbClr val="CDD6F4"/>
                </a:solidFill>
                <a:latin typeface="Calibri"/>
              </a:defRPr>
            </a:pPr>
          </a:p>
          <a:p>
            <a:pPr>
              <a:spcAft>
                <a:spcPts val="800"/>
              </a:spcAft>
              <a:defRPr sz="1600">
                <a:solidFill>
                  <a:srgbClr val="CDD6F4"/>
                </a:solidFill>
                <a:latin typeface="Calibri"/>
              </a:defRPr>
            </a:pPr>
            <a:r>
              <a:t>Full reproducibility via seeded RNG (seed=42 throughout)</a:t>
            </a:r>
          </a:p>
          <a:p>
            <a:pPr>
              <a:spcAft>
                <a:spcPts val="800"/>
              </a:spcAft>
              <a:defRPr sz="1600">
                <a:solidFill>
                  <a:srgbClr val="CDD6F4"/>
                </a:solidFill>
                <a:latin typeface="Calibri"/>
              </a:defRPr>
            </a:pPr>
          </a:p>
          <a:p>
            <a:pPr>
              <a:spcAft>
                <a:spcPts val="800"/>
              </a:spcAft>
              <a:defRPr sz="1600">
                <a:solidFill>
                  <a:srgbClr val="CDD6F4"/>
                </a:solidFill>
                <a:latin typeface="Calibri"/>
              </a:defRPr>
            </a:pPr>
            <a:r>
              <a:t>Repository: github.com/pkarakala/cqec-ml-decoder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